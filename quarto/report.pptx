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7" Type="http://schemas.openxmlformats.org/officeDocument/2006/relationships/viewProps" Target="viewProps.xml" /><Relationship Id="rId46" Type="http://schemas.openxmlformats.org/officeDocument/2006/relationships/presProps" Target="presProps.xml" /><Relationship Id="rId1" Type="http://schemas.openxmlformats.org/officeDocument/2006/relationships/slideMaster" Target="slideMasters/slideMaster1.xml" /><Relationship Id="rId49" Type="http://schemas.openxmlformats.org/officeDocument/2006/relationships/tableStyles" Target="tableStyles.xml" /><Relationship Id="rId4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Interest Rate Curve Bootstrapping &amp; Risk Testing</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Pape Kane</a:t>
            </a:r>
          </a:p>
        </p:txBody>
      </p:sp>
      <p:sp>
        <p:nvSpPr>
          <p:cNvPr id="4" name="Date Placeholder 3"/>
          <p:cNvSpPr>
            <a:spLocks noGrp="1"/>
          </p:cNvSpPr>
          <p:nvPr>
            <p:ph idx="10" sz="half" type="dt"/>
          </p:nvPr>
        </p:nvSpPr>
        <p:spPr/>
        <p:txBody>
          <a:bodyPr/>
          <a:lstStyle/>
          <a:p>
            <a:pPr lvl="0" indent="0" marL="0">
              <a:buNone/>
            </a:pPr>
            <a:r>
              <a:rPr/>
              <a:t>2026-02-17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Interest Rate Curve Bootstrapping &amp; Risk Testing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a:t>
            </a:r>
          </a:p>
        </p:txBody>
      </p:sp>
      <p:sp>
        <p:nvSpPr>
          <p:cNvPr id="3" name="Content Placeholder 2"/>
          <p:cNvSpPr>
            <a:spLocks noGrp="1"/>
          </p:cNvSpPr>
          <p:nvPr>
            <p:ph idx="1"/>
          </p:nvPr>
        </p:nvSpPr>
        <p:spPr/>
        <p:txBody>
          <a:bodyPr/>
          <a:lstStyle/>
          <a:p>
            <a:pPr lvl="0" indent="0" marL="1270000">
              <a:buNone/>
            </a:pPr>
            <a:r>
              <a:rPr sz="2000" b="1"/>
              <a:t>💡 Why does the yield curve matter?</a:t>
            </a:r>
          </a:p>
          <a:p>
            <a:pPr lvl="0" indent="0" marL="1270000">
              <a:buNone/>
            </a:pPr>
            <a:r>
              <a:rPr sz="2000"/>
              <a:t>When you lend money for 1 year vs. 10 years, you expect a different return. The </a:t>
            </a:r>
            <a:r>
              <a:rPr sz="2000" b="1"/>
              <a:t>yield curve</a:t>
            </a:r>
            <a:r>
              <a:rPr sz="2000"/>
              <a:t> captures exactly that: how interest rates vary across maturities. Central banks, banks, insurers, and asset managers watch it daily, because it drives the price of virtually every financial instrument, from mortgages to derivatives.</a:t>
            </a:r>
          </a:p>
          <a:p>
            <a:pPr lvl="0" indent="0" marL="0">
              <a:buNone/>
            </a:pPr>
            <a:r>
              <a:rPr/>
              <a:t>Interest rate modelling sits at the very heart of modern finance. Every bond, every swap, every mortgage-backed security, their values all depend fundamentally on one thing: the term structure of interest rates. This project tackles that problem head-on by building a complete framework for constructing, analysing, and stress-testing the U.S. Treasury yield curve.</a:t>
            </a:r>
          </a:p>
          <a:p>
            <a:pPr lvl="0" indent="0" marL="0">
              <a:buNone/>
            </a:pPr>
            <a:r>
              <a:rPr/>
              <a:t>The motivation is straightforward. If you’re managing a pension fund with billions in fixed-income assets, you need to know what happens when the Federal Reserve raises rates by 75 basis points. If you’re an insurer with long-dated liabilities stretching 30 years into the future, you need to discount those cash flows at the right rate today, and understand how sensitive your balance sheet is to curve reshapings. If you’re a derivatives desk pricing interest rate swaps, you need forward rates that are arbitrage-free and dynamically consistent with the spot curve.</a:t>
            </a:r>
          </a:p>
          <a:p>
            <a:pPr lvl="0" indent="0" marL="0">
              <a:buNone/>
            </a:pPr>
            <a:r>
              <a:rPr/>
              <a:t>We start from the raw data published daily by the Federal Reserve Economic Data (FRED) platform: Treasury yields at four key maturities (1Y, 2Y, 5Y, 10Y). From these four observable points, we reconstruct the full zero-coupon yield curve using bootstrapping, a recursive procedure that ensures no riskless arbitrage opportunities exist. We then fit smooth interpolation functions, both non-parametric (cubic splines) and parametric (Nelson–Siegel), allowing us to extract rates at any intermediate maturity needed for pricing.</a:t>
            </a:r>
          </a:p>
          <a:p>
            <a:pPr lvl="0" indent="0" marL="0">
              <a:buNone/>
            </a:pPr>
            <a:r>
              <a:rPr/>
              <a:t>Once the curve is built, the real work begins: risk analysis. We compute duration and convexity to quantify first- and second-order sensitivities to parallel shifts. We stress-test the curve under extreme scenarios, parallel shocks, steepeners, flatteners, and measure portfolio value-at-risk using Monte Carlo simulation with 2 000 simulated interest rate paths. We decompose historical yield curve movements using Principal Component Analysis (PCA), isolating the three fundamental drivers of curve dynamics: level shifts, slope changes, and curvature adjustments.</a:t>
            </a:r>
          </a:p>
          <a:p>
            <a:pPr lvl="0" indent="0" marL="0">
              <a:buNone/>
            </a:pPr>
            <a:r>
              <a:rPr/>
              <a:t>Finally, we push the framework one step further. Using the time series of daily yield changes we’ve already prepared for PCA, we build a machine learning forecasting module based on a Random Forest regressor. The model learns patterns in how short-term rates predict longer-term movements, giving us a simple but powerful tool for projecting the curve forward in time.</a:t>
            </a:r>
          </a:p>
          <a:p>
            <a:pPr lvl="0" indent="0" marL="0">
              <a:buNone/>
            </a:pPr>
            <a:r>
              <a:rPr b="1"/>
              <a:t>The objective is clear:</a:t>
            </a:r>
            <a:r>
              <a:rPr/>
              <a:t> build a reproducible, extensible quantitative framework that bridges textbook theory with the tools used daily by practitioners in asset management, banking, and actuarial science.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Literature Review</a:t>
            </a:r>
          </a:p>
        </p:txBody>
      </p:sp>
      <p:sp>
        <p:nvSpPr>
          <p:cNvPr id="3" name="Content Placeholder 2"/>
          <p:cNvSpPr>
            <a:spLocks noGrp="1"/>
          </p:cNvSpPr>
          <p:nvPr>
            <p:ph idx="1"/>
          </p:nvPr>
        </p:nvSpPr>
        <p:spPr/>
        <p:txBody>
          <a:bodyPr/>
          <a:lstStyle/>
          <a:p>
            <a:pPr lvl="0" indent="0" marL="0">
              <a:buNone/>
            </a:pPr>
            <a:r>
              <a:rPr/>
              <a:t>The term structure of interest rates has been extensively studied in financial economics, with foundational work establishing both the theoretical basis for arbitrage-free pricing and empirical regularities in yield curve dynamics.</a:t>
            </a:r>
          </a:p>
          <a:p>
            <a:pPr lvl="0" indent="0" marL="0">
              <a:buNone/>
            </a:pPr>
            <a:r>
              <a:rPr b="1"/>
              <a:t>Bootstrapping and arbitrage-free pricing.</a:t>
            </a:r>
            <a:r>
              <a:rPr/>
              <a:t> The construction of zero-coupon curves from coupon-bearing instruments was formalized by McCulloch (1971) and Nelson and Siegel (1987), who introduced the parametric curve that bears their names. The bootstrapping procedure ensures consistency with the no-arbitrage condition: discount factors must be such that no combination of bonds can generate riskless profit (Jarrow 2009).</a:t>
            </a:r>
          </a:p>
          <a:p>
            <a:pPr lvl="0" indent="0" marL="0">
              <a:buNone/>
            </a:pPr>
            <a:r>
              <a:rPr b="1"/>
              <a:t>Yield curve factor structure.</a:t>
            </a:r>
            <a:r>
              <a:rPr/>
              <a:t> Empirical research consistently finds that yield curve movements are driven by a small number of common factors. Litterman and Scheinkman (1991) applied Principal Component Analysis to U.S. Treasury yields and identified three dominant factors, level, slope, and curvature, which collectively explain over 95% of variation. This finding has been replicated across markets and time periods (Ang and Piazzesi 2003; Diebold and Li 2006).</a:t>
            </a:r>
          </a:p>
          <a:p>
            <a:pPr lvl="0" indent="0" marL="0">
              <a:buNone/>
            </a:pPr>
            <a:r>
              <a:rPr b="1"/>
              <a:t>Duration, convexity, and risk measures.</a:t>
            </a:r>
            <a:r>
              <a:rPr/>
              <a:t> Macaulay (1938) introduced duration as a measure of interest rate sensitivity, later refined by Hicks (1939) into modified duration. Convexity, the second-order correction for non-linearity in the price-yield relationship, was developed to improve hedging strategies in volatile markets (Fabozzi 2007).</a:t>
            </a:r>
          </a:p>
          <a:p>
            <a:pPr lvl="0" indent="0" marL="0">
              <a:buNone/>
            </a:pPr>
            <a:r>
              <a:rPr b="1"/>
              <a:t>Machine learning in yield curve forecasting.</a:t>
            </a:r>
            <a:r>
              <a:rPr/>
              <a:t> While traditional econometric models have dominated term structure forecasting (Diebold and Li 2006), recent work has explored machine learning approaches. Bianchi, Büchner, and Tamoni (2021) demonstrate that Random Forests can capture non-linear dependencies in rate dynamics, though they emphasize the challenge of non-stationarity and structural breaks.</a:t>
            </a:r>
          </a:p>
          <a:p>
            <a:pPr lvl="0" indent="0" marL="0">
              <a:buNone/>
            </a:pPr>
            <a:r>
              <a:rPr/>
              <a:t>This literature provides the foundation for our analysis. Our contribution lies in integrating these components into a single, reproducible framework with modern computational tools (Quarto, Python, Plotly) suitable for both academic instruction and professional application.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Research Questions</a:t>
            </a:r>
          </a:p>
        </p:txBody>
      </p:sp>
      <p:sp>
        <p:nvSpPr>
          <p:cNvPr id="3" name="Content Placeholder 2"/>
          <p:cNvSpPr>
            <a:spLocks noGrp="1"/>
          </p:cNvSpPr>
          <p:nvPr>
            <p:ph idx="1"/>
          </p:nvPr>
        </p:nvSpPr>
        <p:spPr/>
        <p:txBody>
          <a:bodyPr/>
          <a:lstStyle/>
          <a:p>
            <a:pPr lvl="0" indent="0" marL="0">
              <a:buNone/>
            </a:pPr>
            <a:r>
              <a:rPr/>
              <a:t>This project investigates how to construct, analyze, and manage interest rate risk using U.S. Treasury data. The analysis is guided by the following questions:</a:t>
            </a:r>
          </a:p>
          <a:p>
            <a:pPr lvl="0"/>
            <a:r>
              <a:rPr/>
              <a:t>How can we construct an arbitrage-free zero-coupon yield curve from observed market rates using bootstrapping?</a:t>
            </a:r>
          </a:p>
          <a:p>
            <a:pPr lvl="0"/>
            <a:r>
              <a:rPr/>
              <a:t>What are the differences between non-parametric (cubic spline) and parametric (Nelson–Siegel) interpolation methods?</a:t>
            </a:r>
          </a:p>
          <a:p>
            <a:pPr lvl="0"/>
            <a:r>
              <a:rPr/>
              <a:t>How do duration and convexity quantify bond portfolio sensitivity to interest rate shocks?</a:t>
            </a:r>
          </a:p>
          <a:p>
            <a:pPr lvl="0"/>
            <a:r>
              <a:rPr/>
              <a:t>How much of yield curve variation is explained by level, slope, and curvature factors?</a:t>
            </a:r>
          </a:p>
          <a:p>
            <a:pPr lvl="0"/>
            <a:r>
              <a:rPr/>
              <a:t>Can machine learning models successfully forecast short-term interest rate movements, or do structural breaks limit their usefulness?</a:t>
            </a:r>
          </a:p>
          <a:p>
            <a:pPr lvl="0"/>
            <a:r>
              <a:rPr/>
              <a:t>What are the practical implications for portfolio management and stress testing?</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Resources &amp; Implementation</a:t>
            </a:r>
          </a:p>
        </p:txBody>
      </p:sp>
      <p:sp>
        <p:nvSpPr>
          <p:cNvPr id="3" name="Content Placeholder 2"/>
          <p:cNvSpPr>
            <a:spLocks noGrp="1"/>
          </p:cNvSpPr>
          <p:nvPr>
            <p:ph idx="1"/>
          </p:nvPr>
        </p:nvSpPr>
        <p:spPr/>
        <p:txBody>
          <a:bodyPr/>
          <a:lstStyle/>
          <a:p>
            <a:pPr lvl="0" indent="0" marL="0">
              <a:buNone/>
            </a:pPr>
            <a:r>
              <a:rPr/>
              <a:t>All computational routines are centralized in the module </a:t>
            </a:r>
            <a:r>
              <a:rPr>
                <a:latin typeface="Courier"/>
              </a:rPr>
              <a:t>rates.py</a:t>
            </a:r>
            <a:r>
              <a:rPr/>
              <a:t>, which provides:</a:t>
            </a:r>
          </a:p>
          <a:p>
            <a:pPr lvl="0"/>
            <a:r>
              <a:rPr b="1"/>
              <a:t>Data loading and cleaning</a:t>
            </a:r>
            <a:r>
              <a:rPr/>
              <a:t> to standardize FRED CSV files</a:t>
            </a:r>
          </a:p>
          <a:p>
            <a:pPr lvl="0"/>
            <a:r>
              <a:rPr b="1"/>
              <a:t>Bootstrapping and interpolation</a:t>
            </a:r>
            <a:r>
              <a:rPr/>
              <a:t> for zero-coupon curve construction</a:t>
            </a:r>
          </a:p>
          <a:p>
            <a:pPr lvl="0"/>
            <a:r>
              <a:rPr b="1"/>
              <a:t>Risk measure computation</a:t>
            </a:r>
            <a:r>
              <a:rPr/>
              <a:t> (duration, convexity, forward rates, swap rates)</a:t>
            </a:r>
          </a:p>
          <a:p>
            <a:pPr lvl="0"/>
            <a:r>
              <a:rPr b="1"/>
              <a:t>Stress testing and simulation</a:t>
            </a:r>
            <a:r>
              <a:rPr/>
              <a:t> (parallel shifts, scenario grids, Monte Carlo VaR)</a:t>
            </a:r>
          </a:p>
          <a:p>
            <a:pPr lvl="0"/>
            <a:r>
              <a:rPr b="1"/>
              <a:t>PCA decomposition</a:t>
            </a:r>
            <a:r>
              <a:rPr/>
              <a:t> to extract level/slope/curvature factors</a:t>
            </a:r>
          </a:p>
          <a:p>
            <a:pPr lvl="0"/>
            <a:r>
              <a:rPr b="1"/>
              <a:t>Interactive visualization</a:t>
            </a:r>
            <a:r>
              <a:rPr/>
              <a:t> using Plotly</a:t>
            </a:r>
          </a:p>
          <a:p>
            <a:pPr lvl="0" indent="0" marL="0">
              <a:buNone/>
            </a:pPr>
            <a:r>
              <a:rPr/>
              <a:t>By consolidating these components in a single module, the project ensures reproducibility and a clean separation between computation and presentation.</a:t>
            </a:r>
          </a:p>
          <a:p>
            <a:pPr lvl="0" indent="0" marL="0">
              <a:buNone/>
            </a:pPr>
            <a:r>
              <a:rPr b="1"/>
              <a:t>AI assistance disclosure.</a:t>
            </a:r>
            <a:r>
              <a:rPr/>
              <a:t> AI tools (Claude, GPT-4) were used to debug Python errors, improve code readability, and clarify technical writing. All modeling choices and statistical interpretations were made manually by the author.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Data Acquisition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 Treasury Yields (FRED)</a:t>
            </a:r>
          </a:p>
        </p:txBody>
      </p:sp>
      <p:sp>
        <p:nvSpPr>
          <p:cNvPr id="3" name="Content Placeholder 2"/>
          <p:cNvSpPr>
            <a:spLocks noGrp="1"/>
          </p:cNvSpPr>
          <p:nvPr>
            <p:ph idx="1"/>
          </p:nvPr>
        </p:nvSpPr>
        <p:spPr/>
        <p:txBody>
          <a:bodyPr/>
          <a:lstStyle/>
          <a:p>
            <a:pPr lvl="0" indent="0" marL="1270000">
              <a:buNone/>
            </a:pPr>
            <a:r>
              <a:rPr sz="2000" b="1"/>
              <a:t>💡 What is FRED?</a:t>
            </a:r>
          </a:p>
          <a:p>
            <a:pPr lvl="0" indent="0" marL="1270000">
              <a:buNone/>
            </a:pPr>
            <a:r>
              <a:rPr sz="2000"/>
              <a:t>FRED (Federal Reserve Economic Data) is the Federal Reserve’s open data platform. It provides daily U.S. Treasury yields for all standard maturities, freely accessible and widely used as the reference source in quantitative finance.</a:t>
            </a:r>
          </a:p>
          <a:p>
            <a:pPr lvl="0" indent="0" marL="0">
              <a:buNone/>
            </a:pPr>
            <a:r>
              <a:rPr/>
              <a:t>We work with U.S. Treasury yields downloaded from FRED, covering four key maturities: </a:t>
            </a:r>
            <a:r>
              <a:rPr b="1"/>
              <a:t>1-year, 2-year, 5-year, and 10-year</a:t>
            </a:r>
            <a:r>
              <a:rPr/>
              <a:t>. These aren’t randomly chosen, they span the full term structure in a way that captures short-term monetary policy expectations (1Y), medium-term growth and inflation views (2Y, 5Y), and long-run equilibrium rates (10Y). Together, they give us enough anchor points to reconstruct the entire curve through interpolation.</a:t>
            </a:r>
          </a:p>
          <a:p>
            <a:pPr lvl="0" indent="0" marL="0">
              <a:buNone/>
            </a:pPr>
            <a:r>
              <a:rPr/>
              <a:t>The data runs from February 2021 through February 2026, giving us roughly 1 250 trading days, about five years of history. That’s long enough to capture the full post-pandemic monetary policy cycle: the near-zero rate environment of 2021, the historic Fed hiking campaign of 2022–2023 (the fastest tightening cycle in four decades), and the stabilization phase we’re living through now in early 2026. This period is particularly valuable for risk modelling because it includes both extreme volatility and quieter regimes.</a:t>
            </a:r>
          </a:p>
          <a:p>
            <a:pPr lvl="0" indent="0" marL="0">
              <a:buNone/>
            </a:pPr>
            <a:r>
              <a:rPr/>
              <a:t>Each CSV file from FRED arrives with two columns: </a:t>
            </a:r>
            <a:r>
              <a:rPr>
                <a:latin typeface="Courier"/>
              </a:rPr>
              <a:t>observation_date</a:t>
            </a:r>
            <a:r>
              <a:rPr/>
              <a:t> and the ticker symbol (e.g., </a:t>
            </a:r>
            <a:r>
              <a:rPr>
                <a:latin typeface="Courier"/>
              </a:rPr>
              <a:t>DGS10</a:t>
            </a:r>
            <a:r>
              <a:rPr/>
              <a:t> for the 10-year rate). We standardize these to </a:t>
            </a:r>
            <a:r>
              <a:rPr>
                <a:latin typeface="Courier"/>
              </a:rPr>
              <a:t>date</a:t>
            </a:r>
            <a:r>
              <a:rPr/>
              <a:t> and </a:t>
            </a:r>
            <a:r>
              <a:rPr>
                <a:latin typeface="Courier"/>
              </a:rPr>
              <a:t>rate</a:t>
            </a:r>
            <a:r>
              <a:rPr/>
              <a:t>, convert from percentage format (e.g., 3.45) to decimal (0.0345), and attach maturity labels. Any missing values, usually around federal holidays when the bond market is closed, are dropped. The result is a clean, tidy DataFrame ready for analysis.</a:t>
            </a:r>
          </a:p>
          <a:p>
            <a:pPr lvl="0" indent="0">
              <a:buNone/>
            </a:pPr>
            <a:r>
              <a:rPr b="1">
                <a:solidFill>
                  <a:srgbClr val="008000"/>
                </a:solidFill>
                <a:latin typeface="Courier"/>
              </a:rPr>
              <a:t>import</a:t>
            </a:r>
            <a:r>
              <a:rPr>
                <a:latin typeface="Courier"/>
              </a:rPr>
              <a:t> sys</a:t>
            </a:r>
            <a:br/>
            <a:r>
              <a:rPr b="1">
                <a:solidFill>
                  <a:srgbClr val="008000"/>
                </a:solidFill>
                <a:latin typeface="Courier"/>
              </a:rPr>
              <a:t>from</a:t>
            </a:r>
            <a:r>
              <a:rPr>
                <a:latin typeface="Courier"/>
              </a:rPr>
              <a:t> pathlib </a:t>
            </a:r>
            <a:r>
              <a:rPr b="1">
                <a:solidFill>
                  <a:srgbClr val="008000"/>
                </a:solidFill>
                <a:latin typeface="Courier"/>
              </a:rPr>
              <a:t>import</a:t>
            </a:r>
            <a:r>
              <a:rPr>
                <a:latin typeface="Courier"/>
              </a:rPr>
              <a:t> Path</a:t>
            </a:r>
            <a:br/>
            <a:br/>
            <a:r>
              <a:rPr>
                <a:latin typeface="Courier"/>
              </a:rPr>
              <a:t>sys.path.append(</a:t>
            </a:r>
            <a:r>
              <a:rPr>
                <a:solidFill>
                  <a:srgbClr val="008000"/>
                </a:solidFill>
                <a:latin typeface="Courier"/>
              </a:rPr>
              <a:t>str</a:t>
            </a:r>
            <a:r>
              <a:rPr>
                <a:latin typeface="Courier"/>
              </a:rPr>
              <a:t>(Path().resolve().parent))</a:t>
            </a:r>
            <a:br/>
            <a:br/>
            <a:r>
              <a:rPr b="1">
                <a:solidFill>
                  <a:srgbClr val="008000"/>
                </a:solidFill>
                <a:latin typeface="Courier"/>
              </a:rPr>
              <a:t>from</a:t>
            </a:r>
            <a:r>
              <a:rPr>
                <a:latin typeface="Courier"/>
              </a:rPr>
              <a:t> src.rates </a:t>
            </a:r>
            <a:r>
              <a:rPr b="1">
                <a:solidFill>
                  <a:srgbClr val="008000"/>
                </a:solidFill>
                <a:latin typeface="Courier"/>
              </a:rPr>
              <a:t>import</a:t>
            </a:r>
            <a:r>
              <a:rPr>
                <a:latin typeface="Courier"/>
              </a:rPr>
              <a:t> </a:t>
            </a:r>
            <a:r>
              <a:rPr>
                <a:solidFill>
                  <a:srgbClr val="666666"/>
                </a:solidFill>
                <a:latin typeface="Courier"/>
              </a:rPr>
              <a:t>*</a:t>
            </a:r>
            <a:br/>
            <a:br/>
            <a:r>
              <a:rPr>
                <a:latin typeface="Courier"/>
              </a:rPr>
              <a:t>data </a:t>
            </a:r>
            <a:r>
              <a:rPr>
                <a:solidFill>
                  <a:srgbClr val="666666"/>
                </a:solidFill>
                <a:latin typeface="Courier"/>
              </a:rPr>
              <a:t>=</a:t>
            </a:r>
            <a:r>
              <a:rPr>
                <a:latin typeface="Courier"/>
              </a:rPr>
              <a:t> load_us_treasury_from_csv(</a:t>
            </a:r>
            <a:r>
              <a:rPr>
                <a:solidFill>
                  <a:srgbClr val="4070A0"/>
                </a:solidFill>
                <a:latin typeface="Courier"/>
              </a:rPr>
              <a:t>"../data"</a:t>
            </a:r>
            <a:r>
              <a:rPr>
                <a:latin typeface="Courier"/>
              </a:rPr>
              <a:t>)</a:t>
            </a:r>
            <a:br/>
            <a:br/>
            <a:r>
              <a:rPr>
                <a:latin typeface="Courier"/>
              </a:rPr>
              <a:t>latest_date </a:t>
            </a:r>
            <a:r>
              <a:rPr>
                <a:solidFill>
                  <a:srgbClr val="666666"/>
                </a:solidFill>
                <a:latin typeface="Courier"/>
              </a:rPr>
              <a:t>=</a:t>
            </a:r>
            <a:r>
              <a:rPr>
                <a:latin typeface="Courier"/>
              </a:rPr>
              <a:t> data[</a:t>
            </a:r>
            <a:r>
              <a:rPr>
                <a:solidFill>
                  <a:srgbClr val="4070A0"/>
                </a:solidFill>
                <a:latin typeface="Courier"/>
              </a:rPr>
              <a:t>"date"</a:t>
            </a:r>
            <a:r>
              <a:rPr>
                <a:latin typeface="Courier"/>
              </a:rPr>
              <a:t>].</a:t>
            </a:r>
            <a:r>
              <a:rPr>
                <a:solidFill>
                  <a:srgbClr val="008000"/>
                </a:solidFill>
                <a:latin typeface="Courier"/>
              </a:rPr>
              <a:t>max</a:t>
            </a:r>
            <a:r>
              <a:rPr>
                <a:latin typeface="Courier"/>
              </a:rPr>
              <a:t>()</a:t>
            </a:r>
            <a:br/>
            <a:r>
              <a:rPr>
                <a:latin typeface="Courier"/>
              </a:rPr>
              <a:t>zero_rates </a:t>
            </a:r>
            <a:r>
              <a:rPr>
                <a:solidFill>
                  <a:srgbClr val="666666"/>
                </a:solidFill>
                <a:latin typeface="Courier"/>
              </a:rPr>
              <a:t>=</a:t>
            </a:r>
            <a:r>
              <a:rPr>
                <a:latin typeface="Courier"/>
              </a:rPr>
              <a:t> extract_zero_rates_at_date(data, latest_date)</a:t>
            </a:r>
            <a:br/>
            <a:br/>
            <a:r>
              <a:rPr>
                <a:solidFill>
                  <a:srgbClr val="008000"/>
                </a:solidFill>
                <a:latin typeface="Courier"/>
              </a:rPr>
              <a:t>print</a:t>
            </a:r>
            <a:r>
              <a:rPr>
                <a:latin typeface="Courier"/>
              </a:rPr>
              <a:t>(</a:t>
            </a:r>
            <a:r>
              <a:rPr>
                <a:solidFill>
                  <a:srgbClr val="4070A0"/>
                </a:solidFill>
                <a:latin typeface="Courier"/>
              </a:rPr>
              <a:t>"Latest available date:"</a:t>
            </a:r>
            <a:r>
              <a:rPr>
                <a:latin typeface="Courier"/>
              </a:rPr>
              <a:t>, latest_date.date())</a:t>
            </a:r>
            <a:br/>
            <a:r>
              <a:rPr>
                <a:solidFill>
                  <a:srgbClr val="008000"/>
                </a:solidFill>
                <a:latin typeface="Courier"/>
              </a:rPr>
              <a:t>print</a:t>
            </a:r>
            <a:r>
              <a:rPr>
                <a:latin typeface="Courier"/>
              </a:rPr>
              <a:t>(</a:t>
            </a:r>
            <a:r>
              <a:rPr>
                <a:solidFill>
                  <a:srgbClr val="4070A0"/>
                </a:solidFill>
                <a:latin typeface="Courier"/>
              </a:rPr>
              <a:t>"\nZero rates snapshot:"</a:t>
            </a:r>
            <a:r>
              <a:rPr>
                <a:latin typeface="Courier"/>
              </a:rPr>
              <a:t>)</a:t>
            </a:r>
            <a:br/>
            <a:r>
              <a:rPr b="1">
                <a:solidFill>
                  <a:srgbClr val="007020"/>
                </a:solidFill>
                <a:latin typeface="Courier"/>
              </a:rPr>
              <a:t>for</a:t>
            </a:r>
            <a:r>
              <a:rPr>
                <a:latin typeface="Courier"/>
              </a:rPr>
              <a:t> mat, rate </a:t>
            </a:r>
            <a:r>
              <a:rPr b="1">
                <a:solidFill>
                  <a:srgbClr val="007020"/>
                </a:solidFill>
                <a:latin typeface="Courier"/>
              </a:rPr>
              <a:t>in</a:t>
            </a:r>
            <a:r>
              <a:rPr>
                <a:latin typeface="Courier"/>
              </a:rPr>
              <a:t> zero_rates.items():</a:t>
            </a:r>
            <a:br/>
            <a:r>
              <a:rPr>
                <a:latin typeface="Courier"/>
              </a:rPr>
              <a:t>    </a:t>
            </a:r>
            <a:r>
              <a:rPr>
                <a:solidFill>
                  <a:srgbClr val="008000"/>
                </a:solidFill>
                <a:latin typeface="Courier"/>
              </a:rPr>
              <a:t>print</a:t>
            </a:r>
            <a:r>
              <a:rPr>
                <a:latin typeface="Courier"/>
              </a:rPr>
              <a:t>(</a:t>
            </a:r>
            <a:r>
              <a:rPr>
                <a:solidFill>
                  <a:srgbClr val="BB6688"/>
                </a:solidFill>
                <a:latin typeface="Courier"/>
              </a:rPr>
              <a:t>f"  </a:t>
            </a:r>
            <a:r>
              <a:rPr>
                <a:solidFill>
                  <a:srgbClr val="4070A0"/>
                </a:solidFill>
                <a:latin typeface="Courier"/>
              </a:rPr>
              <a:t>{</a:t>
            </a:r>
            <a:r>
              <a:rPr>
                <a:latin typeface="Courier"/>
              </a:rPr>
              <a:t>mat</a:t>
            </a:r>
            <a:r>
              <a:rPr>
                <a:solidFill>
                  <a:srgbClr val="4070A0"/>
                </a:solidFill>
                <a:latin typeface="Courier"/>
              </a:rPr>
              <a:t>:&gt;2}</a:t>
            </a:r>
            <a:r>
              <a:rPr>
                <a:solidFill>
                  <a:srgbClr val="BB6688"/>
                </a:solidFill>
                <a:latin typeface="Courier"/>
              </a:rPr>
              <a:t>Y : </a:t>
            </a:r>
            <a:r>
              <a:rPr>
                <a:solidFill>
                  <a:srgbClr val="4070A0"/>
                </a:solidFill>
                <a:latin typeface="Courier"/>
              </a:rPr>
              <a:t>{</a:t>
            </a:r>
            <a:r>
              <a:rPr>
                <a:latin typeface="Courier"/>
              </a:rPr>
              <a:t>rate</a:t>
            </a:r>
            <a:r>
              <a:rPr>
                <a:solidFill>
                  <a:srgbClr val="666666"/>
                </a:solidFill>
                <a:latin typeface="Courier"/>
              </a:rPr>
              <a:t>*</a:t>
            </a:r>
            <a:r>
              <a:rPr>
                <a:solidFill>
                  <a:srgbClr val="40A070"/>
                </a:solidFill>
                <a:latin typeface="Courier"/>
              </a:rPr>
              <a:t>100</a:t>
            </a:r>
            <a:r>
              <a:rPr>
                <a:solidFill>
                  <a:srgbClr val="4070A0"/>
                </a:solidFill>
                <a:latin typeface="Courier"/>
              </a:rPr>
              <a:t>:.3f}</a:t>
            </a:r>
            <a:r>
              <a:rPr>
                <a:solidFill>
                  <a:srgbClr val="BB6688"/>
                </a:solidFill>
                <a:latin typeface="Courier"/>
              </a:rPr>
              <a:t>%"</a:t>
            </a:r>
            <a:r>
              <a:rPr>
                <a:latin typeface="Courier"/>
              </a:rPr>
              <a:t>)</a:t>
            </a:r>
          </a:p>
          <a:p>
            <a:pPr lvl="0" indent="0">
              <a:buNone/>
            </a:pPr>
            <a:r>
              <a:rPr>
                <a:latin typeface="Courier"/>
              </a:rPr>
              <a:t>Latest available date: 2026-02-10
Zero rates snapshot:
   1Y : 3.400%
   2Y : 3.450%
   5Y : 3.700%
  10Y : 4.160%</a:t>
            </a:r>
          </a:p>
          <a:p>
            <a:pPr lvl="0" indent="0" marL="0">
              <a:buNone/>
            </a:pPr>
            <a:r>
              <a:rPr/>
              <a:t>What we see here is the current state of the market as of the most recent trading day in our dataset. Notice the upward slope: the 10-year rate sits 76 basis points above the 1-year rate. This is what bond traders call a “positive term premium”, investors demand higher compensation for locking up their money longer, reflecting both inflation risk and uncertainty about future Fed policy.</a:t>
            </a:r>
          </a:p>
          <a:p>
            <a:pPr lvl="0" indent="0" marL="0">
              <a:buNone/>
            </a:pPr>
            <a:r>
              <a:rPr/>
              <a:t>It’s worth pausing to appreciate how much information is embedded in these four numbers. The 1-year rate effectively tells us where the market thinks the Federal Funds rate will average over the next twelve months. The 10-year rate incorporates expectations about growth, inflation, and risk premiums stretching out to 2036. The slope between them, steepness or flatness, has historically been one of the best recession predictors: when the curve inverts (short rates above long rates), recessions tend to follow within 12–18 months. We’re not inverted now, which is consistent with the consensus view that the U.S. economy is stabilizing rather than contracting.</a:t>
            </a:r>
          </a:p>
          <a:p>
            <a:pPr lvl="0" indent="0" marL="1270000">
              <a:buNone/>
            </a:pPr>
            <a:r>
              <a:rPr sz="2000" b="1"/>
              <a:t>Observation:</a:t>
            </a:r>
            <a:r>
              <a:rPr sz="2000"/>
              <a:t> The yield curve is currently </a:t>
            </a:r>
            <a:r>
              <a:rPr sz="2000" b="1"/>
              <a:t>upward sloping</a:t>
            </a:r>
            <a:r>
              <a:rPr sz="2000"/>
              <a:t>, reflecting a typical term premium, investors demand higher rates for longer maturities. This is the “normal” shape in non-recessionary environments.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Limitations</a:t>
            </a:r>
          </a:p>
        </p:txBody>
      </p:sp>
      <p:sp>
        <p:nvSpPr>
          <p:cNvPr id="3" name="Content Placeholder 2"/>
          <p:cNvSpPr>
            <a:spLocks noGrp="1"/>
          </p:cNvSpPr>
          <p:nvPr>
            <p:ph idx="1"/>
          </p:nvPr>
        </p:nvSpPr>
        <p:spPr/>
        <p:txBody>
          <a:bodyPr/>
          <a:lstStyle/>
          <a:p>
            <a:pPr lvl="0" indent="0" marL="0">
              <a:buNone/>
            </a:pPr>
            <a:r>
              <a:rPr/>
              <a:t>While FRED provides high-quality, reliable data, several limitations should be acknowledged:</a:t>
            </a:r>
          </a:p>
          <a:p>
            <a:pPr lvl="0" indent="0" marL="0">
              <a:buNone/>
            </a:pPr>
            <a:r>
              <a:rPr b="1"/>
              <a:t>Limited maturity coverage.</a:t>
            </a:r>
            <a:r>
              <a:rPr/>
              <a:t> We observe only four discrete maturities. Pricing bonds at intermediate tenors requires interpolation, which introduces model risk. The choice between spline and Nelson–Siegel affects derived forward rates and valuations.</a:t>
            </a:r>
          </a:p>
          <a:p>
            <a:pPr lvl="0" indent="0" marL="0">
              <a:buNone/>
            </a:pPr>
            <a:r>
              <a:rPr b="1"/>
              <a:t>Constant maturity construction.</a:t>
            </a:r>
            <a:r>
              <a:rPr/>
              <a:t> FRED rates are synthetic “constant maturity” yields derived from actively traded securities with varying actual maturities, introducing small approximation errors compared to zero-coupon strip prices.</a:t>
            </a:r>
          </a:p>
          <a:p>
            <a:pPr lvl="0" indent="0" marL="0">
              <a:buNone/>
            </a:pPr>
            <a:r>
              <a:rPr b="1"/>
              <a:t>Missing data on non-trading days.</a:t>
            </a:r>
            <a:r>
              <a:rPr/>
              <a:t> The dataset excludes weekends and federal holidays. PCA daily returns are computed on business days only.</a:t>
            </a:r>
          </a:p>
          <a:p>
            <a:pPr lvl="0" indent="0" marL="0">
              <a:buNone/>
            </a:pPr>
            <a:r>
              <a:rPr b="1"/>
              <a:t>No credit risk or liquidity premiums.</a:t>
            </a:r>
            <a:r>
              <a:rPr/>
              <a:t> FRED yields reflect only the “risk-free” term structure. Actual portfolios contain corporate bonds and other securities with credit spreads not captured here.</a:t>
            </a:r>
          </a:p>
          <a:p>
            <a:pPr lvl="0" indent="0" marL="0">
              <a:buNone/>
            </a:pPr>
            <a:r>
              <a:rPr b="1"/>
              <a:t>Structural breaks and non-stationarity.</a:t>
            </a:r>
            <a:r>
              <a:rPr/>
              <a:t> The 2021–2026 period includes unprecedented monetary policy shifts. Models trained on this data may fail to generalize if future Fed policy differs structurally, a fundamental challenge in financial forecasting.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Theoretical Framework</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Zero-Coupon Bond Pricing</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 What is a discount factor?</a:t>
                </a:r>
              </a:p>
              <a:p>
                <a:pPr lvl="0" indent="0" marL="1270000">
                  <a:buNone/>
                </a:pPr>
                <a:r>
                  <a:rPr sz="2000"/>
                  <a:t>A discount factor </a:t>
                </a:r>
                <a14:m>
                  <m:oMath xmlns:m="http://schemas.openxmlformats.org/officeDocument/2006/math">
                    <m:r>
                      <m:t>D</m:t>
                    </m:r>
                    <m:r>
                      <m:t>F</m:t>
                    </m:r>
                    <m:d>
                      <m:dPr>
                        <m:begChr m:val="("/>
                        <m:sepChr m:val=""/>
                        <m:endChr m:val=")"/>
                        <m:grow/>
                      </m:dPr>
                      <m:e>
                        <m:r>
                          <m:t>T</m:t>
                        </m:r>
                      </m:e>
                    </m:d>
                  </m:oMath>
                </a14:m>
                <a:r>
                  <a:rPr sz="2000"/>
                  <a:t> answers a simple question: </a:t>
                </a:r>
                <a:r>
                  <a:rPr sz="2000" i="1"/>
                  <a:t>how much is 1 dollar receivable in </a:t>
                </a:r>
                <a14:m>
                  <m:oMath xmlns:m="http://schemas.openxmlformats.org/officeDocument/2006/math">
                    <m:r>
                      <m:t>T</m:t>
                    </m:r>
                  </m:oMath>
                </a14:m>
                <a:r>
                  <a:rPr sz="2000" i="1"/>
                  <a:t> years worth today?</a:t>
                </a:r>
                <a:r>
                  <a:rPr sz="2000"/>
                  <a:t> If rates are 4%, a dollar in 10 years is worth roughly $0.676 today. The lower the discount factor, the higher the implied interest rate.</a:t>
                </a:r>
              </a:p>
              <a:p>
                <a:pPr lvl="0" indent="0" marL="0">
                  <a:buNone/>
                </a:pPr>
                <a:r>
                  <a:rPr/>
                  <a:t>The price of a coupon bond is the sum of all future cash flows, each discounted to today:</a:t>
                </a:r>
              </a:p>
              <a:p>
                <a:pPr lvl="0" indent="0" marL="0">
                  <a:buNone/>
                </a:pPr>
                <a14:m>
                  <m:oMathPara xmlns:m="http://schemas.openxmlformats.org/officeDocument/2006/math">
                    <m:oMathParaPr>
                      <m:jc m:val="center"/>
                    </m:oMathParaPr>
                    <m:oMath>
                      <m:r>
                        <m:t>P</m:t>
                      </m:r>
                      <m:r>
                        <m:rPr>
                          <m:sty m:val="p"/>
                        </m:rPr>
                        <m:t>=</m:t>
                      </m:r>
                      <m:nary>
                        <m:naryPr>
                          <m:chr m:val="∑"/>
                          <m:limLoc m:val="undOvr"/>
                          <m:subHide m:val="off"/>
                          <m:supHide m:val="off"/>
                        </m:naryPr>
                        <m:sub>
                          <m:r>
                            <m:t>t</m:t>
                          </m:r>
                          <m:r>
                            <m:rPr>
                              <m:sty m:val="p"/>
                            </m:rPr>
                            <m:t>=</m:t>
                          </m:r>
                          <m:r>
                            <m:t>1</m:t>
                          </m:r>
                        </m:sub>
                        <m:sup>
                          <m:r>
                            <m:t>T</m:t>
                          </m:r>
                          <m:r>
                            <m:rPr>
                              <m:sty m:val="p"/>
                            </m:rPr>
                            <m:t>−</m:t>
                          </m:r>
                          <m:r>
                            <m:t>1</m:t>
                          </m:r>
                        </m:sup>
                        <m:e>
                          <m:r>
                            <m:t>C</m:t>
                          </m:r>
                        </m:e>
                      </m:nary>
                      <m:r>
                        <m:rPr>
                          <m:sty m:val="p"/>
                        </m:rPr>
                        <m:t>⋅</m:t>
                      </m:r>
                      <m:r>
                        <m:t>D</m:t>
                      </m:r>
                      <m:r>
                        <m:t>F</m:t>
                      </m:r>
                      <m:d>
                        <m:dPr>
                          <m:begChr m:val="("/>
                          <m:sepChr m:val=""/>
                          <m:endChr m:val=")"/>
                          <m:grow/>
                        </m:dPr>
                        <m:e>
                          <m:r>
                            <m:t>t</m:t>
                          </m:r>
                        </m:e>
                      </m:d>
                      <m:r>
                        <m:rPr>
                          <m:sty m:val="p"/>
                        </m:rPr>
                        <m:t>+</m:t>
                      </m:r>
                      <m:d>
                        <m:dPr>
                          <m:begChr m:val="("/>
                          <m:sepChr m:val=""/>
                          <m:endChr m:val=")"/>
                          <m:grow/>
                        </m:dPr>
                        <m:e>
                          <m:r>
                            <m:t>C</m:t>
                          </m:r>
                          <m:r>
                            <m:rPr>
                              <m:sty m:val="p"/>
                            </m:rPr>
                            <m:t>+</m:t>
                          </m:r>
                          <m:r>
                            <m:t>F</m:t>
                          </m:r>
                        </m:e>
                      </m:d>
                      <m:r>
                        <m:rPr>
                          <m:sty m:val="p"/>
                        </m:rPr>
                        <m:t>⋅</m:t>
                      </m:r>
                      <m:r>
                        <m:t>D</m:t>
                      </m:r>
                      <m:r>
                        <m:t>F</m:t>
                      </m:r>
                      <m:d>
                        <m:dPr>
                          <m:begChr m:val="("/>
                          <m:sepChr m:val=""/>
                          <m:endChr m:val=")"/>
                          <m:grow/>
                        </m:dPr>
                        <m:e>
                          <m:r>
                            <m:t>T</m:t>
                          </m:r>
                        </m:e>
                      </m:d>
                    </m:oMath>
                  </m:oMathPara>
                </a14:m>
              </a:p>
              <a:p>
                <a:pPr lvl="0" indent="0" marL="0">
                  <a:buNone/>
                </a:pPr>
                <a:r>
                  <a:rPr/>
                  <a:t>where </a:t>
                </a:r>
                <a14:m>
                  <m:oMath xmlns:m="http://schemas.openxmlformats.org/officeDocument/2006/math">
                    <m:r>
                      <m:t>C</m:t>
                    </m:r>
                  </m:oMath>
                </a14:m>
                <a:r>
                  <a:rPr/>
                  <a:t> is the annual coupon, </a:t>
                </a:r>
                <a14:m>
                  <m:oMath xmlns:m="http://schemas.openxmlformats.org/officeDocument/2006/math">
                    <m:r>
                      <m:t>F</m:t>
                    </m:r>
                  </m:oMath>
                </a14:m>
                <a:r>
                  <a:rPr/>
                  <a:t> is the face value, and </a:t>
                </a:r>
                <a14:m>
                  <m:oMath xmlns:m="http://schemas.openxmlformats.org/officeDocument/2006/math">
                    <m:r>
                      <m:t>D</m:t>
                    </m:r>
                    <m:r>
                      <m:t>F</m:t>
                    </m:r>
                    <m:d>
                      <m:dPr>
                        <m:begChr m:val="("/>
                        <m:sepChr m:val=""/>
                        <m:endChr m:val=")"/>
                        <m:grow/>
                      </m:dPr>
                      <m:e>
                        <m:r>
                          <m:t>t</m:t>
                        </m:r>
                      </m:e>
                    </m:d>
                  </m:oMath>
                </a14:m>
                <a:r>
                  <a:rPr/>
                  <a:t> is the discount factor at maturity </a:t>
                </a:r>
                <a14:m>
                  <m:oMath xmlns:m="http://schemas.openxmlformats.org/officeDocument/2006/math">
                    <m:r>
                      <m:t>t</m:t>
                    </m:r>
                  </m:oMath>
                </a14:m>
                <a:r>
                  <a:rPr/>
                  <a:t>.</a:t>
                </a:r>
              </a:p>
              <a:p>
                <a:pPr lvl="0" indent="0" marL="0">
                  <a:buNone/>
                </a:pPr>
                <a:r>
                  <a:rPr/>
                  <a:t>The discount factor is linked to the </a:t>
                </a:r>
                <a:r>
                  <a:rPr b="1"/>
                  <a:t>zero rate</a:t>
                </a:r>
                <a:r>
                  <a:rPr/>
                  <a:t> </a:t>
                </a:r>
                <a14:m>
                  <m:oMath xmlns:m="http://schemas.openxmlformats.org/officeDocument/2006/math">
                    <m:sSub>
                      <m:e>
                        <m:r>
                          <m:t>r</m:t>
                        </m:r>
                      </m:e>
                      <m:sub>
                        <m:r>
                          <m:t>T</m:t>
                        </m:r>
                      </m:sub>
                    </m:sSub>
                  </m:oMath>
                </a14:m>
                <a:r>
                  <a:rPr/>
                  <a:t> through:</a:t>
                </a:r>
              </a:p>
              <a:p>
                <a:pPr lvl="0" indent="0" marL="0">
                  <a:buNone/>
                </a:pPr>
                <a14:m>
                  <m:oMathPara xmlns:m="http://schemas.openxmlformats.org/officeDocument/2006/math">
                    <m:oMathParaPr>
                      <m:jc m:val="center"/>
                    </m:oMathParaPr>
                    <m:oMath>
                      <m:r>
                        <m:t>D</m:t>
                      </m:r>
                      <m:r>
                        <m:t>F</m:t>
                      </m:r>
                      <m:d>
                        <m:dPr>
                          <m:begChr m:val="("/>
                          <m:sepChr m:val=""/>
                          <m:endChr m:val=")"/>
                          <m:grow/>
                        </m:dPr>
                        <m:e>
                          <m:r>
                            <m:t>T</m:t>
                          </m:r>
                        </m:e>
                      </m:d>
                      <m:r>
                        <m:rPr>
                          <m:sty m:val="p"/>
                        </m:rPr>
                        <m:t>=</m:t>
                      </m:r>
                      <m:f>
                        <m:fPr>
                          <m:type m:val="bar"/>
                        </m:fPr>
                        <m:num>
                          <m:r>
                            <m:t>1</m:t>
                          </m:r>
                        </m:num>
                        <m:den>
                          <m:sSup>
                            <m:e>
                              <m:d>
                                <m:dPr>
                                  <m:begChr m:val="("/>
                                  <m:sepChr m:val=""/>
                                  <m:endChr m:val=")"/>
                                  <m:grow/>
                                </m:dPr>
                                <m:e>
                                  <m:r>
                                    <m:t>1</m:t>
                                  </m:r>
                                  <m:r>
                                    <m:rPr>
                                      <m:sty m:val="p"/>
                                    </m:rPr>
                                    <m:t>+</m:t>
                                  </m:r>
                                  <m:sSub>
                                    <m:e>
                                      <m:r>
                                        <m:t>r</m:t>
                                      </m:r>
                                    </m:e>
                                    <m:sub>
                                      <m:r>
                                        <m:t>T</m:t>
                                      </m:r>
                                    </m:sub>
                                  </m:sSub>
                                </m:e>
                              </m:d>
                            </m:e>
                            <m:sup>
                              <m:r>
                                <m:t>T</m:t>
                              </m:r>
                            </m:sup>
                          </m:sSup>
                        </m:den>
                      </m:f>
                      <m:r>
                        <m:t>  </m:t>
                      </m:r>
                      <m:r>
                        <m:rPr>
                          <m:sty m:val="p"/>
                        </m:rPr>
                        <m:t>⇒</m:t>
                      </m:r>
                      <m:r>
                        <m:t>  </m:t>
                      </m:r>
                      <m:sSub>
                        <m:e>
                          <m:r>
                            <m:t>r</m:t>
                          </m:r>
                        </m:e>
                        <m:sub>
                          <m:r>
                            <m:t>T</m:t>
                          </m:r>
                        </m:sub>
                      </m:sSub>
                      <m:r>
                        <m:rPr>
                          <m:sty m:val="p"/>
                        </m:rPr>
                        <m:t>=</m:t>
                      </m:r>
                      <m:r>
                        <m:t>D</m:t>
                      </m:r>
                      <m:r>
                        <m:t>F</m:t>
                      </m:r>
                      <m:sSup>
                        <m:e>
                          <m:d>
                            <m:dPr>
                              <m:begChr m:val="("/>
                              <m:sepChr m:val=""/>
                              <m:endChr m:val=")"/>
                              <m:grow/>
                            </m:dPr>
                            <m:e>
                              <m:r>
                                <m:t>T</m:t>
                              </m:r>
                            </m:e>
                          </m:d>
                        </m:e>
                        <m:sup>
                          <m:r>
                            <m:rPr>
                              <m:sty m:val="p"/>
                            </m:rPr>
                            <m:t>−</m:t>
                          </m:r>
                          <m:r>
                            <m:t>1</m:t>
                          </m:r>
                          <m:r>
                            <m:rPr>
                              <m:sty m:val="p"/>
                            </m:rPr>
                            <m:t>/</m:t>
                          </m:r>
                          <m:r>
                            <m:t>T</m:t>
                          </m:r>
                        </m:sup>
                      </m:sSup>
                      <m:r>
                        <m:rPr>
                          <m:sty m:val="p"/>
                        </m:rPr>
                        <m:t>−</m:t>
                      </m:r>
                      <m:r>
                        <m:t>1</m:t>
                      </m:r>
                    </m:oMath>
                  </m:oMathPara>
                </a14:m>
              </a:p>
            </p:txBody>
          </p:sp>
        </mc:Choice>
      </mc:AlternateContent>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Bootstrapping the Zero Curve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 What is bootstrapping?</a:t>
            </a:r>
          </a:p>
          <a:p>
            <a:pPr lvl="0" indent="0" marL="1270000">
              <a:buNone/>
            </a:pPr>
            <a:r>
              <a:rPr sz="2000"/>
              <a:t>Bootstrapping is an iterative procedure: starting from the shortest maturity, we extract the discount factor that makes the bond price consistent with the market. We then use that result to move to the next maturity. The output is a </a:t>
            </a:r>
            <a:r>
              <a:rPr sz="2000" b="1"/>
              <a:t>set of zero rates</a:t>
            </a:r>
            <a:r>
              <a:rPr sz="2000"/>
              <a:t>, pure, coupon-free rates for each horizon, constructed to be arbitrage-free.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Mathematical Formulation</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a:t>Consider a coupon-bearing bond with maturity </a:t>
                </a:r>
                <a14:m>
                  <m:oMath xmlns:m="http://schemas.openxmlformats.org/officeDocument/2006/math">
                    <m:r>
                      <m:t>T</m:t>
                    </m:r>
                  </m:oMath>
                </a14:m>
                <a:r>
                  <a:rPr/>
                  <a:t>, annual coupon </a:t>
                </a:r>
                <a14:m>
                  <m:oMath xmlns:m="http://schemas.openxmlformats.org/officeDocument/2006/math">
                    <m:r>
                      <m:t>C</m:t>
                    </m:r>
                    <m:r>
                      <m:rPr>
                        <m:sty m:val="p"/>
                      </m:rPr>
                      <m:t>=</m:t>
                    </m:r>
                    <m:r>
                      <m:t>c</m:t>
                    </m:r>
                    <m:r>
                      <m:rPr>
                        <m:sty m:val="p"/>
                      </m:rPr>
                      <m:t>⋅</m:t>
                    </m:r>
                    <m:r>
                      <m:t>F</m:t>
                    </m:r>
                  </m:oMath>
                </a14:m>
                <a:r>
                  <a:rPr/>
                  <a:t> (where </a:t>
                </a:r>
                <a14:m>
                  <m:oMath xmlns:m="http://schemas.openxmlformats.org/officeDocument/2006/math">
                    <m:r>
                      <m:t>c</m:t>
                    </m:r>
                  </m:oMath>
                </a14:m>
                <a:r>
                  <a:rPr/>
                  <a:t> is the coupon rate and </a:t>
                </a:r>
                <a14:m>
                  <m:oMath xmlns:m="http://schemas.openxmlformats.org/officeDocument/2006/math">
                    <m:r>
                      <m:t>F</m:t>
                    </m:r>
                  </m:oMath>
                </a14:m>
                <a:r>
                  <a:rPr/>
                  <a:t> is face value), and market price </a:t>
                </a:r>
                <a14:m>
                  <m:oMath xmlns:m="http://schemas.openxmlformats.org/officeDocument/2006/math">
                    <m:r>
                      <m:t>P</m:t>
                    </m:r>
                  </m:oMath>
                </a14:m>
                <a:r>
                  <a:rPr/>
                  <a:t>. The no-arbitrage condition requires:</a:t>
                </a:r>
              </a:p>
              <a:p>
                <a:pPr lvl="0" indent="0" marL="0">
                  <a:buNone/>
                </a:pPr>
                <a14:m>
                  <m:oMathPara xmlns:m="http://schemas.openxmlformats.org/officeDocument/2006/math">
                    <m:oMathParaPr>
                      <m:jc m:val="center"/>
                    </m:oMathParaPr>
                    <m:oMath>
                      <m:r>
                        <m:t>P</m:t>
                      </m:r>
                      <m:r>
                        <m:rPr>
                          <m:sty m:val="p"/>
                        </m:rPr>
                        <m:t>=</m:t>
                      </m:r>
                      <m:nary>
                        <m:naryPr>
                          <m:chr m:val="∑"/>
                          <m:limLoc m:val="undOvr"/>
                          <m:subHide m:val="off"/>
                          <m:supHide m:val="off"/>
                        </m:naryPr>
                        <m:sub>
                          <m:r>
                            <m:t>t</m:t>
                          </m:r>
                          <m:r>
                            <m:rPr>
                              <m:sty m:val="p"/>
                            </m:rPr>
                            <m:t>=</m:t>
                          </m:r>
                          <m:r>
                            <m:t>1</m:t>
                          </m:r>
                        </m:sub>
                        <m:sup>
                          <m:r>
                            <m:t>T</m:t>
                          </m:r>
                          <m:r>
                            <m:rPr>
                              <m:sty m:val="p"/>
                            </m:rPr>
                            <m:t>−</m:t>
                          </m:r>
                          <m:r>
                            <m:t>1</m:t>
                          </m:r>
                        </m:sup>
                        <m:e>
                          <m:r>
                            <m:t>C</m:t>
                          </m:r>
                        </m:e>
                      </m:nary>
                      <m:r>
                        <m:rPr>
                          <m:sty m:val="p"/>
                        </m:rPr>
                        <m:t>⋅</m:t>
                      </m:r>
                      <m:r>
                        <m:t>D</m:t>
                      </m:r>
                      <m:r>
                        <m:t>F</m:t>
                      </m:r>
                      <m:d>
                        <m:dPr>
                          <m:begChr m:val="("/>
                          <m:sepChr m:val=""/>
                          <m:endChr m:val=")"/>
                          <m:grow/>
                        </m:dPr>
                        <m:e>
                          <m:r>
                            <m:t>t</m:t>
                          </m:r>
                        </m:e>
                      </m:d>
                      <m:r>
                        <m:rPr>
                          <m:sty m:val="p"/>
                        </m:rPr>
                        <m:t>+</m:t>
                      </m:r>
                      <m:d>
                        <m:dPr>
                          <m:begChr m:val="("/>
                          <m:sepChr m:val=""/>
                          <m:endChr m:val=")"/>
                          <m:grow/>
                        </m:dPr>
                        <m:e>
                          <m:r>
                            <m:t>C</m:t>
                          </m:r>
                          <m:r>
                            <m:rPr>
                              <m:sty m:val="p"/>
                            </m:rPr>
                            <m:t>+</m:t>
                          </m:r>
                          <m:r>
                            <m:t>F</m:t>
                          </m:r>
                        </m:e>
                      </m:d>
                      <m:r>
                        <m:rPr>
                          <m:sty m:val="p"/>
                        </m:rPr>
                        <m:t>⋅</m:t>
                      </m:r>
                      <m:r>
                        <m:t>D</m:t>
                      </m:r>
                      <m:r>
                        <m:t>F</m:t>
                      </m:r>
                      <m:d>
                        <m:dPr>
                          <m:begChr m:val="("/>
                          <m:sepChr m:val=""/>
                          <m:endChr m:val=")"/>
                          <m:grow/>
                        </m:dPr>
                        <m:e>
                          <m:r>
                            <m:t>T</m:t>
                          </m:r>
                        </m:e>
                      </m:d>
                    </m:oMath>
                  </m:oMathPara>
                </a14:m>
              </a:p>
              <a:p>
                <a:pPr lvl="0" indent="0" marL="0">
                  <a:buNone/>
                </a:pPr>
                <a:r>
                  <a:rPr/>
                  <a:t>If we have already bootstrapped discount factors </a:t>
                </a:r>
                <a14:m>
                  <m:oMath xmlns:m="http://schemas.openxmlformats.org/officeDocument/2006/math">
                    <m:r>
                      <m:t>D</m:t>
                    </m:r>
                    <m:r>
                      <m:t>F</m:t>
                    </m:r>
                    <m:d>
                      <m:dPr>
                        <m:begChr m:val="("/>
                        <m:sepChr m:val=""/>
                        <m:endChr m:val=")"/>
                        <m:grow/>
                      </m:dPr>
                      <m:e>
                        <m:r>
                          <m:t>1</m:t>
                        </m:r>
                      </m:e>
                    </m:d>
                    <m:r>
                      <m:rPr>
                        <m:sty m:val="p"/>
                      </m:rPr>
                      <m:t>,</m:t>
                    </m:r>
                    <m:r>
                      <m:t>D</m:t>
                    </m:r>
                    <m:r>
                      <m:t>F</m:t>
                    </m:r>
                    <m:d>
                      <m:dPr>
                        <m:begChr m:val="("/>
                        <m:sepChr m:val=""/>
                        <m:endChr m:val=")"/>
                        <m:grow/>
                      </m:dPr>
                      <m:e>
                        <m:r>
                          <m:t>2</m:t>
                        </m:r>
                      </m:e>
                    </m:d>
                    <m:r>
                      <m:rPr>
                        <m:sty m:val="p"/>
                      </m:rPr>
                      <m:t>,</m:t>
                    </m:r>
                    <m:r>
                      <m:rPr>
                        <m:sty m:val="p"/>
                      </m:rPr>
                      <m:t>…</m:t>
                    </m:r>
                    <m:r>
                      <m:rPr>
                        <m:sty m:val="p"/>
                      </m:rPr>
                      <m:t>,</m:t>
                    </m:r>
                    <m:r>
                      <m:t>D</m:t>
                    </m:r>
                    <m:r>
                      <m:t>F</m:t>
                    </m:r>
                    <m:d>
                      <m:dPr>
                        <m:begChr m:val="("/>
                        <m:sepChr m:val=""/>
                        <m:endChr m:val=")"/>
                        <m:grow/>
                      </m:dPr>
                      <m:e>
                        <m:r>
                          <m:t>T</m:t>
                        </m:r>
                        <m:r>
                          <m:rPr>
                            <m:sty m:val="p"/>
                          </m:rPr>
                          <m:t>−</m:t>
                        </m:r>
                        <m:r>
                          <m:t>1</m:t>
                        </m:r>
                      </m:e>
                    </m:d>
                  </m:oMath>
                </a14:m>
                <a:r>
                  <a:rPr/>
                  <a:t> from shorter maturities, we can solve for </a:t>
                </a:r>
                <a14:m>
                  <m:oMath xmlns:m="http://schemas.openxmlformats.org/officeDocument/2006/math">
                    <m:r>
                      <m:t>D</m:t>
                    </m:r>
                    <m:r>
                      <m:t>F</m:t>
                    </m:r>
                    <m:d>
                      <m:dPr>
                        <m:begChr m:val="("/>
                        <m:sepChr m:val=""/>
                        <m:endChr m:val=")"/>
                        <m:grow/>
                      </m:dPr>
                      <m:e>
                        <m:r>
                          <m:t>T</m:t>
                        </m:r>
                      </m:e>
                    </m:d>
                  </m:oMath>
                </a14:m>
                <a:r>
                  <a:rPr/>
                  <a:t> by rearranging:</a:t>
                </a:r>
              </a:p>
              <a:p>
                <a:pPr lvl="0" indent="0" marL="0">
                  <a:buNone/>
                </a:pPr>
                <a14:m>
                  <m:oMathPara xmlns:m="http://schemas.openxmlformats.org/officeDocument/2006/math">
                    <m:oMathParaPr>
                      <m:jc m:val="center"/>
                    </m:oMathParaPr>
                    <m:oMath>
                      <m:r>
                        <m:t>D</m:t>
                      </m:r>
                      <m:r>
                        <m:t>F</m:t>
                      </m:r>
                      <m:d>
                        <m:dPr>
                          <m:begChr m:val="("/>
                          <m:sepChr m:val=""/>
                          <m:endChr m:val=")"/>
                          <m:grow/>
                        </m:dPr>
                        <m:e>
                          <m:r>
                            <m:t>T</m:t>
                          </m:r>
                        </m:e>
                      </m:d>
                      <m:r>
                        <m:rPr>
                          <m:sty m:val="p"/>
                        </m:rPr>
                        <m:t>=</m:t>
                      </m:r>
                      <m:f>
                        <m:fPr>
                          <m:type m:val="bar"/>
                        </m:fPr>
                        <m:num>
                          <m:r>
                            <m:t>P</m:t>
                          </m:r>
                          <m:r>
                            <m:rPr>
                              <m:sty m:val="p"/>
                            </m:rPr>
                            <m:t>−</m:t>
                          </m:r>
                          <m:nary>
                            <m:naryPr>
                              <m:chr m:val="∑"/>
                              <m:limLoc m:val="undOvr"/>
                              <m:subHide m:val="off"/>
                              <m:supHide m:val="off"/>
                            </m:naryPr>
                            <m:sub>
                              <m:r>
                                <m:t>t</m:t>
                              </m:r>
                              <m:r>
                                <m:rPr>
                                  <m:sty m:val="p"/>
                                </m:rPr>
                                <m:t>=</m:t>
                              </m:r>
                              <m:r>
                                <m:t>1</m:t>
                              </m:r>
                            </m:sub>
                            <m:sup>
                              <m:r>
                                <m:t>T</m:t>
                              </m:r>
                              <m:r>
                                <m:rPr>
                                  <m:sty m:val="p"/>
                                </m:rPr>
                                <m:t>−</m:t>
                              </m:r>
                              <m:r>
                                <m:t>1</m:t>
                              </m:r>
                            </m:sup>
                            <m:e>
                              <m:r>
                                <m:t>C</m:t>
                              </m:r>
                            </m:e>
                          </m:nary>
                          <m:r>
                            <m:rPr>
                              <m:sty m:val="p"/>
                            </m:rPr>
                            <m:t>⋅</m:t>
                          </m:r>
                          <m:r>
                            <m:t>D</m:t>
                          </m:r>
                          <m:r>
                            <m:t>F</m:t>
                          </m:r>
                          <m:d>
                            <m:dPr>
                              <m:begChr m:val="("/>
                              <m:sepChr m:val=""/>
                              <m:endChr m:val=")"/>
                              <m:grow/>
                            </m:dPr>
                            <m:e>
                              <m:r>
                                <m:t>t</m:t>
                              </m:r>
                            </m:e>
                          </m:d>
                        </m:num>
                        <m:den>
                          <m:r>
                            <m:t>C</m:t>
                          </m:r>
                          <m:r>
                            <m:rPr>
                              <m:sty m:val="p"/>
                            </m:rPr>
                            <m:t>+</m:t>
                          </m:r>
                          <m:r>
                            <m:t>F</m:t>
                          </m:r>
                        </m:den>
                      </m:f>
                    </m:oMath>
                  </m:oMathPara>
                </a14:m>
              </a:p>
              <a:p>
                <a:pPr lvl="0" indent="0" marL="0">
                  <a:buNone/>
                </a:pPr>
                <a:r>
                  <a:rPr/>
                  <a:t>This is the </a:t>
                </a:r>
                <a:r>
                  <a:rPr b="1"/>
                  <a:t>bootstrapping recursion</a:t>
                </a:r>
                <a:r>
                  <a:rPr/>
                  <a:t>. Once we have </a:t>
                </a:r>
                <a14:m>
                  <m:oMath xmlns:m="http://schemas.openxmlformats.org/officeDocument/2006/math">
                    <m:r>
                      <m:t>D</m:t>
                    </m:r>
                    <m:r>
                      <m:t>F</m:t>
                    </m:r>
                    <m:d>
                      <m:dPr>
                        <m:begChr m:val="("/>
                        <m:sepChr m:val=""/>
                        <m:endChr m:val=")"/>
                        <m:grow/>
                      </m:dPr>
                      <m:e>
                        <m:r>
                          <m:t>T</m:t>
                        </m:r>
                      </m:e>
                    </m:d>
                  </m:oMath>
                </a14:m>
                <a:r>
                  <a:rPr/>
                  <a:t>, we recover the zero rate via:</a:t>
                </a:r>
              </a:p>
              <a:p>
                <a:pPr lvl="0" indent="0" marL="0">
                  <a:buNone/>
                </a:pPr>
                <a14:m>
                  <m:oMathPara xmlns:m="http://schemas.openxmlformats.org/officeDocument/2006/math">
                    <m:oMathParaPr>
                      <m:jc m:val="center"/>
                    </m:oMathParaPr>
                    <m:oMath>
                      <m:r>
                        <m:t>r</m:t>
                      </m:r>
                      <m:d>
                        <m:dPr>
                          <m:begChr m:val="("/>
                          <m:sepChr m:val=""/>
                          <m:endChr m:val=")"/>
                          <m:grow/>
                        </m:dPr>
                        <m:e>
                          <m:r>
                            <m:t>T</m:t>
                          </m:r>
                        </m:e>
                      </m:d>
                      <m:r>
                        <m:rPr>
                          <m:sty m:val="p"/>
                        </m:rPr>
                        <m:t>=</m:t>
                      </m:r>
                      <m:r>
                        <m:t>D</m:t>
                      </m:r>
                      <m:r>
                        <m:t>F</m:t>
                      </m:r>
                      <m:sSup>
                        <m:e>
                          <m:d>
                            <m:dPr>
                              <m:begChr m:val="("/>
                              <m:sepChr m:val=""/>
                              <m:endChr m:val=")"/>
                              <m:grow/>
                            </m:dPr>
                            <m:e>
                              <m:r>
                                <m:t>T</m:t>
                              </m:r>
                            </m:e>
                          </m:d>
                        </m:e>
                        <m:sup>
                          <m:r>
                            <m:rPr>
                              <m:sty m:val="p"/>
                            </m:rPr>
                            <m:t>−</m:t>
                          </m:r>
                          <m:r>
                            <m:t>1</m:t>
                          </m:r>
                          <m:r>
                            <m:rPr>
                              <m:sty m:val="p"/>
                            </m:rPr>
                            <m:t>/</m:t>
                          </m:r>
                          <m:r>
                            <m:t>T</m:t>
                          </m:r>
                        </m:sup>
                      </m:sSup>
                      <m:r>
                        <m:rPr>
                          <m:sty m:val="p"/>
                        </m:rPr>
                        <m:t>−</m:t>
                      </m:r>
                      <m:r>
                        <m:t>1</m:t>
                      </m:r>
                      <m:r>
                        <m:rPr>
                          <m:sty m:val="p"/>
                        </m:rPr>
                        <m:t>=</m:t>
                      </m:r>
                      <m:sSup>
                        <m:e>
                          <m:d>
                            <m:dPr>
                              <m:begChr m:val="("/>
                              <m:sepChr m:val=""/>
                              <m:endChr m:val=")"/>
                              <m:grow/>
                            </m:dPr>
                            <m:e>
                              <m:f>
                                <m:fPr>
                                  <m:type m:val="bar"/>
                                </m:fPr>
                                <m:num>
                                  <m:r>
                                    <m:t>1</m:t>
                                  </m:r>
                                </m:num>
                                <m:den>
                                  <m:r>
                                    <m:t>D</m:t>
                                  </m:r>
                                  <m:r>
                                    <m:t>F</m:t>
                                  </m:r>
                                  <m:d>
                                    <m:dPr>
                                      <m:begChr m:val="("/>
                                      <m:sepChr m:val=""/>
                                      <m:endChr m:val=")"/>
                                      <m:grow/>
                                    </m:dPr>
                                    <m:e>
                                      <m:r>
                                        <m:t>T</m:t>
                                      </m:r>
                                    </m:e>
                                  </m:d>
                                </m:den>
                              </m:f>
                            </m:e>
                          </m:d>
                        </m:e>
                        <m:sup>
                          <m:r>
                            <m:t>1</m:t>
                          </m:r>
                          <m:r>
                            <m:rPr>
                              <m:sty m:val="p"/>
                            </m:rPr>
                            <m:t>/</m:t>
                          </m:r>
                          <m:r>
                            <m:t>T</m:t>
                          </m:r>
                        </m:sup>
                      </m:sSup>
                      <m:r>
                        <m:rPr>
                          <m:sty m:val="p"/>
                        </m:rPr>
                        <m:t>−</m:t>
                      </m:r>
                      <m:r>
                        <m:t>1</m:t>
                      </m:r>
                    </m:oMath>
                  </m:oMathPara>
                </a14:m>
              </a:p>
              <a:p>
                <a:pPr lvl="0" indent="0" marL="0">
                  <a:buNone/>
                </a:pPr>
                <a:r>
                  <a:rPr b="1"/>
                  <a:t>Arbitrage-free property:</a:t>
                </a:r>
                <a:r>
                  <a:rPr/>
                  <a:t> If market prices are internally consistent, this procedure guarantees that no combination of bonds can generate riskless profit. Any deviation would create an arbitrage opportunity that would be instantly exploited away.</a:t>
                </a:r>
              </a:p>
              <a:p>
                <a:pPr lvl="0" indent="0">
                  <a:buNone/>
                </a:pPr>
                <a:r>
                  <a:rPr>
                    <a:latin typeface="Courier"/>
                  </a:rPr>
                  <a:t>latest_date </a:t>
                </a:r>
                <a:r>
                  <a:rPr>
                    <a:solidFill>
                      <a:srgbClr val="666666"/>
                    </a:solidFill>
                    <a:latin typeface="Courier"/>
                  </a:rPr>
                  <a:t>=</a:t>
                </a:r>
                <a:r>
                  <a:rPr>
                    <a:latin typeface="Courier"/>
                  </a:rPr>
                  <a:t> data[</a:t>
                </a:r>
                <a:r>
                  <a:rPr>
                    <a:solidFill>
                      <a:srgbClr val="4070A0"/>
                    </a:solidFill>
                    <a:latin typeface="Courier"/>
                  </a:rPr>
                  <a:t>"date"</a:t>
                </a:r>
                <a:r>
                  <a:rPr>
                    <a:latin typeface="Courier"/>
                  </a:rPr>
                  <a:t>].</a:t>
                </a:r>
                <a:r>
                  <a:rPr>
                    <a:solidFill>
                      <a:srgbClr val="008000"/>
                    </a:solidFill>
                    <a:latin typeface="Courier"/>
                  </a:rPr>
                  <a:t>max</a:t>
                </a:r>
                <a:r>
                  <a:rPr>
                    <a:latin typeface="Courier"/>
                  </a:rPr>
                  <a:t>()</a:t>
                </a:r>
                <a:br/>
                <a:r>
                  <a:rPr>
                    <a:latin typeface="Courier"/>
                  </a:rPr>
                  <a:t>zero_rates </a:t>
                </a:r>
                <a:r>
                  <a:rPr>
                    <a:solidFill>
                      <a:srgbClr val="666666"/>
                    </a:solidFill>
                    <a:latin typeface="Courier"/>
                  </a:rPr>
                  <a:t>=</a:t>
                </a:r>
                <a:r>
                  <a:rPr>
                    <a:latin typeface="Courier"/>
                  </a:rPr>
                  <a:t> extract_zero_rates_at_date(data, latest_date)</a:t>
                </a:r>
                <a:br/>
                <a:br/>
                <a:r>
                  <a:rPr b="1">
                    <a:solidFill>
                      <a:srgbClr val="008000"/>
                    </a:solidFill>
                    <a:latin typeface="Courier"/>
                  </a:rPr>
                  <a:t>import</a:t>
                </a:r>
                <a:r>
                  <a:rPr>
                    <a:latin typeface="Courier"/>
                  </a:rPr>
                  <a:t> pandas </a:t>
                </a:r>
                <a:r>
                  <a:rPr b="1">
                    <a:solidFill>
                      <a:srgbClr val="008000"/>
                    </a:solidFill>
                    <a:latin typeface="Courier"/>
                  </a:rPr>
                  <a:t>as</a:t>
                </a:r>
                <a:r>
                  <a:rPr>
                    <a:latin typeface="Courier"/>
                  </a:rPr>
                  <a:t> pd</a:t>
                </a:r>
                <a:br/>
                <a:br/>
                <a:r>
                  <a:rPr>
                    <a:latin typeface="Courier"/>
                  </a:rPr>
                  <a:t>dfs </a:t>
                </a:r>
                <a:r>
                  <a:rPr>
                    <a:solidFill>
                      <a:srgbClr val="666666"/>
                    </a:solidFill>
                    <a:latin typeface="Courier"/>
                  </a:rPr>
                  <a:t>=</a:t>
                </a:r>
                <a:r>
                  <a:rPr>
                    <a:latin typeface="Courier"/>
                  </a:rPr>
                  <a:t> zero_to_discount_factors(zero_rates)</a:t>
                </a:r>
                <a:br/>
                <a:br/>
                <a:r>
                  <a:rPr>
                    <a:latin typeface="Courier"/>
                  </a:rPr>
                  <a:t>summary </a:t>
                </a:r>
                <a:r>
                  <a:rPr>
                    <a:solidFill>
                      <a:srgbClr val="666666"/>
                    </a:solidFill>
                    <a:latin typeface="Courier"/>
                  </a:rPr>
                  <a:t>=</a:t>
                </a:r>
                <a:r>
                  <a:rPr>
                    <a:latin typeface="Courier"/>
                  </a:rPr>
                  <a:t> pd.DataFrame({</a:t>
                </a:r>
                <a:br/>
                <a:r>
                  <a:rPr>
                    <a:latin typeface="Courier"/>
                  </a:rPr>
                  <a:t>    </a:t>
                </a:r>
                <a:r>
                  <a:rPr>
                    <a:solidFill>
                      <a:srgbClr val="4070A0"/>
                    </a:solidFill>
                    <a:latin typeface="Courier"/>
                  </a:rPr>
                  <a:t>"Maturity (Y)"</a:t>
                </a:r>
                <a:r>
                  <a:rPr>
                    <a:latin typeface="Courier"/>
                  </a:rPr>
                  <a:t>: </a:t>
                </a:r>
                <a:r>
                  <a:rPr>
                    <a:solidFill>
                      <a:srgbClr val="008000"/>
                    </a:solidFill>
                    <a:latin typeface="Courier"/>
                  </a:rPr>
                  <a:t>list</a:t>
                </a:r>
                <a:r>
                  <a:rPr>
                    <a:latin typeface="Courier"/>
                  </a:rPr>
                  <a:t>(zero_rates.keys()),</a:t>
                </a:r>
                <a:br/>
                <a:r>
                  <a:rPr>
                    <a:latin typeface="Courier"/>
                  </a:rPr>
                  <a:t>    </a:t>
                </a:r>
                <a:r>
                  <a:rPr>
                    <a:solidFill>
                      <a:srgbClr val="4070A0"/>
                    </a:solidFill>
                    <a:latin typeface="Courier"/>
                  </a:rPr>
                  <a:t>"Zero Rate (%)"</a:t>
                </a:r>
                <a:r>
                  <a:rPr>
                    <a:latin typeface="Courier"/>
                  </a:rPr>
                  <a:t>: [</a:t>
                </a:r>
                <a:r>
                  <a:rPr>
                    <a:solidFill>
                      <a:srgbClr val="BB6688"/>
                    </a:solidFill>
                    <a:latin typeface="Courier"/>
                  </a:rPr>
                  <a:t>f"</a:t>
                </a:r>
                <a:r>
                  <a:rPr>
                    <a:solidFill>
                      <a:srgbClr val="4070A0"/>
                    </a:solidFill>
                    <a:latin typeface="Courier"/>
                  </a:rPr>
                  <a:t>{</a:t>
                </a:r>
                <a:r>
                  <a:rPr>
                    <a:latin typeface="Courier"/>
                  </a:rPr>
                  <a:t>r</a:t>
                </a:r>
                <a:r>
                  <a:rPr>
                    <a:solidFill>
                      <a:srgbClr val="666666"/>
                    </a:solidFill>
                    <a:latin typeface="Courier"/>
                  </a:rPr>
                  <a:t>*</a:t>
                </a:r>
                <a:r>
                  <a:rPr>
                    <a:solidFill>
                      <a:srgbClr val="40A070"/>
                    </a:solidFill>
                    <a:latin typeface="Courier"/>
                  </a:rPr>
                  <a:t>100</a:t>
                </a:r>
                <a:r>
                  <a:rPr>
                    <a:solidFill>
                      <a:srgbClr val="4070A0"/>
                    </a:solidFill>
                    <a:latin typeface="Courier"/>
                  </a:rPr>
                  <a:t>:.3f}</a:t>
                </a:r>
                <a:r>
                  <a:rPr>
                    <a:solidFill>
                      <a:srgbClr val="BB6688"/>
                    </a:solidFill>
                    <a:latin typeface="Courier"/>
                  </a:rPr>
                  <a:t>"</a:t>
                </a:r>
                <a:r>
                  <a:rPr>
                    <a:latin typeface="Courier"/>
                  </a:rPr>
                  <a:t> </a:t>
                </a:r>
                <a:r>
                  <a:rPr b="1">
                    <a:solidFill>
                      <a:srgbClr val="007020"/>
                    </a:solidFill>
                    <a:latin typeface="Courier"/>
                  </a:rPr>
                  <a:t>for</a:t>
                </a:r>
                <a:r>
                  <a:rPr>
                    <a:latin typeface="Courier"/>
                  </a:rPr>
                  <a:t> r </a:t>
                </a:r>
                <a:r>
                  <a:rPr b="1">
                    <a:solidFill>
                      <a:srgbClr val="007020"/>
                    </a:solidFill>
                    <a:latin typeface="Courier"/>
                  </a:rPr>
                  <a:t>in</a:t>
                </a:r>
                <a:r>
                  <a:rPr>
                    <a:latin typeface="Courier"/>
                  </a:rPr>
                  <a:t> zero_rates.values()],</a:t>
                </a:r>
                <a:br/>
                <a:r>
                  <a:rPr>
                    <a:latin typeface="Courier"/>
                  </a:rPr>
                  <a:t>    </a:t>
                </a:r>
                <a:r>
                  <a:rPr>
                    <a:solidFill>
                      <a:srgbClr val="4070A0"/>
                    </a:solidFill>
                    <a:latin typeface="Courier"/>
                  </a:rPr>
                  <a:t>"Discount Factor"</a:t>
                </a:r>
                <a:r>
                  <a:rPr>
                    <a:latin typeface="Courier"/>
                  </a:rPr>
                  <a:t>: [</a:t>
                </a:r>
                <a:r>
                  <a:rPr>
                    <a:solidFill>
                      <a:srgbClr val="BB6688"/>
                    </a:solidFill>
                    <a:latin typeface="Courier"/>
                  </a:rPr>
                  <a:t>f"</a:t>
                </a:r>
                <a:r>
                  <a:rPr>
                    <a:solidFill>
                      <a:srgbClr val="4070A0"/>
                    </a:solidFill>
                    <a:latin typeface="Courier"/>
                  </a:rPr>
                  <a:t>{</a:t>
                </a:r>
                <a:r>
                  <a:rPr>
                    <a:latin typeface="Courier"/>
                  </a:rPr>
                  <a:t>dfs[T]</a:t>
                </a:r>
                <a:r>
                  <a:rPr>
                    <a:solidFill>
                      <a:srgbClr val="4070A0"/>
                    </a:solidFill>
                    <a:latin typeface="Courier"/>
                  </a:rPr>
                  <a:t>:.4f}</a:t>
                </a:r>
                <a:r>
                  <a:rPr>
                    <a:solidFill>
                      <a:srgbClr val="BB6688"/>
                    </a:solidFill>
                    <a:latin typeface="Courier"/>
                  </a:rPr>
                  <a:t>"</a:t>
                </a:r>
                <a:r>
                  <a:rPr>
                    <a:latin typeface="Courier"/>
                  </a:rPr>
                  <a:t> </a:t>
                </a:r>
                <a:r>
                  <a:rPr b="1">
                    <a:solidFill>
                      <a:srgbClr val="007020"/>
                    </a:solidFill>
                    <a:latin typeface="Courier"/>
                  </a:rPr>
                  <a:t>for</a:t>
                </a:r>
                <a:r>
                  <a:rPr>
                    <a:latin typeface="Courier"/>
                  </a:rPr>
                  <a:t> T </a:t>
                </a:r>
                <a:r>
                  <a:rPr b="1">
                    <a:solidFill>
                      <a:srgbClr val="007020"/>
                    </a:solidFill>
                    <a:latin typeface="Courier"/>
                  </a:rPr>
                  <a:t>in</a:t>
                </a:r>
                <a:r>
                  <a:rPr>
                    <a:latin typeface="Courier"/>
                  </a:rPr>
                  <a:t> zero_rates.keys()],</a:t>
                </a:r>
                <a:br/>
                <a:r>
                  <a:rPr>
                    <a:latin typeface="Courier"/>
                  </a:rPr>
                  <a:t>})</a:t>
                </a:r>
                <a:br/>
                <a:r>
                  <a:rPr>
                    <a:latin typeface="Courier"/>
                  </a:rPr>
                  <a:t>summary</a:t>
                </a:r>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endParaRPr/>
                    </a:p>
                  </a:txBody>
                  <a:tcPr/>
                </a:tc>
                <a:tc>
                  <a:txBody>
                    <a:bodyPr/>
                    <a:lstStyle/>
                    <a:p>
                      <a:pPr lvl="0" indent="0" marL="0">
                        <a:buNone/>
                      </a:pPr>
                      <a:r>
                        <a:rPr/>
                        <a:t>Maturity (Y)</a:t>
                      </a:r>
                    </a:p>
                  </a:txBody>
                  <a:tcPr/>
                </a:tc>
                <a:tc>
                  <a:txBody>
                    <a:bodyPr/>
                    <a:lstStyle/>
                    <a:p>
                      <a:pPr lvl="0" indent="0" marL="0">
                        <a:buNone/>
                      </a:pPr>
                      <a:r>
                        <a:rPr/>
                        <a:t>Zero Rate (%)</a:t>
                      </a:r>
                    </a:p>
                  </a:txBody>
                  <a:tcPr/>
                </a:tc>
                <a:tc>
                  <a:txBody>
                    <a:bodyPr/>
                    <a:lstStyle/>
                    <a:p>
                      <a:pPr lvl="0" indent="0" marL="0">
                        <a:buNone/>
                      </a:pPr>
                      <a:r>
                        <a:rPr/>
                        <a:t>Discount Factor</a:t>
                      </a:r>
                    </a:p>
                  </a:txBody>
                  <a:tcPr/>
                </a:tc>
              </a:tr>
              <a:tr h="0">
                <a:tc>
                  <a:txBody>
                    <a:bodyPr/>
                    <a:lstStyle/>
                    <a:p>
                      <a:pPr lvl="0" indent="0" marL="0">
                        <a:buNone/>
                      </a:pPr>
                      <a:r>
                        <a:rPr/>
                        <a:t>0</a:t>
                      </a:r>
                    </a:p>
                  </a:txBody>
                </a:tc>
                <a:tc>
                  <a:txBody>
                    <a:bodyPr/>
                    <a:lstStyle/>
                    <a:p>
                      <a:pPr lvl="0" indent="0" marL="0">
                        <a:buNone/>
                      </a:pPr>
                      <a:r>
                        <a:rPr/>
                        <a:t>1</a:t>
                      </a:r>
                    </a:p>
                  </a:txBody>
                </a:tc>
                <a:tc>
                  <a:txBody>
                    <a:bodyPr/>
                    <a:lstStyle/>
                    <a:p>
                      <a:pPr lvl="0" indent="0" marL="0">
                        <a:buNone/>
                      </a:pPr>
                      <a:r>
                        <a:rPr/>
                        <a:t>3.400</a:t>
                      </a:r>
                    </a:p>
                  </a:txBody>
                </a:tc>
                <a:tc>
                  <a:txBody>
                    <a:bodyPr/>
                    <a:lstStyle/>
                    <a:p>
                      <a:pPr lvl="0" indent="0" marL="0">
                        <a:buNone/>
                      </a:pPr>
                      <a:r>
                        <a:rPr/>
                        <a:t>0.9671</a:t>
                      </a:r>
                    </a:p>
                  </a:txBody>
                </a:tc>
              </a:tr>
              <a:tr h="0">
                <a:tc>
                  <a:txBody>
                    <a:bodyPr/>
                    <a:lstStyle/>
                    <a:p>
                      <a:pPr lvl="0" indent="0" marL="0">
                        <a:buNone/>
                      </a:pPr>
                      <a:r>
                        <a:rPr/>
                        <a:t>1</a:t>
                      </a:r>
                    </a:p>
                  </a:txBody>
                </a:tc>
                <a:tc>
                  <a:txBody>
                    <a:bodyPr/>
                    <a:lstStyle/>
                    <a:p>
                      <a:pPr lvl="0" indent="0" marL="0">
                        <a:buNone/>
                      </a:pPr>
                      <a:r>
                        <a:rPr/>
                        <a:t>2</a:t>
                      </a:r>
                    </a:p>
                  </a:txBody>
                </a:tc>
                <a:tc>
                  <a:txBody>
                    <a:bodyPr/>
                    <a:lstStyle/>
                    <a:p>
                      <a:pPr lvl="0" indent="0" marL="0">
                        <a:buNone/>
                      </a:pPr>
                      <a:r>
                        <a:rPr/>
                        <a:t>3.450</a:t>
                      </a:r>
                    </a:p>
                  </a:txBody>
                </a:tc>
                <a:tc>
                  <a:txBody>
                    <a:bodyPr/>
                    <a:lstStyle/>
                    <a:p>
                      <a:pPr lvl="0" indent="0" marL="0">
                        <a:buNone/>
                      </a:pPr>
                      <a:r>
                        <a:rPr/>
                        <a:t>0.9344</a:t>
                      </a:r>
                    </a:p>
                  </a:txBody>
                </a:tc>
              </a:tr>
              <a:tr h="0">
                <a:tc>
                  <a:txBody>
                    <a:bodyPr/>
                    <a:lstStyle/>
                    <a:p>
                      <a:pPr lvl="0" indent="0" marL="0">
                        <a:buNone/>
                      </a:pPr>
                      <a:r>
                        <a:rPr/>
                        <a:t>2</a:t>
                      </a:r>
                    </a:p>
                  </a:txBody>
                </a:tc>
                <a:tc>
                  <a:txBody>
                    <a:bodyPr/>
                    <a:lstStyle/>
                    <a:p>
                      <a:pPr lvl="0" indent="0" marL="0">
                        <a:buNone/>
                      </a:pPr>
                      <a:r>
                        <a:rPr/>
                        <a:t>5</a:t>
                      </a:r>
                    </a:p>
                  </a:txBody>
                </a:tc>
                <a:tc>
                  <a:txBody>
                    <a:bodyPr/>
                    <a:lstStyle/>
                    <a:p>
                      <a:pPr lvl="0" indent="0" marL="0">
                        <a:buNone/>
                      </a:pPr>
                      <a:r>
                        <a:rPr/>
                        <a:t>3.700</a:t>
                      </a:r>
                    </a:p>
                  </a:txBody>
                </a:tc>
                <a:tc>
                  <a:txBody>
                    <a:bodyPr/>
                    <a:lstStyle/>
                    <a:p>
                      <a:pPr lvl="0" indent="0" marL="0">
                        <a:buNone/>
                      </a:pPr>
                      <a:r>
                        <a:rPr/>
                        <a:t>0.8339</a:t>
                      </a:r>
                    </a:p>
                  </a:txBody>
                </a:tc>
              </a:tr>
              <a:tr h="0">
                <a:tc>
                  <a:txBody>
                    <a:bodyPr/>
                    <a:lstStyle/>
                    <a:p>
                      <a:pPr lvl="0" indent="0" marL="0">
                        <a:buNone/>
                      </a:pPr>
                      <a:r>
                        <a:rPr/>
                        <a:t>3</a:t>
                      </a:r>
                    </a:p>
                  </a:txBody>
                </a:tc>
                <a:tc>
                  <a:txBody>
                    <a:bodyPr/>
                    <a:lstStyle/>
                    <a:p>
                      <a:pPr lvl="0" indent="0" marL="0">
                        <a:buNone/>
                      </a:pPr>
                      <a:r>
                        <a:rPr/>
                        <a:t>10</a:t>
                      </a:r>
                    </a:p>
                  </a:txBody>
                </a:tc>
                <a:tc>
                  <a:txBody>
                    <a:bodyPr/>
                    <a:lstStyle/>
                    <a:p>
                      <a:pPr lvl="0" indent="0" marL="0">
                        <a:buNone/>
                      </a:pPr>
                      <a:r>
                        <a:rPr/>
                        <a:t>4.160</a:t>
                      </a:r>
                    </a:p>
                  </a:txBody>
                </a:tc>
                <a:tc>
                  <a:txBody>
                    <a:bodyPr/>
                    <a:lstStyle/>
                    <a:p>
                      <a:pPr lvl="0" indent="0" marL="0">
                        <a:buNone/>
                      </a:pPr>
                      <a:r>
                        <a:rPr/>
                        <a:t>0.6653</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This procedure ensures </a:t>
            </a:r>
            <a:r>
              <a:rPr b="1"/>
              <a:t>arbitrage-free construction</a:t>
            </a:r>
            <a:r>
              <a:rPr/>
              <a:t> of the zero curve: no riskless profit is possible from combinations of these instruments.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Curve Interpolation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 Why interpolate?</a:t>
            </a:r>
          </a:p>
          <a:p>
            <a:pPr lvl="0" indent="0" marL="1270000">
              <a:buNone/>
            </a:pPr>
            <a:r>
              <a:rPr sz="2000"/>
              <a:t>We only observe rates at 4 maturities (1Y, 2Y, 5Y, 10Y). But pricing a bond maturing in 3 or 7 years requires rates at those tenors too. Interpolation fills the gaps, the question is </a:t>
            </a:r>
            <a:r>
              <a:rPr sz="2000" i="1"/>
              <a:t>how</a:t>
            </a:r>
            <a:r>
              <a:rPr sz="2000"/>
              <a:t> to do it smoothly and economically.</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Cubic Spline</a:t>
            </a:r>
          </a:p>
        </p:txBody>
      </p:sp>
      <p:sp>
        <p:nvSpPr>
          <p:cNvPr id="3" name="Content Placeholder 2"/>
          <p:cNvSpPr>
            <a:spLocks noGrp="1"/>
          </p:cNvSpPr>
          <p:nvPr>
            <p:ph idx="1"/>
          </p:nvPr>
        </p:nvSpPr>
        <p:spPr/>
        <p:txBody>
          <a:bodyPr/>
          <a:lstStyle/>
          <a:p>
            <a:pPr lvl="0" indent="0" marL="0">
              <a:buNone/>
            </a:pPr>
            <a:r>
              <a:rPr/>
              <a:t>A </a:t>
            </a:r>
            <a:r>
              <a:rPr b="1"/>
              <a:t>natural cubic spline</a:t>
            </a:r>
            <a:r>
              <a:rPr/>
              <a:t> fits a smooth, piecewise polynomial curve that passes exactly through each observed point. It minimises curvature (second-derivative) globally, producing the smoothest possible interpolation.</a:t>
            </a:r>
          </a:p>
          <a:p>
            <a:pPr lvl="0" indent="0">
              <a:buNone/>
            </a:pPr>
            <a:r>
              <a:rPr>
                <a:latin typeface="Courier"/>
              </a:rPr>
              <a:t>spline_curve </a:t>
            </a:r>
            <a:r>
              <a:rPr>
                <a:solidFill>
                  <a:srgbClr val="666666"/>
                </a:solidFill>
                <a:latin typeface="Courier"/>
              </a:rPr>
              <a:t>=</a:t>
            </a:r>
            <a:r>
              <a:rPr>
                <a:latin typeface="Courier"/>
              </a:rPr>
              <a:t> interpolate_zero_curve_spline(zero_rates)</a:t>
            </a:r>
            <a:br/>
            <a:br/>
            <a:r>
              <a:rPr i="1">
                <a:solidFill>
                  <a:srgbClr val="60A0B0"/>
                </a:solidFill>
                <a:latin typeface="Courier"/>
              </a:rPr>
              <a:t># Demonstrate interpolation at intermediate maturities</a:t>
            </a:r>
            <a:br/>
            <a:r>
              <a:rPr>
                <a:solidFill>
                  <a:srgbClr val="008000"/>
                </a:solidFill>
                <a:latin typeface="Courier"/>
              </a:rPr>
              <a:t>print</a:t>
            </a:r>
            <a:r>
              <a:rPr>
                <a:latin typeface="Courier"/>
              </a:rPr>
              <a:t>(</a:t>
            </a:r>
            <a:r>
              <a:rPr>
                <a:solidFill>
                  <a:srgbClr val="4070A0"/>
                </a:solidFill>
                <a:latin typeface="Courier"/>
              </a:rPr>
              <a:t>"Cubic Spline Interpolation:"</a:t>
            </a:r>
            <a:r>
              <a:rPr>
                <a:latin typeface="Courier"/>
              </a:rPr>
              <a:t>)</a:t>
            </a:r>
            <a:br/>
            <a:r>
              <a:rPr>
                <a:solidFill>
                  <a:srgbClr val="008000"/>
                </a:solidFill>
                <a:latin typeface="Courier"/>
              </a:rPr>
              <a:t>print</a:t>
            </a:r>
            <a:r>
              <a:rPr>
                <a:latin typeface="Courier"/>
              </a:rPr>
              <a:t>(</a:t>
            </a:r>
            <a:r>
              <a:rPr>
                <a:solidFill>
                  <a:srgbClr val="BB6688"/>
                </a:solidFill>
                <a:latin typeface="Courier"/>
              </a:rPr>
              <a:t>f"  Observed 2Y rate : </a:t>
            </a:r>
            <a:r>
              <a:rPr>
                <a:solidFill>
                  <a:srgbClr val="4070A0"/>
                </a:solidFill>
                <a:latin typeface="Courier"/>
              </a:rPr>
              <a:t>{</a:t>
            </a:r>
            <a:r>
              <a:rPr>
                <a:latin typeface="Courier"/>
              </a:rPr>
              <a:t>zero_rates[</a:t>
            </a:r>
            <a:r>
              <a:rPr>
                <a:solidFill>
                  <a:srgbClr val="40A070"/>
                </a:solidFill>
                <a:latin typeface="Courier"/>
              </a:rPr>
              <a:t>2</a:t>
            </a:r>
            <a:r>
              <a:rPr>
                <a:latin typeface="Courier"/>
              </a:rPr>
              <a:t>]</a:t>
            </a:r>
            <a:r>
              <a:rPr>
                <a:solidFill>
                  <a:srgbClr val="666666"/>
                </a:solidFill>
                <a:latin typeface="Courier"/>
              </a:rPr>
              <a:t>*</a:t>
            </a:r>
            <a:r>
              <a:rPr>
                <a:solidFill>
                  <a:srgbClr val="40A070"/>
                </a:solidFill>
                <a:latin typeface="Courier"/>
              </a:rPr>
              <a:t>100</a:t>
            </a:r>
            <a:r>
              <a:rPr>
                <a:solidFill>
                  <a:srgbClr val="4070A0"/>
                </a:solidFill>
                <a:latin typeface="Courier"/>
              </a:rPr>
              <a:t>:.3f}</a:t>
            </a:r>
            <a:r>
              <a:rPr>
                <a:solidFill>
                  <a:srgbClr val="BB6688"/>
                </a:solidFill>
                <a:latin typeface="Courier"/>
              </a:rPr>
              <a:t>%"</a:t>
            </a:r>
            <a:r>
              <a:rPr>
                <a:latin typeface="Courier"/>
              </a:rPr>
              <a:t>)</a:t>
            </a:r>
            <a:br/>
            <a:r>
              <a:rPr>
                <a:solidFill>
                  <a:srgbClr val="008000"/>
                </a:solidFill>
                <a:latin typeface="Courier"/>
              </a:rPr>
              <a:t>print</a:t>
            </a:r>
            <a:r>
              <a:rPr>
                <a:latin typeface="Courier"/>
              </a:rPr>
              <a:t>(</a:t>
            </a:r>
            <a:r>
              <a:rPr>
                <a:solidFill>
                  <a:srgbClr val="BB6688"/>
                </a:solidFill>
                <a:latin typeface="Courier"/>
              </a:rPr>
              <a:t>f"  Interpolated 3Y  : </a:t>
            </a:r>
            <a:r>
              <a:rPr>
                <a:solidFill>
                  <a:srgbClr val="4070A0"/>
                </a:solidFill>
                <a:latin typeface="Courier"/>
              </a:rPr>
              <a:t>{</a:t>
            </a:r>
            <a:r>
              <a:rPr>
                <a:latin typeface="Courier"/>
              </a:rPr>
              <a:t>spline_curve(</a:t>
            </a:r>
            <a:r>
              <a:rPr>
                <a:solidFill>
                  <a:srgbClr val="40A070"/>
                </a:solidFill>
                <a:latin typeface="Courier"/>
              </a:rPr>
              <a:t>3</a:t>
            </a:r>
            <a:r>
              <a:rPr>
                <a:latin typeface="Courier"/>
              </a:rPr>
              <a:t>)</a:t>
            </a:r>
            <a:r>
              <a:rPr>
                <a:solidFill>
                  <a:srgbClr val="666666"/>
                </a:solidFill>
                <a:latin typeface="Courier"/>
              </a:rPr>
              <a:t>*</a:t>
            </a:r>
            <a:r>
              <a:rPr>
                <a:solidFill>
                  <a:srgbClr val="40A070"/>
                </a:solidFill>
                <a:latin typeface="Courier"/>
              </a:rPr>
              <a:t>100</a:t>
            </a:r>
            <a:r>
              <a:rPr>
                <a:solidFill>
                  <a:srgbClr val="4070A0"/>
                </a:solidFill>
                <a:latin typeface="Courier"/>
              </a:rPr>
              <a:t>:.3f}</a:t>
            </a:r>
            <a:r>
              <a:rPr>
                <a:solidFill>
                  <a:srgbClr val="BB6688"/>
                </a:solidFill>
                <a:latin typeface="Courier"/>
              </a:rPr>
              <a:t>%"</a:t>
            </a:r>
            <a:r>
              <a:rPr>
                <a:latin typeface="Courier"/>
              </a:rPr>
              <a:t>)</a:t>
            </a:r>
            <a:br/>
            <a:r>
              <a:rPr>
                <a:solidFill>
                  <a:srgbClr val="008000"/>
                </a:solidFill>
                <a:latin typeface="Courier"/>
              </a:rPr>
              <a:t>print</a:t>
            </a:r>
            <a:r>
              <a:rPr>
                <a:latin typeface="Courier"/>
              </a:rPr>
              <a:t>(</a:t>
            </a:r>
            <a:r>
              <a:rPr>
                <a:solidFill>
                  <a:srgbClr val="BB6688"/>
                </a:solidFill>
                <a:latin typeface="Courier"/>
              </a:rPr>
              <a:t>f"  Observed 5Y rate : </a:t>
            </a:r>
            <a:r>
              <a:rPr>
                <a:solidFill>
                  <a:srgbClr val="4070A0"/>
                </a:solidFill>
                <a:latin typeface="Courier"/>
              </a:rPr>
              <a:t>{</a:t>
            </a:r>
            <a:r>
              <a:rPr>
                <a:latin typeface="Courier"/>
              </a:rPr>
              <a:t>zero_rates[</a:t>
            </a:r>
            <a:r>
              <a:rPr>
                <a:solidFill>
                  <a:srgbClr val="40A070"/>
                </a:solidFill>
                <a:latin typeface="Courier"/>
              </a:rPr>
              <a:t>5</a:t>
            </a:r>
            <a:r>
              <a:rPr>
                <a:latin typeface="Courier"/>
              </a:rPr>
              <a:t>]</a:t>
            </a:r>
            <a:r>
              <a:rPr>
                <a:solidFill>
                  <a:srgbClr val="666666"/>
                </a:solidFill>
                <a:latin typeface="Courier"/>
              </a:rPr>
              <a:t>*</a:t>
            </a:r>
            <a:r>
              <a:rPr>
                <a:solidFill>
                  <a:srgbClr val="40A070"/>
                </a:solidFill>
                <a:latin typeface="Courier"/>
              </a:rPr>
              <a:t>100</a:t>
            </a:r>
            <a:r>
              <a:rPr>
                <a:solidFill>
                  <a:srgbClr val="4070A0"/>
                </a:solidFill>
                <a:latin typeface="Courier"/>
              </a:rPr>
              <a:t>:.3f}</a:t>
            </a:r>
            <a:r>
              <a:rPr>
                <a:solidFill>
                  <a:srgbClr val="BB6688"/>
                </a:solidFill>
                <a:latin typeface="Courier"/>
              </a:rPr>
              <a:t>%"</a:t>
            </a:r>
            <a:r>
              <a:rPr>
                <a:latin typeface="Courier"/>
              </a:rPr>
              <a:t>)</a:t>
            </a:r>
            <a:br/>
            <a:r>
              <a:rPr>
                <a:solidFill>
                  <a:srgbClr val="008000"/>
                </a:solidFill>
                <a:latin typeface="Courier"/>
              </a:rPr>
              <a:t>print</a:t>
            </a:r>
            <a:r>
              <a:rPr>
                <a:latin typeface="Courier"/>
              </a:rPr>
              <a:t>(</a:t>
            </a:r>
            <a:r>
              <a:rPr>
                <a:solidFill>
                  <a:srgbClr val="BB6688"/>
                </a:solidFill>
                <a:latin typeface="Courier"/>
              </a:rPr>
              <a:t>f"  Interpolated 7Y  : </a:t>
            </a:r>
            <a:r>
              <a:rPr>
                <a:solidFill>
                  <a:srgbClr val="4070A0"/>
                </a:solidFill>
                <a:latin typeface="Courier"/>
              </a:rPr>
              <a:t>{</a:t>
            </a:r>
            <a:r>
              <a:rPr>
                <a:latin typeface="Courier"/>
              </a:rPr>
              <a:t>spline_curve(</a:t>
            </a:r>
            <a:r>
              <a:rPr>
                <a:solidFill>
                  <a:srgbClr val="40A070"/>
                </a:solidFill>
                <a:latin typeface="Courier"/>
              </a:rPr>
              <a:t>7</a:t>
            </a:r>
            <a:r>
              <a:rPr>
                <a:latin typeface="Courier"/>
              </a:rPr>
              <a:t>)</a:t>
            </a:r>
            <a:r>
              <a:rPr>
                <a:solidFill>
                  <a:srgbClr val="666666"/>
                </a:solidFill>
                <a:latin typeface="Courier"/>
              </a:rPr>
              <a:t>*</a:t>
            </a:r>
            <a:r>
              <a:rPr>
                <a:solidFill>
                  <a:srgbClr val="40A070"/>
                </a:solidFill>
                <a:latin typeface="Courier"/>
              </a:rPr>
              <a:t>100</a:t>
            </a:r>
            <a:r>
              <a:rPr>
                <a:solidFill>
                  <a:srgbClr val="4070A0"/>
                </a:solidFill>
                <a:latin typeface="Courier"/>
              </a:rPr>
              <a:t>:.3f}</a:t>
            </a:r>
            <a:r>
              <a:rPr>
                <a:solidFill>
                  <a:srgbClr val="BB6688"/>
                </a:solidFill>
                <a:latin typeface="Courier"/>
              </a:rPr>
              <a:t>%"</a:t>
            </a:r>
            <a:r>
              <a:rPr>
                <a:latin typeface="Courier"/>
              </a:rPr>
              <a:t>)</a:t>
            </a:r>
            <a:br/>
            <a:r>
              <a:rPr>
                <a:solidFill>
                  <a:srgbClr val="008000"/>
                </a:solidFill>
                <a:latin typeface="Courier"/>
              </a:rPr>
              <a:t>print</a:t>
            </a:r>
            <a:r>
              <a:rPr>
                <a:latin typeface="Courier"/>
              </a:rPr>
              <a:t>(</a:t>
            </a:r>
            <a:r>
              <a:rPr>
                <a:solidFill>
                  <a:srgbClr val="BB6688"/>
                </a:solidFill>
                <a:latin typeface="Courier"/>
              </a:rPr>
              <a:t>f"  Observed 10Y rate: </a:t>
            </a:r>
            <a:r>
              <a:rPr>
                <a:solidFill>
                  <a:srgbClr val="4070A0"/>
                </a:solidFill>
                <a:latin typeface="Courier"/>
              </a:rPr>
              <a:t>{</a:t>
            </a:r>
            <a:r>
              <a:rPr>
                <a:latin typeface="Courier"/>
              </a:rPr>
              <a:t>zero_rates[</a:t>
            </a:r>
            <a:r>
              <a:rPr>
                <a:solidFill>
                  <a:srgbClr val="40A070"/>
                </a:solidFill>
                <a:latin typeface="Courier"/>
              </a:rPr>
              <a:t>10</a:t>
            </a:r>
            <a:r>
              <a:rPr>
                <a:latin typeface="Courier"/>
              </a:rPr>
              <a:t>]</a:t>
            </a:r>
            <a:r>
              <a:rPr>
                <a:solidFill>
                  <a:srgbClr val="666666"/>
                </a:solidFill>
                <a:latin typeface="Courier"/>
              </a:rPr>
              <a:t>*</a:t>
            </a:r>
            <a:r>
              <a:rPr>
                <a:solidFill>
                  <a:srgbClr val="40A070"/>
                </a:solidFill>
                <a:latin typeface="Courier"/>
              </a:rPr>
              <a:t>100</a:t>
            </a:r>
            <a:r>
              <a:rPr>
                <a:solidFill>
                  <a:srgbClr val="4070A0"/>
                </a:solidFill>
                <a:latin typeface="Courier"/>
              </a:rPr>
              <a:t>:.3f}</a:t>
            </a:r>
            <a:r>
              <a:rPr>
                <a:solidFill>
                  <a:srgbClr val="BB6688"/>
                </a:solidFill>
                <a:latin typeface="Courier"/>
              </a:rPr>
              <a:t>%"</a:t>
            </a:r>
            <a:r>
              <a:rPr>
                <a:latin typeface="Courier"/>
              </a:rPr>
              <a:t>)</a:t>
            </a:r>
          </a:p>
          <a:p>
            <a:pPr lvl="0" indent="0">
              <a:buNone/>
            </a:pPr>
            <a:r>
              <a:rPr>
                <a:latin typeface="Courier"/>
              </a:rPr>
              <a:t>Cubic Spline Interpolation:
  Observed 2Y rate : 3.450%
  Interpolated 3Y  : 3.520%
  Observed 5Y rate : 3.700%
  Interpolated 7Y  : 3.886%
  Observed 10Y rate: 4.160%</a:t>
            </a:r>
          </a:p>
        </p:txBody>
      </p:sp>
    </p:spTree>
  </p:cSld>
</p:sld>
</file>

<file path=ppt/slides/slide19.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2" name="Title 1" /><p:cNvSpPr><a:spLocks noGrp="1" /></p:cNvSpPr><p:nvPr><p:ph type="title" /></p:nvPr></p:nvSpPr><p:spPr><a:xfrm><a:off x="457201" y="204787" /><a:ext cx="3008313" cy="871538" /></a:xfrm></p:spPr><p:txBody><a:bodyPr /><a:lstStyle /><a:p><a:pPr lvl="0" indent="0" marL="0"><a:buNone /></a:pPr><a:r><a:rPr /><a:t>Nelson–Siegel Parametric Curve</a:t></a:r></a:p></p:txBody></p:sp><mc:AlternateContent xmlns:mc="http://schemas.openxmlformats.org/markup-compatibility/2006"><mc:Choice xmlns:a14="http://schemas.microsoft.com/office/drawing/2010/main" Requires="a14"><p:sp><p:nvSpPr><p:cNvPr id="4" name="Text Placeholder 3" /><p:cNvSpPr><a:spLocks noGrp="1" /></p:cNvSpPr><p:nvPr><p:ph idx="2" sz="half" type="body" /></p:nvPr></p:nvSpPr><p:spPr /><p:txBody><a:bodyPr /><a:lstStyle /><a:p><a:pPr lvl="0" indent="0" marL="0"><a:buNone /></a:pPr><a:r><a:rPr /><a:t>The </a:t></a:r><a:r><a:rPr b="1" /><a:t>Nelson–Siegel</a:t></a:r><a:r><a:rPr /><a:t> model imposes economic structure on the curve. Its four parameters each have a direct interpretation:</a:t></a:r></a:p><a:p><a:pPr lvl="0" indent="0" marL="0"><a:buNone /></a:pPr><a14:m><m:oMathPara xmlns:m="http://schemas.openxmlformats.org/officeDocument/2006/math"><m:oMathParaPr><m:jc m:val="center" /></m:oMathParaPr><m:oMath><m:r><m:t>r</m:t></m:r><m:d><m:dPr><m:begChr m:val="(" /><m:sepChr m:val="" /><m:endChr m:val=")" /><m:grow /></m:dPr><m:e><m:r><m:t>T</m:t></m:r></m:e></m:d><m:r><m:rPr><m:sty m:val="p" /></m:rPr><m:t>=</m:t></m:r><m:limLow><m:e><m:limLow><m:e><m:sSub><m:e><m:r><m:t>β</m:t></m:r></m:e><m:sub><m:r><m:t>0</m:t></m:r></m:sub></m:sSub></m:e><m:lim><m:r><m:rPr><m:sty m:val="p" /></m:rPr><m:t>⏟</m:t></m:r></m:lim></m:limLow></m:e><m:lim><m:r><m:rPr><m:nor /><m:sty m:val="p" /></m:rPr><m:t>level</m:t></m:r></m:lim></m:limLow><m:r><m:rPr><m:sty m:val="p" /></m:rPr><m:t>+</m:t></m:r><m:limLow><m:e><m:limLow><m:e><m:sSub><m:e><m:r><m:t>β</m:t></m:r></m:e><m:sub><m:r><m:t>1</m:t></m:r></m:sub></m:sSub><m:f><m:fPr><m:type m:val="bar" /></m:fPr><m:num><m:r><m:t>1</m:t></m:r><m:r><m:rPr><m:sty m:val="p" /></m:rPr><m:t>−</m:t></m:r><m:sSup><m:e><m:r><m:t>e</m:t></m:r></m:e><m:sup><m:r><m:rPr><m:sty m:val="p" /></m:rPr><m:t>−</m:t></m:r><m:r><m:t>T</m:t></m:r><m:r><m:rPr><m:sty m:val="p" /></m:rPr><m:t>/</m:t></m:r><m:r><m:t>τ</m:t></m:r></m:sup></m:sSup></m:num><m:den><m:r><m:t>T</m:t></m:r><m:r><m:rPr><m:sty m:val="p" /></m:rPr><m:t>/</m:t></m:r><m:r><m:t>τ</m:t></m:r></m:den></m:f></m:e><m:lim><m:r><m:rPr><m:sty m:val="p" /></m:rPr><m:t>⏟</m:t></m:r></m:lim></m:limLow></m:e><m:lim><m:r><m:rPr><m:nor /><m:sty m:val="p" /></m:rPr><m:t>slope</m:t></m:r></m:lim></m:limLow><m:r><m:rPr><m:sty m:val="p" /></m:rPr><m:t>+</m:t></m:r><m:limLow><m:e><m:limLow><m:e><m:sSub><m:e><m:r><m:t>β</m:t></m:r></m:e><m:sub><m:r><m:t>2</m:t></m:r></m:sub></m:sSub><m:d><m:dPr><m:begChr m:val="(" /><m:sepChr m:val="" /><m:endChr m:val=")" /><m:grow /></m:dPr><m:e><m:f><m:fPr><m:type m:val="bar" /></m:fPr><m:num><m:r><m:t>1</m:t></m:r><m:r><m:rPr><m:sty m:val="p" /></m:rPr><m:t>−</m:t></m:r><m:sSup><m:e><m:r><m:t>e</m:t></m:r></m:e><m:sup><m:r><m:rPr><m:sty m:val="p" /></m:rPr><m:t>−</m:t></m:r><m:r><m:t>T</m:t></m:r><m:r><m:rPr><m:sty m:val="p" /></m:rPr><m:t>/</m:t></m:r><m:r><m:t>τ</m:t></m:r></m:sup></m:sSup></m:num><m:den><m:r><m:t>T</m:t></m:r><m:r><m:rPr><m:sty m:val="p" /></m:rPr><m:t>/</m:t></m:r><m:r><m:t>τ</m:t></m:r></m:den></m:f><m:r><m:rPr><m:sty m:val="p" /></m:rPr><m:t>−</m:t></m:r><m:sSup><m:e><m:r><m:t>e</m:t></m:r></m:e><m:sup><m:r><m:rPr><m:sty m:val="p" /></m:rPr><m:t>−</m:t></m:r><m:r><m:t>T</m:t></m:r><m:r><m:rPr><m:sty m:val="p" /></m:rPr><m:t>/</m:t></m:r><m:r><m:t>τ</m:t></m:r></m:sup></m:sSup></m:e></m:d></m:e><m:lim><m:r><m:rPr><m:sty m:val="p" /></m:rPr><m:t>⏟</m:t></m:r></m:lim></m:limLow></m:e><m:lim><m:r><m:rPr><m:nor /><m:sty m:val="p" /></m:rPr><m:t>curvature</m:t></m:r></m:lim></m:limLow></m:oMath></m:oMathPara></a14:m></a:p></p:txBody></p:sp></mc:Choice></mc:AlternateContent><p:graphicFrame><p:nvGraphicFramePr><p:cNvPr id="6" name="Content Placeholder 5" /><p:cNvGraphicFramePr><a:graphicFrameLocks noGrp="1" /></p:cNvGraphicFramePr><p:nvPr><p:ph idx="1" /></p:nvPr></p:nvGraphicFramePr><p:xfrm><a:off x="3568700" y="203200" /><a:ext cx="5105400" cy="4381500" /></p:xfrm><a:graphic><a:graphicData uri="http://schemas.openxmlformats.org/drawingml/2006/table"><a:tbl><a:tblPr firstRow="1" bandRow="1"><a:tableStyleId>{5C22544A-7EE6-4342-B048-85BDC9FD1C3A}</a:tableStyleId></a:tblPr><a:tblGrid><a:gridCol w="2552700" /><a:gridCol w="2552700" /></a:tblGrid><a:tr h="0"><a:tc><a:txBody><a:bodyPr /><a:lstStyle /><a:p><a:pPr lvl="0" indent="0" marL="0"><a:buNone /></a:pPr><a:r><a:rPr /><a:t>Parameter</a:t></a:r></a:p></a:txBody><a:tcPr /></a:tc><a:tc><a:txBody><a:bodyPr /><a:lstStyle /><a:p><a:pPr lvl="0" indent="0" marL="0"><a:buNone /></a:pPr><a:r><a:rPr /><a:t>Interpretation</a:t></a:r></a:p></a:txBody><a:tcPr /></a:tc></a:tr><a:tr h="0"><a:tc><a:txBody><a:bodyPr /><a:lstStyle /><a:p><a:pPr lvl="0" indent="0" marL="0"><a:buNone /></a:pPr><a14:m><m:oMath xmlns:m="http://schemas.openxmlformats.org/officeDocument/2006/math"><m:sSub><m:e><m:r><m:t>β</m:t></m:r></m:e><m:sub><m:r><m:t>0</m:t></m:r></m:sub></m:sSub></m:oMath></a14:m></a:p></a:txBody></a:tc><a:tc><a:txBody><a:bodyPr /><a:lstStyle /><a:p><a:pPr lvl="0" indent="0" marL="0"><a:buNone /></a:pPr><a:r><a:rPr /><a:t>Long-run level (rate at infinite maturity)</a:t></a:r></a:p></a:txBody></a:tc></a:tr><a:tr h="0"><a:tc><a:txBody><a:bodyPr /><a:lstStyle /><a:p><a:pPr lvl="0" indent="0" marL="0"><a:buNone /></a:pPr><a14:m><m:oMath xmlns:m="http://schemas.openxmlformats.org/officeDocument/2006/math"><m:sSub><m:e><m:r><m:t>β</m:t></m:r></m:e><m:sub><m:r><m:t>1</m:t></m:r></m:sub></m:sSub></m:oMath></a14:m></a:p></a:txBody></a:tc><a:tc><a:txBody><a:bodyPr /><a:lstStyle /><a:p><a:pPr lvl="0" indent="0" marL="0"><a:buNone /></a:pPr><a:r><a:rPr /><a:t>Slope: spread between short and long rates</a:t></a:r></a:p></a:txBody></a:tc></a:tr><a:tr h="0"><a:tc><a:txBody><a:bodyPr /><a:lstStyle /><a:p><a:pPr lvl="0" indent="0" marL="0"><a:buNone /></a:pPr><a14:m><m:oMath xmlns:m="http://schemas.openxmlformats.org/officeDocument/2006/math"><m:sSub><m:e><m:r><m:t>β</m:t></m:r></m:e><m:sub><m:r><m:t>2</m:t></m:r></m:sub></m:sSub></m:oMath></a14:m></a:p></a:txBody></a:tc><a:tc><a:txBody><a:bodyPr /><a:lstStyle /><a:p><a:pPr lvl="0" indent="0" marL="0"><a:buNone /></a:pPr><a:r><a:rPr /><a:t>Curvature: hump in the middle of the curve</a:t></a:r></a:p></a:txBody></a:tc></a:tr><a:tr h="0"><a:tc><a:txBody><a:bodyPr /><a:lstStyle /><a:p><a:pPr lvl="0" indent="0" marL="0"><a:buNone /></a:pPr><a14:m><m:oMath xmlns:m="http://schemas.openxmlformats.org/officeDocument/2006/math"><m:r><m:t>τ</m:t></m:r></m:oMath></a14:m></a:p></a:txBody></a:tc><a:tc><a:txBody><a:bodyPr /><a:lstStyle /><a:p><a:pPr lvl="0" indent="0" marL="0"><a:buNone /></a:pPr><a:r><a:rPr /><a:t>Speed at which short-term effects decay</a:t></a:r></a:p></a:txBody></a:tc></a:tr></a:tbl></a:graphicData></a:graphic></p:graphicFrame></p:spTree></p:cSld></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params </a:t>
            </a:r>
            <a:r>
              <a:rPr>
                <a:solidFill>
                  <a:srgbClr val="666666"/>
                </a:solidFill>
                <a:latin typeface="Courier"/>
              </a:rPr>
              <a:t>=</a:t>
            </a:r>
            <a:r>
              <a:rPr>
                <a:latin typeface="Courier"/>
              </a:rPr>
              <a:t> fit_nelson_siegel(zero_rates)</a:t>
            </a:r>
            <a:br/>
            <a:br/>
            <a:r>
              <a:rPr>
                <a:solidFill>
                  <a:srgbClr val="008000"/>
                </a:solidFill>
                <a:latin typeface="Courier"/>
              </a:rPr>
              <a:t>print</a:t>
            </a:r>
            <a:r>
              <a:rPr>
                <a:latin typeface="Courier"/>
              </a:rPr>
              <a:t>(</a:t>
            </a:r>
            <a:r>
              <a:rPr>
                <a:solidFill>
                  <a:srgbClr val="4070A0"/>
                </a:solidFill>
                <a:latin typeface="Courier"/>
              </a:rPr>
              <a:t>"Nelson-Siegel fitted parameters:"</a:t>
            </a:r>
            <a:r>
              <a:rPr>
                <a:latin typeface="Courier"/>
              </a:rPr>
              <a:t>)</a:t>
            </a:r>
            <a:br/>
            <a:r>
              <a:rPr>
                <a:solidFill>
                  <a:srgbClr val="008000"/>
                </a:solidFill>
                <a:latin typeface="Courier"/>
              </a:rPr>
              <a:t>print</a:t>
            </a:r>
            <a:r>
              <a:rPr>
                <a:latin typeface="Courier"/>
              </a:rPr>
              <a:t>(</a:t>
            </a:r>
            <a:r>
              <a:rPr>
                <a:solidFill>
                  <a:srgbClr val="BB6688"/>
                </a:solidFill>
                <a:latin typeface="Courier"/>
              </a:rPr>
              <a:t>f"  β₀ (level)     = </a:t>
            </a:r>
            <a:r>
              <a:rPr>
                <a:solidFill>
                  <a:srgbClr val="4070A0"/>
                </a:solidFill>
                <a:latin typeface="Courier"/>
              </a:rPr>
              <a:t>{</a:t>
            </a:r>
            <a:r>
              <a:rPr>
                <a:latin typeface="Courier"/>
              </a:rPr>
              <a:t>params[</a:t>
            </a:r>
            <a:r>
              <a:rPr>
                <a:solidFill>
                  <a:srgbClr val="40A070"/>
                </a:solidFill>
                <a:latin typeface="Courier"/>
              </a:rPr>
              <a:t>0</a:t>
            </a:r>
            <a:r>
              <a:rPr>
                <a:latin typeface="Courier"/>
              </a:rPr>
              <a:t>]</a:t>
            </a:r>
            <a:r>
              <a:rPr>
                <a:solidFill>
                  <a:srgbClr val="666666"/>
                </a:solidFill>
                <a:latin typeface="Courier"/>
              </a:rPr>
              <a:t>*</a:t>
            </a:r>
            <a:r>
              <a:rPr>
                <a:solidFill>
                  <a:srgbClr val="40A070"/>
                </a:solidFill>
                <a:latin typeface="Courier"/>
              </a:rPr>
              <a:t>100</a:t>
            </a:r>
            <a:r>
              <a:rPr>
                <a:solidFill>
                  <a:srgbClr val="4070A0"/>
                </a:solidFill>
                <a:latin typeface="Courier"/>
              </a:rPr>
              <a:t>:.3f}</a:t>
            </a:r>
            <a:r>
              <a:rPr>
                <a:solidFill>
                  <a:srgbClr val="BB6688"/>
                </a:solidFill>
                <a:latin typeface="Courier"/>
              </a:rPr>
              <a:t>%"</a:t>
            </a:r>
            <a:r>
              <a:rPr>
                <a:latin typeface="Courier"/>
              </a:rPr>
              <a:t>)</a:t>
            </a:r>
            <a:br/>
            <a:r>
              <a:rPr>
                <a:solidFill>
                  <a:srgbClr val="008000"/>
                </a:solidFill>
                <a:latin typeface="Courier"/>
              </a:rPr>
              <a:t>print</a:t>
            </a:r>
            <a:r>
              <a:rPr>
                <a:latin typeface="Courier"/>
              </a:rPr>
              <a:t>(</a:t>
            </a:r>
            <a:r>
              <a:rPr>
                <a:solidFill>
                  <a:srgbClr val="BB6688"/>
                </a:solidFill>
                <a:latin typeface="Courier"/>
              </a:rPr>
              <a:t>f"  β₁ (slope)     = </a:t>
            </a:r>
            <a:r>
              <a:rPr>
                <a:solidFill>
                  <a:srgbClr val="4070A0"/>
                </a:solidFill>
                <a:latin typeface="Courier"/>
              </a:rPr>
              <a:t>{</a:t>
            </a:r>
            <a:r>
              <a:rPr>
                <a:latin typeface="Courier"/>
              </a:rPr>
              <a:t>params[</a:t>
            </a:r>
            <a:r>
              <a:rPr>
                <a:solidFill>
                  <a:srgbClr val="40A070"/>
                </a:solidFill>
                <a:latin typeface="Courier"/>
              </a:rPr>
              <a:t>1</a:t>
            </a:r>
            <a:r>
              <a:rPr>
                <a:latin typeface="Courier"/>
              </a:rPr>
              <a:t>]</a:t>
            </a:r>
            <a:r>
              <a:rPr>
                <a:solidFill>
                  <a:srgbClr val="666666"/>
                </a:solidFill>
                <a:latin typeface="Courier"/>
              </a:rPr>
              <a:t>*</a:t>
            </a:r>
            <a:r>
              <a:rPr>
                <a:solidFill>
                  <a:srgbClr val="40A070"/>
                </a:solidFill>
                <a:latin typeface="Courier"/>
              </a:rPr>
              <a:t>100</a:t>
            </a:r>
            <a:r>
              <a:rPr>
                <a:solidFill>
                  <a:srgbClr val="4070A0"/>
                </a:solidFill>
                <a:latin typeface="Courier"/>
              </a:rPr>
              <a:t>:.3f}</a:t>
            </a:r>
            <a:r>
              <a:rPr>
                <a:solidFill>
                  <a:srgbClr val="BB6688"/>
                </a:solidFill>
                <a:latin typeface="Courier"/>
              </a:rPr>
              <a:t>%"</a:t>
            </a:r>
            <a:r>
              <a:rPr>
                <a:latin typeface="Courier"/>
              </a:rPr>
              <a:t>)</a:t>
            </a:r>
            <a:br/>
            <a:r>
              <a:rPr>
                <a:solidFill>
                  <a:srgbClr val="008000"/>
                </a:solidFill>
                <a:latin typeface="Courier"/>
              </a:rPr>
              <a:t>print</a:t>
            </a:r>
            <a:r>
              <a:rPr>
                <a:latin typeface="Courier"/>
              </a:rPr>
              <a:t>(</a:t>
            </a:r>
            <a:r>
              <a:rPr>
                <a:solidFill>
                  <a:srgbClr val="BB6688"/>
                </a:solidFill>
                <a:latin typeface="Courier"/>
              </a:rPr>
              <a:t>f"  β₂ (curvature) = </a:t>
            </a:r>
            <a:r>
              <a:rPr>
                <a:solidFill>
                  <a:srgbClr val="4070A0"/>
                </a:solidFill>
                <a:latin typeface="Courier"/>
              </a:rPr>
              <a:t>{</a:t>
            </a:r>
            <a:r>
              <a:rPr>
                <a:latin typeface="Courier"/>
              </a:rPr>
              <a:t>params[</a:t>
            </a:r>
            <a:r>
              <a:rPr>
                <a:solidFill>
                  <a:srgbClr val="40A070"/>
                </a:solidFill>
                <a:latin typeface="Courier"/>
              </a:rPr>
              <a:t>2</a:t>
            </a:r>
            <a:r>
              <a:rPr>
                <a:latin typeface="Courier"/>
              </a:rPr>
              <a:t>]</a:t>
            </a:r>
            <a:r>
              <a:rPr>
                <a:solidFill>
                  <a:srgbClr val="666666"/>
                </a:solidFill>
                <a:latin typeface="Courier"/>
              </a:rPr>
              <a:t>*</a:t>
            </a:r>
            <a:r>
              <a:rPr>
                <a:solidFill>
                  <a:srgbClr val="40A070"/>
                </a:solidFill>
                <a:latin typeface="Courier"/>
              </a:rPr>
              <a:t>100</a:t>
            </a:r>
            <a:r>
              <a:rPr>
                <a:solidFill>
                  <a:srgbClr val="4070A0"/>
                </a:solidFill>
                <a:latin typeface="Courier"/>
              </a:rPr>
              <a:t>:.3f}</a:t>
            </a:r>
            <a:r>
              <a:rPr>
                <a:solidFill>
                  <a:srgbClr val="BB6688"/>
                </a:solidFill>
                <a:latin typeface="Courier"/>
              </a:rPr>
              <a:t>%"</a:t>
            </a:r>
            <a:r>
              <a:rPr>
                <a:latin typeface="Courier"/>
              </a:rPr>
              <a:t>)</a:t>
            </a:r>
            <a:br/>
            <a:r>
              <a:rPr>
                <a:solidFill>
                  <a:srgbClr val="008000"/>
                </a:solidFill>
                <a:latin typeface="Courier"/>
              </a:rPr>
              <a:t>print</a:t>
            </a:r>
            <a:r>
              <a:rPr>
                <a:latin typeface="Courier"/>
              </a:rPr>
              <a:t>(</a:t>
            </a:r>
            <a:r>
              <a:rPr>
                <a:solidFill>
                  <a:srgbClr val="BB6688"/>
                </a:solidFill>
                <a:latin typeface="Courier"/>
              </a:rPr>
              <a:t>f"  τ  (decay)     = </a:t>
            </a:r>
            <a:r>
              <a:rPr>
                <a:solidFill>
                  <a:srgbClr val="4070A0"/>
                </a:solidFill>
                <a:latin typeface="Courier"/>
              </a:rPr>
              <a:t>{</a:t>
            </a:r>
            <a:r>
              <a:rPr>
                <a:latin typeface="Courier"/>
              </a:rPr>
              <a:t>params[</a:t>
            </a:r>
            <a:r>
              <a:rPr>
                <a:solidFill>
                  <a:srgbClr val="40A070"/>
                </a:solidFill>
                <a:latin typeface="Courier"/>
              </a:rPr>
              <a:t>3</a:t>
            </a:r>
            <a:r>
              <a:rPr>
                <a:latin typeface="Courier"/>
              </a:rPr>
              <a:t>]</a:t>
            </a:r>
            <a:r>
              <a:rPr>
                <a:solidFill>
                  <a:srgbClr val="4070A0"/>
                </a:solidFill>
                <a:latin typeface="Courier"/>
              </a:rPr>
              <a:t>:.3f}</a:t>
            </a:r>
            <a:r>
              <a:rPr>
                <a:solidFill>
                  <a:srgbClr val="BB6688"/>
                </a:solidFill>
                <a:latin typeface="Courier"/>
              </a:rPr>
              <a:t> years"</a:t>
            </a:r>
            <a:r>
              <a:rPr>
                <a:latin typeface="Courier"/>
              </a:rPr>
              <a:t>)</a:t>
            </a:r>
            <a:br/>
            <a:br/>
            <a:r>
              <a:rPr>
                <a:latin typeface="Courier"/>
              </a:rPr>
              <a:t>ns_curve </a:t>
            </a:r>
            <a:r>
              <a:rPr>
                <a:solidFill>
                  <a:srgbClr val="666666"/>
                </a:solidFill>
                <a:latin typeface="Courier"/>
              </a:rPr>
              <a:t>=</a:t>
            </a:r>
            <a:r>
              <a:rPr>
                <a:latin typeface="Courier"/>
              </a:rPr>
              <a:t> </a:t>
            </a:r>
            <a:r>
              <a:rPr b="1">
                <a:solidFill>
                  <a:srgbClr val="007020"/>
                </a:solidFill>
                <a:latin typeface="Courier"/>
              </a:rPr>
              <a:t>lambda</a:t>
            </a:r>
            <a:r>
              <a:rPr>
                <a:latin typeface="Courier"/>
              </a:rPr>
              <a:t> T: nelson_siegel(T, </a:t>
            </a:r>
            <a:r>
              <a:rPr>
                <a:solidFill>
                  <a:srgbClr val="666666"/>
                </a:solidFill>
                <a:latin typeface="Courier"/>
              </a:rPr>
              <a:t>*</a:t>
            </a:r>
            <a:r>
              <a:rPr>
                <a:latin typeface="Courier"/>
              </a:rPr>
              <a:t>params)</a:t>
            </a:r>
            <a:br/>
            <a:br/>
            <a:r>
              <a:rPr>
                <a:latin typeface="Courier"/>
              </a:rPr>
              <a:t>fig </a:t>
            </a:r>
            <a:r>
              <a:rPr>
                <a:solidFill>
                  <a:srgbClr val="666666"/>
                </a:solidFill>
                <a:latin typeface="Courier"/>
              </a:rPr>
              <a:t>=</a:t>
            </a:r>
            <a:r>
              <a:rPr>
                <a:latin typeface="Courier"/>
              </a:rPr>
              <a:t> plot_yield_curve_interactive(zero_rates, spline_curve, ns_curve)</a:t>
            </a:r>
          </a:p>
          <a:p>
            <a:pPr lvl="0" indent="0">
              <a:buNone/>
            </a:pPr>
            <a:r>
              <a:rPr>
                <a:latin typeface="Courier"/>
              </a:rPr>
              <a:t>Nelson-Siegel fitted parameters:
  β₀ (level)     = 5.655%
  β₁ (slope)     = -2.271%
  β₂ (curvature) = -2.313%
  τ  (decay)     = 4.008 years</a:t>
            </a:r>
          </a:p>
          <a:p>
            <a:pPr lvl="0" indent="0">
              <a:buNone/>
            </a:pPr>
            <a:r>
              <a:rPr>
                <a:latin typeface="Courier"/>
              </a:rPr>
              <a:t>Unable to display output for mime type(s): text/html</a:t>
            </a:r>
          </a:p>
          <a:p>
            <a:pPr lvl="0" indent="0">
              <a:buNone/>
            </a:pPr>
            <a:r>
              <a:rPr>
                <a:latin typeface="Courier"/>
              </a:rPr>
              <a:t>Unable to display output for mime type(s): text/html</a:t>
            </a:r>
          </a:p>
          <a:p>
            <a:pPr lvl="0" indent="0" marL="1270000">
              <a:buNone/>
            </a:pPr>
            <a:r>
              <a:rPr sz="2000" b="1"/>
              <a:t>Reading the chart:</a:t>
            </a:r>
            <a:r>
              <a:rPr sz="2000"/>
              <a:t> Both the spline and Nelson–Siegel fit the 4 observed points closely. The Nelson–Siegel curve is slightly smoother, while the spline captures local curvature more faithfully. The upward slope reflects current market expectations.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Forward &amp; Swap Rates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 What is a forward rate?</a:t>
                </a:r>
              </a:p>
              <a:p>
                <a:pPr lvl="0" indent="0" marL="1270000">
                  <a:buNone/>
                </a:pPr>
                <a:r>
                  <a:rPr sz="2000"/>
                  <a:t>A forward rate </a:t>
                </a:r>
                <a14:m>
                  <m:oMath xmlns:m="http://schemas.openxmlformats.org/officeDocument/2006/math">
                    <m:r>
                      <m:t>f</m:t>
                    </m:r>
                    <m:d>
                      <m:dPr>
                        <m:begChr m:val="("/>
                        <m:sepChr m:val=""/>
                        <m:endChr m:val=")"/>
                        <m:grow/>
                      </m:dPr>
                      <m:e>
                        <m:sSub>
                          <m:e>
                            <m:r>
                              <m:t>T</m:t>
                            </m:r>
                          </m:e>
                          <m:sub>
                            <m:r>
                              <m:t>1</m:t>
                            </m:r>
                          </m:sub>
                        </m:sSub>
                        <m:r>
                          <m:rPr>
                            <m:sty m:val="p"/>
                          </m:rPr>
                          <m:t>,</m:t>
                        </m:r>
                        <m:sSub>
                          <m:e>
                            <m:r>
                              <m:t>T</m:t>
                            </m:r>
                          </m:e>
                          <m:sub>
                            <m:r>
                              <m:t>2</m:t>
                            </m:r>
                          </m:sub>
                        </m:sSub>
                      </m:e>
                    </m:d>
                  </m:oMath>
                </a14:m>
                <a:r>
                  <a:rPr sz="2000"/>
                  <a:t> is the rate the market is </a:t>
                </a:r>
                <a:r>
                  <a:rPr sz="2000" i="1"/>
                  <a:t>implicitly quoting today</a:t>
                </a:r>
                <a:r>
                  <a:rPr sz="2000"/>
                  <a:t> for borrowing or lending between future dates </a:t>
                </a:r>
                <a14:m>
                  <m:oMath xmlns:m="http://schemas.openxmlformats.org/officeDocument/2006/math">
                    <m:sSub>
                      <m:e>
                        <m:r>
                          <m:t>T</m:t>
                        </m:r>
                      </m:e>
                      <m:sub>
                        <m:r>
                          <m:t>1</m:t>
                        </m:r>
                      </m:sub>
                    </m:sSub>
                  </m:oMath>
                </a14:m>
                <a:r>
                  <a:rPr sz="2000"/>
                  <a:t> and </a:t>
                </a:r>
                <a14:m>
                  <m:oMath xmlns:m="http://schemas.openxmlformats.org/officeDocument/2006/math">
                    <m:sSub>
                      <m:e>
                        <m:r>
                          <m:t>T</m:t>
                        </m:r>
                      </m:e>
                      <m:sub>
                        <m:r>
                          <m:t>2</m:t>
                        </m:r>
                      </m:sub>
                    </m:sSub>
                  </m:oMath>
                </a14:m>
                <a:r>
                  <a:rPr sz="2000"/>
                  <a:t>. It is not a forecast, it is a no-arbitrage implication of the current yield curve.</a:t>
                </a:r>
              </a:p>
              <a:p>
                <a:pPr lvl="0" indent="0" marL="1270000">
                  <a:buNone/>
                </a:pPr>
                <a:r>
                  <a:rPr sz="2000"/>
                  <a:t>A </a:t>
                </a:r>
                <a:r>
                  <a:rPr sz="2000" b="1"/>
                  <a:t>swap rate</a:t>
                </a:r>
                <a:r>
                  <a:rPr sz="2000"/>
                  <a:t> is the fixed rate that makes an interest rate swap fair at inception: it equals the weighted average of expected floating rates over the swap’s life.</a:t>
                </a:r>
              </a:p>
            </p:txBody>
          </p:sp>
        </mc:Choice>
      </mc:AlternateContent>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Forward Rate Derivation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A forward rate </a:t>
                </a:r>
                <a14:m>
                  <m:oMath xmlns:m="http://schemas.openxmlformats.org/officeDocument/2006/math">
                    <m:r>
                      <m:t>f</m:t>
                    </m:r>
                    <m:d>
                      <m:dPr>
                        <m:begChr m:val="("/>
                        <m:sepChr m:val=""/>
                        <m:endChr m:val=")"/>
                        <m:grow/>
                      </m:dPr>
                      <m:e>
                        <m:sSub>
                          <m:e>
                            <m:r>
                              <m:t>T</m:t>
                            </m:r>
                          </m:e>
                          <m:sub>
                            <m:r>
                              <m:t>1</m:t>
                            </m:r>
                          </m:sub>
                        </m:sSub>
                        <m:r>
                          <m:rPr>
                            <m:sty m:val="p"/>
                          </m:rPr>
                          <m:t>,</m:t>
                        </m:r>
                        <m:sSub>
                          <m:e>
                            <m:r>
                              <m:t>T</m:t>
                            </m:r>
                          </m:e>
                          <m:sub>
                            <m:r>
                              <m:t>2</m:t>
                            </m:r>
                          </m:sub>
                        </m:sSub>
                      </m:e>
                    </m:d>
                  </m:oMath>
                </a14:m>
                <a:r>
                  <a:rPr/>
                  <a:t> is the rate agreed upon today for borrowing/lending between future dates </a:t>
                </a:r>
                <a14:m>
                  <m:oMath xmlns:m="http://schemas.openxmlformats.org/officeDocument/2006/math">
                    <m:sSub>
                      <m:e>
                        <m:r>
                          <m:t>T</m:t>
                        </m:r>
                      </m:e>
                      <m:sub>
                        <m:r>
                          <m:t>1</m:t>
                        </m:r>
                      </m:sub>
                    </m:sSub>
                  </m:oMath>
                </a14:m>
                <a:r>
                  <a:rPr/>
                  <a:t> and </a:t>
                </a:r>
                <a14:m>
                  <m:oMath xmlns:m="http://schemas.openxmlformats.org/officeDocument/2006/math">
                    <m:sSub>
                      <m:e>
                        <m:r>
                          <m:t>T</m:t>
                        </m:r>
                      </m:e>
                      <m:sub>
                        <m:r>
                          <m:t>2</m:t>
                        </m:r>
                      </m:sub>
                    </m:sSub>
                  </m:oMath>
                </a14:m>
                <a:r>
                  <a:rPr/>
                  <a:t>. It is </a:t>
                </a:r>
                <a:r>
                  <a:rPr b="1"/>
                  <a:t>not a forecast</a:t>
                </a:r>
                <a:r>
                  <a:rPr/>
                  <a:t> — it is an arbitrage-free implication of the current zero curve.</a:t>
                </a:r>
              </a:p>
              <a:p>
                <a:pPr lvl="0" indent="0" marL="0">
                  <a:buNone/>
                </a:pPr>
                <a:r>
                  <a:rPr b="1"/>
                  <a:t>No-arbitrage condition:</a:t>
                </a:r>
                <a:r>
                  <a:rPr/>
                  <a:t> Consider two investment strategies over horizon </a:t>
                </a:r>
                <a14:m>
                  <m:oMath xmlns:m="http://schemas.openxmlformats.org/officeDocument/2006/math">
                    <m:d>
                      <m:dPr>
                        <m:begChr m:val="["/>
                        <m:sepChr m:val=""/>
                        <m:endChr m:val="]"/>
                        <m:grow/>
                      </m:dPr>
                      <m:e>
                        <m:r>
                          <m:t>0</m:t>
                        </m:r>
                        <m:r>
                          <m:rPr>
                            <m:sty m:val="p"/>
                          </m:rPr>
                          <m:t>,</m:t>
                        </m:r>
                        <m:sSub>
                          <m:e>
                            <m:r>
                              <m:t>T</m:t>
                            </m:r>
                          </m:e>
                          <m:sub>
                            <m:r>
                              <m:t>2</m:t>
                            </m:r>
                          </m:sub>
                        </m:sSub>
                      </m:e>
                    </m:d>
                  </m:oMath>
                </a14:m>
                <a:r>
                  <a:rPr/>
                  <a:t>:</a:t>
                </a:r>
              </a:p>
              <a:p>
                <a:pPr lvl="0" indent="-342900" marL="342900">
                  <a:buAutoNum type="arabicPeriod"/>
                </a:pPr>
                <a:r>
                  <a:rPr b="1"/>
                  <a:t>Strategy A:</a:t>
                </a:r>
                <a:r>
                  <a:rPr/>
                  <a:t> Invest $1 today at the zero rate </a:t>
                </a:r>
                <a14:m>
                  <m:oMath xmlns:m="http://schemas.openxmlformats.org/officeDocument/2006/math">
                    <m:r>
                      <m:t>r</m:t>
                    </m:r>
                    <m:d>
                      <m:dPr>
                        <m:begChr m:val="("/>
                        <m:sepChr m:val=""/>
                        <m:endChr m:val=")"/>
                        <m:grow/>
                      </m:dPr>
                      <m:e>
                        <m:sSub>
                          <m:e>
                            <m:r>
                              <m:t>T</m:t>
                            </m:r>
                          </m:e>
                          <m:sub>
                            <m:r>
                              <m:t>2</m:t>
                            </m:r>
                          </m:sub>
                        </m:sSub>
                      </m:e>
                    </m:d>
                  </m:oMath>
                </a14:m>
                <a:r>
                  <a:rPr/>
                  <a:t> for </a:t>
                </a:r>
                <a14:m>
                  <m:oMath xmlns:m="http://schemas.openxmlformats.org/officeDocument/2006/math">
                    <m:sSub>
                      <m:e>
                        <m:r>
                          <m:t>T</m:t>
                        </m:r>
                      </m:e>
                      <m:sub>
                        <m:r>
                          <m:t>2</m:t>
                        </m:r>
                      </m:sub>
                    </m:sSub>
                  </m:oMath>
                </a14:m>
                <a:r>
                  <a:rPr/>
                  <a:t> years.</a:t>
                </a:r>
              </a:p>
              <a:p>
                <a:pPr lvl="0" indent="-342900" marL="342900">
                  <a:buAutoNum type="arabicPeriod"/>
                </a:pPr>
                <a:r>
                  <a:rPr b="1"/>
                  <a:t>Strategy B:</a:t>
                </a:r>
                <a:r>
                  <a:rPr/>
                  <a:t> Invest $1 at </a:t>
                </a:r>
                <a14:m>
                  <m:oMath xmlns:m="http://schemas.openxmlformats.org/officeDocument/2006/math">
                    <m:r>
                      <m:t>r</m:t>
                    </m:r>
                    <m:d>
                      <m:dPr>
                        <m:begChr m:val="("/>
                        <m:sepChr m:val=""/>
                        <m:endChr m:val=")"/>
                        <m:grow/>
                      </m:dPr>
                      <m:e>
                        <m:sSub>
                          <m:e>
                            <m:r>
                              <m:t>T</m:t>
                            </m:r>
                          </m:e>
                          <m:sub>
                            <m:r>
                              <m:t>1</m:t>
                            </m:r>
                          </m:sub>
                        </m:sSub>
                      </m:e>
                    </m:d>
                  </m:oMath>
                </a14:m>
                <a:r>
                  <a:rPr/>
                  <a:t> for </a:t>
                </a:r>
                <a14:m>
                  <m:oMath xmlns:m="http://schemas.openxmlformats.org/officeDocument/2006/math">
                    <m:sSub>
                      <m:e>
                        <m:r>
                          <m:t>T</m:t>
                        </m:r>
                      </m:e>
                      <m:sub>
                        <m:r>
                          <m:t>1</m:t>
                        </m:r>
                      </m:sub>
                    </m:sSub>
                  </m:oMath>
                </a14:m>
                <a:r>
                  <a:rPr/>
                  <a:t> years, then roll over at the forward rate </a:t>
                </a:r>
                <a14:m>
                  <m:oMath xmlns:m="http://schemas.openxmlformats.org/officeDocument/2006/math">
                    <m:r>
                      <m:t>f</m:t>
                    </m:r>
                    <m:d>
                      <m:dPr>
                        <m:begChr m:val="("/>
                        <m:sepChr m:val=""/>
                        <m:endChr m:val=")"/>
                        <m:grow/>
                      </m:dPr>
                      <m:e>
                        <m:sSub>
                          <m:e>
                            <m:r>
                              <m:t>T</m:t>
                            </m:r>
                          </m:e>
                          <m:sub>
                            <m:r>
                              <m:t>1</m:t>
                            </m:r>
                          </m:sub>
                        </m:sSub>
                        <m:r>
                          <m:rPr>
                            <m:sty m:val="p"/>
                          </m:rPr>
                          <m:t>,</m:t>
                        </m:r>
                        <m:sSub>
                          <m:e>
                            <m:r>
                              <m:t>T</m:t>
                            </m:r>
                          </m:e>
                          <m:sub>
                            <m:r>
                              <m:t>2</m:t>
                            </m:r>
                          </m:sub>
                        </m:sSub>
                      </m:e>
                    </m:d>
                  </m:oMath>
                </a14:m>
                <a:r>
                  <a:rPr/>
                  <a:t> for </a:t>
                </a:r>
                <a14:m>
                  <m:oMath xmlns:m="http://schemas.openxmlformats.org/officeDocument/2006/math">
                    <m:d>
                      <m:dPr>
                        <m:begChr m:val="("/>
                        <m:sepChr m:val=""/>
                        <m:endChr m:val=")"/>
                        <m:grow/>
                      </m:dPr>
                      <m:e>
                        <m:sSub>
                          <m:e>
                            <m:r>
                              <m:t>T</m:t>
                            </m:r>
                          </m:e>
                          <m:sub>
                            <m:r>
                              <m:t>2</m:t>
                            </m:r>
                          </m:sub>
                        </m:sSub>
                        <m:r>
                          <m:rPr>
                            <m:sty m:val="p"/>
                          </m:rPr>
                          <m:t>−</m:t>
                        </m:r>
                        <m:sSub>
                          <m:e>
                            <m:r>
                              <m:t>T</m:t>
                            </m:r>
                          </m:e>
                          <m:sub>
                            <m:r>
                              <m:t>1</m:t>
                            </m:r>
                          </m:sub>
                        </m:sSub>
                      </m:e>
                    </m:d>
                  </m:oMath>
                </a14:m>
                <a:r>
                  <a:rPr/>
                  <a:t> years.</a:t>
                </a:r>
              </a:p>
              <a:p>
                <a:pPr lvl="0" indent="0" marL="0">
                  <a:buNone/>
                </a:pPr>
                <a:r>
                  <a:rPr/>
                  <a:t>Both strategies must yield the same terminal value to prevent arbitrage:</a:t>
                </a:r>
              </a:p>
              <a:p>
                <a:pPr lvl="0" indent="0" marL="0">
                  <a:buNone/>
                </a:pPr>
                <a14:m>
                  <m:oMathPara xmlns:m="http://schemas.openxmlformats.org/officeDocument/2006/math">
                    <m:oMathParaPr>
                      <m:jc m:val="center"/>
                    </m:oMathParaPr>
                    <m:oMath>
                      <m:sSup>
                        <m:e>
                          <m:d>
                            <m:dPr>
                              <m:begChr m:val="("/>
                              <m:sepChr m:val=""/>
                              <m:endChr m:val=")"/>
                              <m:grow/>
                            </m:dPr>
                            <m:e>
                              <m:r>
                                <m:t>1</m:t>
                              </m:r>
                              <m:r>
                                <m:rPr>
                                  <m:sty m:val="p"/>
                                </m:rPr>
                                <m:t>+</m:t>
                              </m:r>
                              <m:r>
                                <m:t>r</m:t>
                              </m:r>
                              <m:d>
                                <m:dPr>
                                  <m:begChr m:val="("/>
                                  <m:sepChr m:val=""/>
                                  <m:endChr m:val=")"/>
                                  <m:grow/>
                                </m:dPr>
                                <m:e>
                                  <m:sSub>
                                    <m:e>
                                      <m:r>
                                        <m:t>T</m:t>
                                      </m:r>
                                    </m:e>
                                    <m:sub>
                                      <m:r>
                                        <m:t>2</m:t>
                                      </m:r>
                                    </m:sub>
                                  </m:sSub>
                                </m:e>
                              </m:d>
                            </m:e>
                          </m:d>
                        </m:e>
                        <m:sup>
                          <m:sSub>
                            <m:e>
                              <m:r>
                                <m:t>T</m:t>
                              </m:r>
                            </m:e>
                            <m:sub>
                              <m:r>
                                <m:t>2</m:t>
                              </m:r>
                            </m:sub>
                          </m:sSub>
                        </m:sup>
                      </m:sSup>
                      <m:r>
                        <m:rPr>
                          <m:sty m:val="p"/>
                        </m:rPr>
                        <m:t>=</m:t>
                      </m:r>
                      <m:sSup>
                        <m:e>
                          <m:d>
                            <m:dPr>
                              <m:begChr m:val="("/>
                              <m:sepChr m:val=""/>
                              <m:endChr m:val=")"/>
                              <m:grow/>
                            </m:dPr>
                            <m:e>
                              <m:r>
                                <m:t>1</m:t>
                              </m:r>
                              <m:r>
                                <m:rPr>
                                  <m:sty m:val="p"/>
                                </m:rPr>
                                <m:t>+</m:t>
                              </m:r>
                              <m:r>
                                <m:t>r</m:t>
                              </m:r>
                              <m:d>
                                <m:dPr>
                                  <m:begChr m:val="("/>
                                  <m:sepChr m:val=""/>
                                  <m:endChr m:val=")"/>
                                  <m:grow/>
                                </m:dPr>
                                <m:e>
                                  <m:sSub>
                                    <m:e>
                                      <m:r>
                                        <m:t>T</m:t>
                                      </m:r>
                                    </m:e>
                                    <m:sub>
                                      <m:r>
                                        <m:t>1</m:t>
                                      </m:r>
                                    </m:sub>
                                  </m:sSub>
                                </m:e>
                              </m:d>
                            </m:e>
                          </m:d>
                        </m:e>
                        <m:sup>
                          <m:sSub>
                            <m:e>
                              <m:r>
                                <m:t>T</m:t>
                              </m:r>
                            </m:e>
                            <m:sub>
                              <m:r>
                                <m:t>1</m:t>
                              </m:r>
                            </m:sub>
                          </m:sSub>
                        </m:sup>
                      </m:sSup>
                      <m:r>
                        <m:rPr>
                          <m:sty m:val="p"/>
                        </m:rPr>
                        <m:t>⋅</m:t>
                      </m:r>
                      <m:sSup>
                        <m:e>
                          <m:d>
                            <m:dPr>
                              <m:begChr m:val="("/>
                              <m:sepChr m:val=""/>
                              <m:endChr m:val=")"/>
                              <m:grow/>
                            </m:dPr>
                            <m:e>
                              <m:r>
                                <m:t>1</m:t>
                              </m:r>
                              <m:r>
                                <m:rPr>
                                  <m:sty m:val="p"/>
                                </m:rPr>
                                <m:t>+</m:t>
                              </m:r>
                              <m:r>
                                <m:t>f</m:t>
                              </m:r>
                              <m:d>
                                <m:dPr>
                                  <m:begChr m:val="("/>
                                  <m:sepChr m:val=""/>
                                  <m:endChr m:val=")"/>
                                  <m:grow/>
                                </m:dPr>
                                <m:e>
                                  <m:sSub>
                                    <m:e>
                                      <m:r>
                                        <m:t>T</m:t>
                                      </m:r>
                                    </m:e>
                                    <m:sub>
                                      <m:r>
                                        <m:t>1</m:t>
                                      </m:r>
                                    </m:sub>
                                  </m:sSub>
                                  <m:r>
                                    <m:rPr>
                                      <m:sty m:val="p"/>
                                    </m:rPr>
                                    <m:t>,</m:t>
                                  </m:r>
                                  <m:sSub>
                                    <m:e>
                                      <m:r>
                                        <m:t>T</m:t>
                                      </m:r>
                                    </m:e>
                                    <m:sub>
                                      <m:r>
                                        <m:t>2</m:t>
                                      </m:r>
                                    </m:sub>
                                  </m:sSub>
                                </m:e>
                              </m:d>
                            </m:e>
                          </m:d>
                        </m:e>
                        <m:sup>
                          <m:sSub>
                            <m:e>
                              <m:r>
                                <m:t>T</m:t>
                              </m:r>
                            </m:e>
                            <m:sub>
                              <m:r>
                                <m:t>2</m:t>
                              </m:r>
                            </m:sub>
                          </m:sSub>
                          <m:r>
                            <m:rPr>
                              <m:sty m:val="p"/>
                            </m:rPr>
                            <m:t>−</m:t>
                          </m:r>
                          <m:sSub>
                            <m:e>
                              <m:r>
                                <m:t>T</m:t>
                              </m:r>
                            </m:e>
                            <m:sub>
                              <m:r>
                                <m:t>1</m:t>
                              </m:r>
                            </m:sub>
                          </m:sSub>
                        </m:sup>
                      </m:sSup>
                    </m:oMath>
                  </m:oMathPara>
                </a14:m>
              </a:p>
              <a:p>
                <a:pPr lvl="0" indent="0" marL="0">
                  <a:buNone/>
                </a:pPr>
                <a:r>
                  <a:rPr/>
                  <a:t>Solving for </a:t>
                </a:r>
                <a14:m>
                  <m:oMath xmlns:m="http://schemas.openxmlformats.org/officeDocument/2006/math">
                    <m:r>
                      <m:t>f</m:t>
                    </m:r>
                    <m:d>
                      <m:dPr>
                        <m:begChr m:val="("/>
                        <m:sepChr m:val=""/>
                        <m:endChr m:val=")"/>
                        <m:grow/>
                      </m:dPr>
                      <m:e>
                        <m:sSub>
                          <m:e>
                            <m:r>
                              <m:t>T</m:t>
                            </m:r>
                          </m:e>
                          <m:sub>
                            <m:r>
                              <m:t>1</m:t>
                            </m:r>
                          </m:sub>
                        </m:sSub>
                        <m:r>
                          <m:rPr>
                            <m:sty m:val="p"/>
                          </m:rPr>
                          <m:t>,</m:t>
                        </m:r>
                        <m:sSub>
                          <m:e>
                            <m:r>
                              <m:t>T</m:t>
                            </m:r>
                          </m:e>
                          <m:sub>
                            <m:r>
                              <m:t>2</m:t>
                            </m:r>
                          </m:sub>
                        </m:sSub>
                      </m:e>
                    </m:d>
                  </m:oMath>
                </a14:m>
                <a:r>
                  <a:rPr/>
                  <a:t>:</a:t>
                </a:r>
              </a:p>
              <a:p>
                <a:pPr lvl="0" indent="0" marL="0">
                  <a:buNone/>
                </a:pPr>
                <a14:m>
                  <m:oMathPara xmlns:m="http://schemas.openxmlformats.org/officeDocument/2006/math">
                    <m:oMathParaPr>
                      <m:jc m:val="center"/>
                    </m:oMathParaPr>
                    <m:oMath>
                      <m:r>
                        <m:t>f</m:t>
                      </m:r>
                      <m:d>
                        <m:dPr>
                          <m:begChr m:val="("/>
                          <m:sepChr m:val=""/>
                          <m:endChr m:val=")"/>
                          <m:grow/>
                        </m:dPr>
                        <m:e>
                          <m:sSub>
                            <m:e>
                              <m:r>
                                <m:t>T</m:t>
                              </m:r>
                            </m:e>
                            <m:sub>
                              <m:r>
                                <m:t>1</m:t>
                              </m:r>
                            </m:sub>
                          </m:sSub>
                          <m:r>
                            <m:rPr>
                              <m:sty m:val="p"/>
                            </m:rPr>
                            <m:t>,</m:t>
                          </m:r>
                          <m:sSub>
                            <m:e>
                              <m:r>
                                <m:t>T</m:t>
                              </m:r>
                            </m:e>
                            <m:sub>
                              <m:r>
                                <m:t>2</m:t>
                              </m:r>
                            </m:sub>
                          </m:sSub>
                        </m:e>
                      </m:d>
                      <m:r>
                        <m:rPr>
                          <m:sty m:val="p"/>
                        </m:rPr>
                        <m:t>=</m:t>
                      </m:r>
                      <m:sSup>
                        <m:e>
                          <m:d>
                            <m:dPr>
                              <m:begChr m:val="("/>
                              <m:sepChr m:val=""/>
                              <m:endChr m:val=")"/>
                              <m:grow/>
                            </m:dPr>
                            <m:e>
                              <m:f>
                                <m:fPr>
                                  <m:type m:val="bar"/>
                                </m:fPr>
                                <m:num>
                                  <m:sSup>
                                    <m:e>
                                      <m:d>
                                        <m:dPr>
                                          <m:begChr m:val="("/>
                                          <m:sepChr m:val=""/>
                                          <m:endChr m:val=")"/>
                                          <m:grow/>
                                        </m:dPr>
                                        <m:e>
                                          <m:r>
                                            <m:t>1</m:t>
                                          </m:r>
                                          <m:r>
                                            <m:rPr>
                                              <m:sty m:val="p"/>
                                            </m:rPr>
                                            <m:t>+</m:t>
                                          </m:r>
                                          <m:r>
                                            <m:t>r</m:t>
                                          </m:r>
                                          <m:d>
                                            <m:dPr>
                                              <m:begChr m:val="("/>
                                              <m:sepChr m:val=""/>
                                              <m:endChr m:val=")"/>
                                              <m:grow/>
                                            </m:dPr>
                                            <m:e>
                                              <m:sSub>
                                                <m:e>
                                                  <m:r>
                                                    <m:t>T</m:t>
                                                  </m:r>
                                                </m:e>
                                                <m:sub>
                                                  <m:r>
                                                    <m:t>2</m:t>
                                                  </m:r>
                                                </m:sub>
                                              </m:sSub>
                                            </m:e>
                                          </m:d>
                                        </m:e>
                                      </m:d>
                                    </m:e>
                                    <m:sup>
                                      <m:sSub>
                                        <m:e>
                                          <m:r>
                                            <m:t>T</m:t>
                                          </m:r>
                                        </m:e>
                                        <m:sub>
                                          <m:r>
                                            <m:t>2</m:t>
                                          </m:r>
                                        </m:sub>
                                      </m:sSub>
                                    </m:sup>
                                  </m:sSup>
                                </m:num>
                                <m:den>
                                  <m:sSup>
                                    <m:e>
                                      <m:d>
                                        <m:dPr>
                                          <m:begChr m:val="("/>
                                          <m:sepChr m:val=""/>
                                          <m:endChr m:val=")"/>
                                          <m:grow/>
                                        </m:dPr>
                                        <m:e>
                                          <m:r>
                                            <m:t>1</m:t>
                                          </m:r>
                                          <m:r>
                                            <m:rPr>
                                              <m:sty m:val="p"/>
                                            </m:rPr>
                                            <m:t>+</m:t>
                                          </m:r>
                                          <m:r>
                                            <m:t>r</m:t>
                                          </m:r>
                                          <m:d>
                                            <m:dPr>
                                              <m:begChr m:val="("/>
                                              <m:sepChr m:val=""/>
                                              <m:endChr m:val=")"/>
                                              <m:grow/>
                                            </m:dPr>
                                            <m:e>
                                              <m:sSub>
                                                <m:e>
                                                  <m:r>
                                                    <m:t>T</m:t>
                                                  </m:r>
                                                </m:e>
                                                <m:sub>
                                                  <m:r>
                                                    <m:t>1</m:t>
                                                  </m:r>
                                                </m:sub>
                                              </m:sSub>
                                            </m:e>
                                          </m:d>
                                        </m:e>
                                      </m:d>
                                    </m:e>
                                    <m:sup>
                                      <m:sSub>
                                        <m:e>
                                          <m:r>
                                            <m:t>T</m:t>
                                          </m:r>
                                        </m:e>
                                        <m:sub>
                                          <m:r>
                                            <m:t>1</m:t>
                                          </m:r>
                                        </m:sub>
                                      </m:sSub>
                                    </m:sup>
                                  </m:sSup>
                                </m:den>
                              </m:f>
                            </m:e>
                          </m:d>
                        </m:e>
                        <m:sup>
                          <m:f>
                            <m:fPr>
                              <m:type m:val="bar"/>
                            </m:fPr>
                            <m:num>
                              <m:r>
                                <m:t>1</m:t>
                              </m:r>
                            </m:num>
                            <m:den>
                              <m:sSub>
                                <m:e>
                                  <m:r>
                                    <m:t>T</m:t>
                                  </m:r>
                                </m:e>
                                <m:sub>
                                  <m:r>
                                    <m:t>2</m:t>
                                  </m:r>
                                </m:sub>
                              </m:sSub>
                              <m:r>
                                <m:rPr>
                                  <m:sty m:val="p"/>
                                </m:rPr>
                                <m:t>−</m:t>
                              </m:r>
                              <m:sSub>
                                <m:e>
                                  <m:r>
                                    <m:t>T</m:t>
                                  </m:r>
                                </m:e>
                                <m:sub>
                                  <m:r>
                                    <m:t>1</m:t>
                                  </m:r>
                                </m:sub>
                              </m:sSub>
                            </m:den>
                          </m:f>
                        </m:sup>
                      </m:sSup>
                      <m:r>
                        <m:rPr>
                          <m:sty m:val="p"/>
                        </m:rPr>
                        <m:t>−</m:t>
                      </m:r>
                      <m:r>
                        <m:t>1</m:t>
                      </m:r>
                    </m:oMath>
                  </m:oMathPara>
                </a14:m>
              </a:p>
              <a:p>
                <a:pPr lvl="0" indent="0" marL="0">
                  <a:buNone/>
                </a:pPr>
                <a:r>
                  <a:rPr/>
                  <a:t>Using the relationship </a:t>
                </a:r>
                <a14:m>
                  <m:oMath xmlns:m="http://schemas.openxmlformats.org/officeDocument/2006/math">
                    <m:r>
                      <m:t>D</m:t>
                    </m:r>
                    <m:r>
                      <m:t>F</m:t>
                    </m:r>
                    <m:d>
                      <m:dPr>
                        <m:begChr m:val="("/>
                        <m:sepChr m:val=""/>
                        <m:endChr m:val=")"/>
                        <m:grow/>
                      </m:dPr>
                      <m:e>
                        <m:r>
                          <m:t>T</m:t>
                        </m:r>
                      </m:e>
                    </m:d>
                    <m:r>
                      <m:rPr>
                        <m:sty m:val="p"/>
                      </m:rPr>
                      <m:t>=</m:t>
                    </m:r>
                    <m:sSup>
                      <m:e>
                        <m:d>
                          <m:dPr>
                            <m:begChr m:val="("/>
                            <m:sepChr m:val=""/>
                            <m:endChr m:val=")"/>
                            <m:grow/>
                          </m:dPr>
                          <m:e>
                            <m:r>
                              <m:t>1</m:t>
                            </m:r>
                            <m:r>
                              <m:rPr>
                                <m:sty m:val="p"/>
                              </m:rPr>
                              <m:t>+</m:t>
                            </m:r>
                            <m:r>
                              <m:t>r</m:t>
                            </m:r>
                            <m:d>
                              <m:dPr>
                                <m:begChr m:val="("/>
                                <m:sepChr m:val=""/>
                                <m:endChr m:val=")"/>
                                <m:grow/>
                              </m:dPr>
                              <m:e>
                                <m:r>
                                  <m:t>T</m:t>
                                </m:r>
                              </m:e>
                            </m:d>
                          </m:e>
                        </m:d>
                      </m:e>
                      <m:sup>
                        <m:r>
                          <m:rPr>
                            <m:sty m:val="p"/>
                          </m:rPr>
                          <m:t>−</m:t>
                        </m:r>
                        <m:r>
                          <m:t>T</m:t>
                        </m:r>
                      </m:sup>
                    </m:sSup>
                  </m:oMath>
                </a14:m>
                <a:r>
                  <a:rPr/>
                  <a:t>, this simplifies to:</a:t>
                </a:r>
              </a:p>
              <a:p>
                <a:pPr lvl="0" indent="0" marL="0">
                  <a:buNone/>
                </a:pPr>
                <a14:m>
                  <m:oMathPara xmlns:m="http://schemas.openxmlformats.org/officeDocument/2006/math">
                    <m:oMathParaPr>
                      <m:jc m:val="center"/>
                    </m:oMathParaPr>
                    <m:oMath>
                      <m:r>
                        <m:t>f</m:t>
                      </m:r>
                      <m:d>
                        <m:dPr>
                          <m:begChr m:val="("/>
                          <m:sepChr m:val=""/>
                          <m:endChr m:val=")"/>
                          <m:grow/>
                        </m:dPr>
                        <m:e>
                          <m:sSub>
                            <m:e>
                              <m:r>
                                <m:t>T</m:t>
                              </m:r>
                            </m:e>
                            <m:sub>
                              <m:r>
                                <m:t>1</m:t>
                              </m:r>
                            </m:sub>
                          </m:sSub>
                          <m:r>
                            <m:rPr>
                              <m:sty m:val="p"/>
                            </m:rPr>
                            <m:t>,</m:t>
                          </m:r>
                          <m:sSub>
                            <m:e>
                              <m:r>
                                <m:t>T</m:t>
                              </m:r>
                            </m:e>
                            <m:sub>
                              <m:r>
                                <m:t>2</m:t>
                              </m:r>
                            </m:sub>
                          </m:sSub>
                        </m:e>
                      </m:d>
                      <m:r>
                        <m:rPr>
                          <m:sty m:val="p"/>
                        </m:rPr>
                        <m:t>=</m:t>
                      </m:r>
                      <m:sSup>
                        <m:e>
                          <m:d>
                            <m:dPr>
                              <m:begChr m:val="("/>
                              <m:sepChr m:val=""/>
                              <m:endChr m:val=")"/>
                              <m:grow/>
                            </m:dPr>
                            <m:e>
                              <m:f>
                                <m:fPr>
                                  <m:type m:val="bar"/>
                                </m:fPr>
                                <m:num>
                                  <m:r>
                                    <m:t>D</m:t>
                                  </m:r>
                                  <m:r>
                                    <m:t>F</m:t>
                                  </m:r>
                                  <m:d>
                                    <m:dPr>
                                      <m:begChr m:val="("/>
                                      <m:sepChr m:val=""/>
                                      <m:endChr m:val=")"/>
                                      <m:grow/>
                                    </m:dPr>
                                    <m:e>
                                      <m:sSub>
                                        <m:e>
                                          <m:r>
                                            <m:t>T</m:t>
                                          </m:r>
                                        </m:e>
                                        <m:sub>
                                          <m:r>
                                            <m:t>1</m:t>
                                          </m:r>
                                        </m:sub>
                                      </m:sSub>
                                    </m:e>
                                  </m:d>
                                </m:num>
                                <m:den>
                                  <m:r>
                                    <m:t>D</m:t>
                                  </m:r>
                                  <m:r>
                                    <m:t>F</m:t>
                                  </m:r>
                                  <m:d>
                                    <m:dPr>
                                      <m:begChr m:val="("/>
                                      <m:sepChr m:val=""/>
                                      <m:endChr m:val=")"/>
                                      <m:grow/>
                                    </m:dPr>
                                    <m:e>
                                      <m:sSub>
                                        <m:e>
                                          <m:r>
                                            <m:t>T</m:t>
                                          </m:r>
                                        </m:e>
                                        <m:sub>
                                          <m:r>
                                            <m:t>2</m:t>
                                          </m:r>
                                        </m:sub>
                                      </m:sSub>
                                    </m:e>
                                  </m:d>
                                </m:den>
                              </m:f>
                            </m:e>
                          </m:d>
                        </m:e>
                        <m:sup>
                          <m:r>
                            <m:t>​</m:t>
                          </m:r>
                          <m:f>
                            <m:fPr>
                              <m:type m:val="bar"/>
                            </m:fPr>
                            <m:num>
                              <m:r>
                                <m:t>1</m:t>
                              </m:r>
                            </m:num>
                            <m:den>
                              <m:sSub>
                                <m:e>
                                  <m:r>
                                    <m:t>T</m:t>
                                  </m:r>
                                </m:e>
                                <m:sub>
                                  <m:r>
                                    <m:t>2</m:t>
                                  </m:r>
                                </m:sub>
                              </m:sSub>
                              <m:r>
                                <m:rPr>
                                  <m:sty m:val="p"/>
                                </m:rPr>
                                <m:t>−</m:t>
                              </m:r>
                              <m:sSub>
                                <m:e>
                                  <m:r>
                                    <m:t>T</m:t>
                                  </m:r>
                                </m:e>
                                <m:sub>
                                  <m:r>
                                    <m:t>1</m:t>
                                  </m:r>
                                </m:sub>
                              </m:sSub>
                            </m:den>
                          </m:f>
                        </m:sup>
                      </m:sSup>
                      <m:r>
                        <m:rPr>
                          <m:sty m:val="p"/>
                        </m:rPr>
                        <m:t>−</m:t>
                      </m:r>
                      <m:r>
                        <m:t>1</m:t>
                      </m:r>
                    </m:oMath>
                  </m:oMathPara>
                </a14:m>
              </a:p>
              <a:p>
                <a:pPr lvl="0" indent="0" marL="0">
                  <a:buNone/>
                </a:pPr>
                <a:r>
                  <a:rPr b="1"/>
                  <a:t>Economic interpretation:</a:t>
                </a:r>
                <a:r>
                  <a:rPr/>
                  <a:t> If the curve is upward sloping (</a:t>
                </a:r>
                <a14:m>
                  <m:oMath xmlns:m="http://schemas.openxmlformats.org/officeDocument/2006/math">
                    <m:r>
                      <m:t>r</m:t>
                    </m:r>
                    <m:d>
                      <m:dPr>
                        <m:begChr m:val="("/>
                        <m:sepChr m:val=""/>
                        <m:endChr m:val=")"/>
                        <m:grow/>
                      </m:dPr>
                      <m:e>
                        <m:sSub>
                          <m:e>
                            <m:r>
                              <m:t>T</m:t>
                            </m:r>
                          </m:e>
                          <m:sub>
                            <m:r>
                              <m:t>2</m:t>
                            </m:r>
                          </m:sub>
                        </m:sSub>
                      </m:e>
                    </m:d>
                    <m:r>
                      <m:rPr>
                        <m:sty m:val="p"/>
                      </m:rPr>
                      <m:t>&gt;</m:t>
                    </m:r>
                    <m:r>
                      <m:t>r</m:t>
                    </m:r>
                    <m:d>
                      <m:dPr>
                        <m:begChr m:val="("/>
                        <m:sepChr m:val=""/>
                        <m:endChr m:val=")"/>
                        <m:grow/>
                      </m:dPr>
                      <m:e>
                        <m:sSub>
                          <m:e>
                            <m:r>
                              <m:t>T</m:t>
                            </m:r>
                          </m:e>
                          <m:sub>
                            <m:r>
                              <m:t>1</m:t>
                            </m:r>
                          </m:sub>
                        </m:sSub>
                      </m:e>
                    </m:d>
                  </m:oMath>
                </a14:m>
                <a:r>
                  <a:rPr/>
                  <a:t>), forward rates lie </a:t>
                </a:r>
                <a:r>
                  <a:rPr b="1"/>
                  <a:t>above</a:t>
                </a:r>
                <a:r>
                  <a:rPr/>
                  <a:t> spot rates. This reflects the market’s pricing of term premium and expectations.</a:t>
                </a:r>
              </a:p>
              <a:p>
                <a:pPr lvl="0" indent="0">
                  <a:buNone/>
                </a:pPr>
                <a:r>
                  <a:rPr>
                    <a:latin typeface="Courier"/>
                  </a:rPr>
                  <a:t>forwards </a:t>
                </a:r>
                <a:r>
                  <a:rPr>
                    <a:solidFill>
                      <a:srgbClr val="666666"/>
                    </a:solidFill>
                    <a:latin typeface="Courier"/>
                  </a:rPr>
                  <a:t>=</a:t>
                </a:r>
                <a:r>
                  <a:rPr>
                    <a:latin typeface="Courier"/>
                  </a:rPr>
                  <a:t> full_forward_curve(zero_rates)</a:t>
                </a:r>
                <a:br/>
                <a:br/>
                <a:r>
                  <a:rPr>
                    <a:solidFill>
                      <a:srgbClr val="008000"/>
                    </a:solidFill>
                    <a:latin typeface="Courier"/>
                  </a:rPr>
                  <a:t>print</a:t>
                </a:r>
                <a:r>
                  <a:rPr>
                    <a:latin typeface="Courier"/>
                  </a:rPr>
                  <a:t>(</a:t>
                </a:r>
                <a:r>
                  <a:rPr>
                    <a:solidFill>
                      <a:srgbClr val="4070A0"/>
                    </a:solidFill>
                    <a:latin typeface="Courier"/>
                  </a:rPr>
                  <a:t>"Implied forward rates:"</a:t>
                </a:r>
                <a:r>
                  <a:rPr>
                    <a:latin typeface="Courier"/>
                  </a:rPr>
                  <a:t>)</a:t>
                </a:r>
                <a:br/>
                <a:r>
                  <a:rPr b="1">
                    <a:solidFill>
                      <a:srgbClr val="007020"/>
                    </a:solidFill>
                    <a:latin typeface="Courier"/>
                  </a:rPr>
                  <a:t>for</a:t>
                </a:r>
                <a:r>
                  <a:rPr>
                    <a:latin typeface="Courier"/>
                  </a:rPr>
                  <a:t> (T1, T2), f </a:t>
                </a:r>
                <a:r>
                  <a:rPr b="1">
                    <a:solidFill>
                      <a:srgbClr val="007020"/>
                    </a:solidFill>
                    <a:latin typeface="Courier"/>
                  </a:rPr>
                  <a:t>in</a:t>
                </a:r>
                <a:r>
                  <a:rPr>
                    <a:latin typeface="Courier"/>
                  </a:rPr>
                  <a:t> forwards.items():</a:t>
                </a:r>
                <a:br/>
                <a:r>
                  <a:rPr>
                    <a:latin typeface="Courier"/>
                  </a:rPr>
                  <a:t>    </a:t>
                </a:r>
                <a:r>
                  <a:rPr>
                    <a:solidFill>
                      <a:srgbClr val="008000"/>
                    </a:solidFill>
                    <a:latin typeface="Courier"/>
                  </a:rPr>
                  <a:t>print</a:t>
                </a:r>
                <a:r>
                  <a:rPr>
                    <a:latin typeface="Courier"/>
                  </a:rPr>
                  <a:t>(</a:t>
                </a:r>
                <a:r>
                  <a:rPr>
                    <a:solidFill>
                      <a:srgbClr val="BB6688"/>
                    </a:solidFill>
                    <a:latin typeface="Courier"/>
                  </a:rPr>
                  <a:t>f"  f(</a:t>
                </a:r>
                <a:r>
                  <a:rPr>
                    <a:solidFill>
                      <a:srgbClr val="4070A0"/>
                    </a:solidFill>
                    <a:latin typeface="Courier"/>
                  </a:rPr>
                  <a:t>{</a:t>
                </a:r>
                <a:r>
                  <a:rPr>
                    <a:latin typeface="Courier"/>
                  </a:rPr>
                  <a:t>T1</a:t>
                </a:r>
                <a:r>
                  <a:rPr>
                    <a:solidFill>
                      <a:srgbClr val="4070A0"/>
                    </a:solidFill>
                    <a:latin typeface="Courier"/>
                  </a:rPr>
                  <a:t>}</a:t>
                </a:r>
                <a:r>
                  <a:rPr>
                    <a:solidFill>
                      <a:srgbClr val="BB6688"/>
                    </a:solidFill>
                    <a:latin typeface="Courier"/>
                  </a:rPr>
                  <a:t>Y → </a:t>
                </a:r>
                <a:r>
                  <a:rPr>
                    <a:solidFill>
                      <a:srgbClr val="4070A0"/>
                    </a:solidFill>
                    <a:latin typeface="Courier"/>
                  </a:rPr>
                  <a:t>{</a:t>
                </a:r>
                <a:r>
                  <a:rPr>
                    <a:latin typeface="Courier"/>
                  </a:rPr>
                  <a:t>T2</a:t>
                </a:r>
                <a:r>
                  <a:rPr>
                    <a:solidFill>
                      <a:srgbClr val="4070A0"/>
                    </a:solidFill>
                    <a:latin typeface="Courier"/>
                  </a:rPr>
                  <a:t>}</a:t>
                </a:r>
                <a:r>
                  <a:rPr>
                    <a:solidFill>
                      <a:srgbClr val="BB6688"/>
                    </a:solidFill>
                    <a:latin typeface="Courier"/>
                  </a:rPr>
                  <a:t>Y) = </a:t>
                </a:r>
                <a:r>
                  <a:rPr>
                    <a:solidFill>
                      <a:srgbClr val="4070A0"/>
                    </a:solidFill>
                    <a:latin typeface="Courier"/>
                  </a:rPr>
                  <a:t>{</a:t>
                </a:r>
                <a:r>
                  <a:rPr>
                    <a:latin typeface="Courier"/>
                  </a:rPr>
                  <a:t>f</a:t>
                </a:r>
                <a:r>
                  <a:rPr>
                    <a:solidFill>
                      <a:srgbClr val="666666"/>
                    </a:solidFill>
                    <a:latin typeface="Courier"/>
                  </a:rPr>
                  <a:t>*</a:t>
                </a:r>
                <a:r>
                  <a:rPr>
                    <a:solidFill>
                      <a:srgbClr val="40A070"/>
                    </a:solidFill>
                    <a:latin typeface="Courier"/>
                  </a:rPr>
                  <a:t>100</a:t>
                </a:r>
                <a:r>
                  <a:rPr>
                    <a:solidFill>
                      <a:srgbClr val="4070A0"/>
                    </a:solidFill>
                    <a:latin typeface="Courier"/>
                  </a:rPr>
                  <a:t>:.3f}</a:t>
                </a:r>
                <a:r>
                  <a:rPr>
                    <a:solidFill>
                      <a:srgbClr val="BB6688"/>
                    </a:solidFill>
                    <a:latin typeface="Courier"/>
                  </a:rPr>
                  <a:t>%"</a:t>
                </a:r>
                <a:r>
                  <a:rPr>
                    <a:latin typeface="Courier"/>
                  </a:rPr>
                  <a:t>)</a:t>
                </a:r>
                <a:br/>
                <a:br/>
                <a:r>
                  <a:rPr>
                    <a:latin typeface="Courier"/>
                  </a:rPr>
                  <a:t>s10 </a:t>
                </a:r>
                <a:r>
                  <a:rPr>
                    <a:solidFill>
                      <a:srgbClr val="666666"/>
                    </a:solidFill>
                    <a:latin typeface="Courier"/>
                  </a:rPr>
                  <a:t>=</a:t>
                </a:r>
                <a:r>
                  <a:rPr>
                    <a:latin typeface="Courier"/>
                  </a:rPr>
                  <a:t> swap_rate(zero_rates, </a:t>
                </a:r>
                <a:r>
                  <a:rPr>
                    <a:solidFill>
                      <a:srgbClr val="40A070"/>
                    </a:solidFill>
                    <a:latin typeface="Courier"/>
                  </a:rPr>
                  <a:t>10</a:t>
                </a:r>
                <a:r>
                  <a:rPr>
                    <a:latin typeface="Courier"/>
                  </a:rPr>
                  <a:t>, curve_function</a:t>
                </a:r>
                <a:r>
                  <a:rPr>
                    <a:solidFill>
                      <a:srgbClr val="666666"/>
                    </a:solidFill>
                    <a:latin typeface="Courier"/>
                  </a:rPr>
                  <a:t>=</a:t>
                </a:r>
                <a:r>
                  <a:rPr>
                    <a:latin typeface="Courier"/>
                  </a:rPr>
                  <a:t>spline_curve)</a:t>
                </a:r>
                <a:br/>
                <a:r>
                  <a:rPr>
                    <a:solidFill>
                      <a:srgbClr val="008000"/>
                    </a:solidFill>
                    <a:latin typeface="Courier"/>
                  </a:rPr>
                  <a:t>print</a:t>
                </a:r>
                <a:r>
                  <a:rPr>
                    <a:latin typeface="Courier"/>
                  </a:rPr>
                  <a:t>(</a:t>
                </a:r>
                <a:r>
                  <a:rPr>
                    <a:solidFill>
                      <a:srgbClr val="BB6688"/>
                    </a:solidFill>
                    <a:latin typeface="Courier"/>
                  </a:rPr>
                  <a:t>f"</a:t>
                </a:r>
                <a:r>
                  <a:rPr>
                    <a:solidFill>
                      <a:srgbClr val="4070A0"/>
                    </a:solidFill>
                    <a:latin typeface="Courier"/>
                  </a:rPr>
                  <a:t>\n</a:t>
                </a:r>
                <a:r>
                  <a:rPr>
                    <a:solidFill>
                      <a:srgbClr val="BB6688"/>
                    </a:solidFill>
                    <a:latin typeface="Courier"/>
                  </a:rPr>
                  <a:t>10-year par swap rate: </a:t>
                </a:r>
                <a:r>
                  <a:rPr>
                    <a:solidFill>
                      <a:srgbClr val="4070A0"/>
                    </a:solidFill>
                    <a:latin typeface="Courier"/>
                  </a:rPr>
                  <a:t>{</a:t>
                </a:r>
                <a:r>
                  <a:rPr>
                    <a:latin typeface="Courier"/>
                  </a:rPr>
                  <a:t>s10</a:t>
                </a:r>
                <a:r>
                  <a:rPr>
                    <a:solidFill>
                      <a:srgbClr val="666666"/>
                    </a:solidFill>
                    <a:latin typeface="Courier"/>
                  </a:rPr>
                  <a:t>*</a:t>
                </a:r>
                <a:r>
                  <a:rPr>
                    <a:solidFill>
                      <a:srgbClr val="40A070"/>
                    </a:solidFill>
                    <a:latin typeface="Courier"/>
                  </a:rPr>
                  <a:t>100</a:t>
                </a:r>
                <a:r>
                  <a:rPr>
                    <a:solidFill>
                      <a:srgbClr val="4070A0"/>
                    </a:solidFill>
                    <a:latin typeface="Courier"/>
                  </a:rPr>
                  <a:t>:.3f}</a:t>
                </a:r>
                <a:r>
                  <a:rPr>
                    <a:solidFill>
                      <a:srgbClr val="BB6688"/>
                    </a:solidFill>
                    <a:latin typeface="Courier"/>
                  </a:rPr>
                  <a:t>%"</a:t>
                </a:r>
                <a:r>
                  <a:rPr>
                    <a:latin typeface="Courier"/>
                  </a:rPr>
                  <a:t>)</a:t>
                </a:r>
                <a:br/>
                <a:br/>
                <a:r>
                  <a:rPr>
                    <a:latin typeface="Courier"/>
                  </a:rPr>
                  <a:t>fig_fwd </a:t>
                </a:r>
                <a:r>
                  <a:rPr>
                    <a:solidFill>
                      <a:srgbClr val="666666"/>
                    </a:solidFill>
                    <a:latin typeface="Courier"/>
                  </a:rPr>
                  <a:t>=</a:t>
                </a:r>
                <a:r>
                  <a:rPr>
                    <a:latin typeface="Courier"/>
                  </a:rPr>
                  <a:t> plot_forward_rates_interactive(zero_rates)</a:t>
                </a:r>
              </a:p>
              <a:p>
                <a:pPr lvl="0" indent="0">
                  <a:buNone/>
                </a:pPr>
                <a:r>
                  <a:rPr>
                    <a:latin typeface="Courier"/>
                  </a:rPr>
                  <a:t>Implied forward rates:
  f(1Y → 2Y) = 3.500%
  f(2Y → 5Y) = 3.867%
  f(5Y → 10Y) = 4.622%
10-year par swap rate: 4.099%</a:t>
                </a:r>
              </a:p>
              <a:p>
                <a:pPr lvl="0" indent="0">
                  <a:buNone/>
                </a:pPr>
                <a:r>
                  <a:rPr>
                    <a:latin typeface="Courier"/>
                  </a:rPr>
                  <a:t>Unable to display output for mime type(s): text/html</a:t>
                </a:r>
              </a:p>
              <a:p>
                <a:pPr lvl="0" indent="0" marL="1270000">
                  <a:buNone/>
                </a:pPr>
                <a:r>
                  <a:rPr sz="2000" b="1"/>
                  <a:t>Key insight:</a:t>
                </a:r>
                <a:r>
                  <a:rPr sz="2000"/>
                  <a:t> Forward rates are </a:t>
                </a:r>
                <a:r>
                  <a:rPr sz="2000" i="1"/>
                  <a:t>above</a:t>
                </a:r>
                <a:r>
                  <a:rPr sz="2000"/>
                  <a:t> spot zero rates, consistent with an upward-sloping curve. The market prices in rising rates over the medium term.</a:t>
                </a:r>
              </a:p>
            </p:txBody>
          </p:sp>
        </mc:Choice>
      </mc:AlternateContent>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Bond Pricing &amp; Risk Measures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 Duration and Convexity, the two essential risk metrics</a:t>
            </a:r>
          </a:p>
          <a:p>
            <a:pPr lvl="0" indent="0" marL="1270000">
              <a:buNone/>
            </a:pPr>
            <a:r>
              <a:rPr sz="2000" b="1"/>
              <a:t>Duration</a:t>
            </a:r>
            <a:r>
              <a:rPr sz="2000"/>
              <a:t> measures how much a bond’s price falls when rates rise by 1 basis point. A duration of 4.5 means the bond loses roughly 4.5% of its value if rates jump by 100 bps.</a:t>
            </a:r>
          </a:p>
          <a:p>
            <a:pPr lvl="0" indent="0" marL="1270000">
              <a:buNone/>
            </a:pPr>
            <a:r>
              <a:rPr sz="2000" b="1"/>
              <a:t>Convexity</a:t>
            </a:r>
            <a:r>
              <a:rPr sz="2000"/>
              <a:t> adds a second-order correction: because the price–yield relationship is curved (not linear), duration alone underestimates price gains and overestimates losses. Higher convexity is generally desirable.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Bond Pricing from Zero Curve</a:t>
            </a:r>
          </a:p>
        </p:txBody>
      </p:sp>
      <p:sp>
        <p:nvSpPr>
          <p:cNvPr id="3" name="Content Placeholder 2"/>
          <p:cNvSpPr>
            <a:spLocks noGrp="1"/>
          </p:cNvSpPr>
          <p:nvPr>
            <p:ph idx="1"/>
          </p:nvPr>
        </p:nvSpPr>
        <p:spPr/>
        <p:txBody>
          <a:bodyPr/>
          <a:lstStyle/>
          <a:p>
            <a:pPr lvl="0" indent="0">
              <a:buNone/>
            </a:pPr>
            <a:r>
              <a:rPr>
                <a:latin typeface="Courier"/>
              </a:rPr>
              <a:t>price </a:t>
            </a:r>
            <a:r>
              <a:rPr>
                <a:solidFill>
                  <a:srgbClr val="666666"/>
                </a:solidFill>
                <a:latin typeface="Courier"/>
              </a:rPr>
              <a:t>=</a:t>
            </a:r>
            <a:r>
              <a:rPr>
                <a:latin typeface="Courier"/>
              </a:rPr>
              <a:t> bond_price_from_curve(</a:t>
            </a:r>
            <a:r>
              <a:rPr>
                <a:solidFill>
                  <a:srgbClr val="40A070"/>
                </a:solidFill>
                <a:latin typeface="Courier"/>
              </a:rPr>
              <a:t>5</a:t>
            </a:r>
            <a:r>
              <a:rPr>
                <a:latin typeface="Courier"/>
              </a:rPr>
              <a:t>, </a:t>
            </a:r>
            <a:r>
              <a:rPr>
                <a:solidFill>
                  <a:srgbClr val="40A070"/>
                </a:solidFill>
                <a:latin typeface="Courier"/>
              </a:rPr>
              <a:t>0.03</a:t>
            </a:r>
            <a:r>
              <a:rPr>
                <a:latin typeface="Courier"/>
              </a:rPr>
              <a:t>, </a:t>
            </a:r>
            <a:r>
              <a:rPr>
                <a:solidFill>
                  <a:srgbClr val="40A070"/>
                </a:solidFill>
                <a:latin typeface="Courier"/>
              </a:rPr>
              <a:t>100</a:t>
            </a:r>
            <a:r>
              <a:rPr>
                <a:latin typeface="Courier"/>
              </a:rPr>
              <a:t>, spline_curve)</a:t>
            </a:r>
            <a:br/>
            <a:r>
              <a:rPr>
                <a:solidFill>
                  <a:srgbClr val="008000"/>
                </a:solidFill>
                <a:latin typeface="Courier"/>
              </a:rPr>
              <a:t>print</a:t>
            </a:r>
            <a:r>
              <a:rPr>
                <a:latin typeface="Courier"/>
              </a:rPr>
              <a:t>(</a:t>
            </a:r>
            <a:r>
              <a:rPr>
                <a:solidFill>
                  <a:srgbClr val="BB6688"/>
                </a:solidFill>
                <a:latin typeface="Courier"/>
              </a:rPr>
              <a:t>f"5Y bond (3% coupon, face 100) → Price = </a:t>
            </a:r>
            <a:r>
              <a:rPr>
                <a:solidFill>
                  <a:srgbClr val="4070A0"/>
                </a:solidFill>
                <a:latin typeface="Courier"/>
              </a:rPr>
              <a:t>{</a:t>
            </a:r>
            <a:r>
              <a:rPr>
                <a:latin typeface="Courier"/>
              </a:rPr>
              <a:t>price</a:t>
            </a:r>
            <a:r>
              <a:rPr>
                <a:solidFill>
                  <a:srgbClr val="4070A0"/>
                </a:solidFill>
                <a:latin typeface="Courier"/>
              </a:rPr>
              <a:t>:.4f}</a:t>
            </a:r>
            <a:r>
              <a:rPr>
                <a:solidFill>
                  <a:srgbClr val="BB6688"/>
                </a:solidFill>
                <a:latin typeface="Courier"/>
              </a:rPr>
              <a:t>"</a:t>
            </a:r>
            <a:r>
              <a:rPr>
                <a:latin typeface="Courier"/>
              </a:rPr>
              <a:t>)</a:t>
            </a:r>
            <a:br/>
            <a:r>
              <a:rPr>
                <a:solidFill>
                  <a:srgbClr val="008000"/>
                </a:solidFill>
                <a:latin typeface="Courier"/>
              </a:rPr>
              <a:t>print</a:t>
            </a:r>
            <a:r>
              <a:rPr>
                <a:latin typeface="Courier"/>
              </a:rPr>
              <a:t>(</a:t>
            </a:r>
            <a:r>
              <a:rPr>
                <a:solidFill>
                  <a:srgbClr val="BB6688"/>
                </a:solidFill>
                <a:latin typeface="Courier"/>
              </a:rPr>
              <a:t>f"Bond is trading </a:t>
            </a:r>
            <a:r>
              <a:rPr>
                <a:solidFill>
                  <a:srgbClr val="4070A0"/>
                </a:solidFill>
                <a:latin typeface="Courier"/>
              </a:rPr>
              <a:t>{'at a discount'</a:t>
            </a:r>
            <a:r>
              <a:rPr>
                <a:latin typeface="Courier"/>
              </a:rPr>
              <a:t> </a:t>
            </a:r>
            <a:r>
              <a:rPr b="1">
                <a:solidFill>
                  <a:srgbClr val="007020"/>
                </a:solidFill>
                <a:latin typeface="Courier"/>
              </a:rPr>
              <a:t>if</a:t>
            </a:r>
            <a:r>
              <a:rPr>
                <a:latin typeface="Courier"/>
              </a:rPr>
              <a:t> price </a:t>
            </a:r>
            <a:r>
              <a:rPr>
                <a:solidFill>
                  <a:srgbClr val="666666"/>
                </a:solidFill>
                <a:latin typeface="Courier"/>
              </a:rPr>
              <a:t>&lt;</a:t>
            </a:r>
            <a:r>
              <a:rPr>
                <a:latin typeface="Courier"/>
              </a:rPr>
              <a:t> </a:t>
            </a:r>
            <a:r>
              <a:rPr>
                <a:solidFill>
                  <a:srgbClr val="40A070"/>
                </a:solidFill>
                <a:latin typeface="Courier"/>
              </a:rPr>
              <a:t>100</a:t>
            </a:r>
            <a:r>
              <a:rPr>
                <a:latin typeface="Courier"/>
              </a:rPr>
              <a:t> </a:t>
            </a:r>
            <a:r>
              <a:rPr b="1">
                <a:solidFill>
                  <a:srgbClr val="007020"/>
                </a:solidFill>
                <a:latin typeface="Courier"/>
              </a:rPr>
              <a:t>else</a:t>
            </a:r>
            <a:r>
              <a:rPr>
                <a:latin typeface="Courier"/>
              </a:rPr>
              <a:t> </a:t>
            </a:r>
            <a:r>
              <a:rPr>
                <a:solidFill>
                  <a:srgbClr val="4070A0"/>
                </a:solidFill>
                <a:latin typeface="Courier"/>
              </a:rPr>
              <a:t>'at a premium'}</a:t>
            </a:r>
            <a:r>
              <a:rPr>
                <a:solidFill>
                  <a:srgbClr val="BB6688"/>
                </a:solidFill>
                <a:latin typeface="Courier"/>
              </a:rPr>
              <a:t> "</a:t>
            </a:r>
            <a:br/>
            <a:r>
              <a:rPr>
                <a:latin typeface="Courier"/>
              </a:rPr>
              <a:t>      </a:t>
            </a:r>
            <a:r>
              <a:rPr>
                <a:solidFill>
                  <a:srgbClr val="BB6688"/>
                </a:solidFill>
                <a:latin typeface="Courier"/>
              </a:rPr>
              <a:t>f"(market rates </a:t>
            </a:r>
            <a:r>
              <a:rPr>
                <a:solidFill>
                  <a:srgbClr val="4070A0"/>
                </a:solidFill>
                <a:latin typeface="Courier"/>
              </a:rPr>
              <a:t>{'above'</a:t>
            </a:r>
            <a:r>
              <a:rPr>
                <a:latin typeface="Courier"/>
              </a:rPr>
              <a:t> </a:t>
            </a:r>
            <a:r>
              <a:rPr b="1">
                <a:solidFill>
                  <a:srgbClr val="007020"/>
                </a:solidFill>
                <a:latin typeface="Courier"/>
              </a:rPr>
              <a:t>if</a:t>
            </a:r>
            <a:r>
              <a:rPr>
                <a:latin typeface="Courier"/>
              </a:rPr>
              <a:t> price </a:t>
            </a:r>
            <a:r>
              <a:rPr>
                <a:solidFill>
                  <a:srgbClr val="666666"/>
                </a:solidFill>
                <a:latin typeface="Courier"/>
              </a:rPr>
              <a:t>&lt;</a:t>
            </a:r>
            <a:r>
              <a:rPr>
                <a:latin typeface="Courier"/>
              </a:rPr>
              <a:t> </a:t>
            </a:r>
            <a:r>
              <a:rPr>
                <a:solidFill>
                  <a:srgbClr val="40A070"/>
                </a:solidFill>
                <a:latin typeface="Courier"/>
              </a:rPr>
              <a:t>100</a:t>
            </a:r>
            <a:r>
              <a:rPr>
                <a:latin typeface="Courier"/>
              </a:rPr>
              <a:t> </a:t>
            </a:r>
            <a:r>
              <a:rPr b="1">
                <a:solidFill>
                  <a:srgbClr val="007020"/>
                </a:solidFill>
                <a:latin typeface="Courier"/>
              </a:rPr>
              <a:t>else</a:t>
            </a:r>
            <a:r>
              <a:rPr>
                <a:latin typeface="Courier"/>
              </a:rPr>
              <a:t> </a:t>
            </a:r>
            <a:r>
              <a:rPr>
                <a:solidFill>
                  <a:srgbClr val="4070A0"/>
                </a:solidFill>
                <a:latin typeface="Courier"/>
              </a:rPr>
              <a:t>'below'}</a:t>
            </a:r>
            <a:r>
              <a:rPr>
                <a:solidFill>
                  <a:srgbClr val="BB6688"/>
                </a:solidFill>
                <a:latin typeface="Courier"/>
              </a:rPr>
              <a:t> coupon rate)"</a:t>
            </a:r>
            <a:r>
              <a:rPr>
                <a:latin typeface="Courier"/>
              </a:rPr>
              <a:t>)</a:t>
            </a:r>
          </a:p>
          <a:p>
            <a:pPr lvl="0" indent="0">
              <a:buNone/>
            </a:pPr>
            <a:r>
              <a:rPr>
                <a:latin typeface="Courier"/>
              </a:rPr>
              <a:t>5Y bond (3% coupon, face 100) → Price = 96.9027
Bond is trading at a discount (market rates above coupon rate)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Modified Duration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Duration measures </a:t>
                </a:r>
                <a:r>
                  <a:rPr b="1"/>
                  <a:t>first-order sensitivity</a:t>
                </a:r>
                <a:r>
                  <a:rPr/>
                  <a:t> to yield changes. Consider a bond priced from the zero curve. The price is:</a:t>
                </a:r>
              </a:p>
              <a:p>
                <a:pPr lvl="0" indent="0" marL="0">
                  <a:buNone/>
                </a:pPr>
                <a14:m>
                  <m:oMathPara xmlns:m="http://schemas.openxmlformats.org/officeDocument/2006/math">
                    <m:oMathParaPr>
                      <m:jc m:val="center"/>
                    </m:oMathParaPr>
                    <m:oMath>
                      <m:r>
                        <m:t>P</m:t>
                      </m:r>
                      <m:r>
                        <m:rPr>
                          <m:sty m:val="p"/>
                        </m:rPr>
                        <m:t>=</m:t>
                      </m:r>
                      <m:nary>
                        <m:naryPr>
                          <m:chr m:val="∑"/>
                          <m:limLoc m:val="undOvr"/>
                          <m:subHide m:val="off"/>
                          <m:supHide m:val="off"/>
                        </m:naryPr>
                        <m:sub>
                          <m:r>
                            <m:t>t</m:t>
                          </m:r>
                          <m:r>
                            <m:rPr>
                              <m:sty m:val="p"/>
                            </m:rPr>
                            <m:t>=</m:t>
                          </m:r>
                          <m:r>
                            <m:t>1</m:t>
                          </m:r>
                        </m:sub>
                        <m:sup>
                          <m:r>
                            <m:t>T</m:t>
                          </m:r>
                        </m:sup>
                        <m:e>
                          <m:r>
                            <m:t>C</m:t>
                          </m:r>
                        </m:e>
                      </m:nary>
                      <m:sSub>
                        <m:e>
                          <m:r>
                            <m:t>F</m:t>
                          </m:r>
                        </m:e>
                        <m:sub>
                          <m:r>
                            <m:t>t</m:t>
                          </m:r>
                        </m:sub>
                      </m:sSub>
                      <m:r>
                        <m:rPr>
                          <m:sty m:val="p"/>
                        </m:rPr>
                        <m:t>⋅</m:t>
                      </m:r>
                      <m:sSup>
                        <m:e>
                          <m:d>
                            <m:dPr>
                              <m:begChr m:val="("/>
                              <m:sepChr m:val=""/>
                              <m:endChr m:val=")"/>
                              <m:grow/>
                            </m:dPr>
                            <m:e>
                              <m:r>
                                <m:t>1</m:t>
                              </m:r>
                              <m:r>
                                <m:rPr>
                                  <m:sty m:val="p"/>
                                </m:rPr>
                                <m:t>+</m:t>
                              </m:r>
                              <m:r>
                                <m:t>r</m:t>
                              </m:r>
                              <m:d>
                                <m:dPr>
                                  <m:begChr m:val="("/>
                                  <m:sepChr m:val=""/>
                                  <m:endChr m:val=")"/>
                                  <m:grow/>
                                </m:dPr>
                                <m:e>
                                  <m:r>
                                    <m:t>t</m:t>
                                  </m:r>
                                </m:e>
                              </m:d>
                            </m:e>
                          </m:d>
                        </m:e>
                        <m:sup>
                          <m:r>
                            <m:rPr>
                              <m:sty m:val="p"/>
                            </m:rPr>
                            <m:t>−</m:t>
                          </m:r>
                          <m:r>
                            <m:t>t</m:t>
                          </m:r>
                        </m:sup>
                      </m:sSup>
                    </m:oMath>
                  </m:oMathPara>
                </a14:m>
              </a:p>
              <a:p>
                <a:pPr lvl="0" indent="0" marL="0">
                  <a:buNone/>
                </a:pPr>
                <a:r>
                  <a:rPr/>
                  <a:t>where </a:t>
                </a:r>
                <a14:m>
                  <m:oMath xmlns:m="http://schemas.openxmlformats.org/officeDocument/2006/math">
                    <m:r>
                      <m:t>C</m:t>
                    </m:r>
                    <m:sSub>
                      <m:e>
                        <m:r>
                          <m:t>F</m:t>
                        </m:r>
                      </m:e>
                      <m:sub>
                        <m:r>
                          <m:t>t</m:t>
                        </m:r>
                      </m:sub>
                    </m:sSub>
                  </m:oMath>
                </a14:m>
                <a:r>
                  <a:rPr/>
                  <a:t> is the cash flow at time </a:t>
                </a:r>
                <a14:m>
                  <m:oMath xmlns:m="http://schemas.openxmlformats.org/officeDocument/2006/math">
                    <m:r>
                      <m:t>t</m:t>
                    </m:r>
                  </m:oMath>
                </a14:m>
                <a:r>
                  <a:rPr/>
                  <a:t> (coupons plus principal at maturity). Modified duration is the derivative with respect to a </a:t>
                </a:r>
                <a:r>
                  <a:rPr b="1"/>
                  <a:t>parallel shift</a:t>
                </a:r>
                <a:r>
                  <a:rPr/>
                  <a:t> in all rates:</a:t>
                </a:r>
              </a:p>
              <a:p>
                <a:pPr lvl="0" indent="0" marL="0">
                  <a:buNone/>
                </a:pPr>
                <a14:m>
                  <m:oMathPara xmlns:m="http://schemas.openxmlformats.org/officeDocument/2006/math">
                    <m:oMathParaPr>
                      <m:jc m:val="center"/>
                    </m:oMathParaPr>
                    <m:oMath>
                      <m:sSub>
                        <m:e>
                          <m:r>
                            <m:t>D</m:t>
                          </m:r>
                        </m:e>
                        <m:sub>
                          <m:r>
                            <m:rPr>
                              <m:nor/>
                              <m:sty m:val="p"/>
                            </m:rPr>
                            <m:t>mod</m:t>
                          </m:r>
                        </m:sub>
                      </m:sSub>
                      <m:r>
                        <m:rPr>
                          <m:sty m:val="p"/>
                        </m:rPr>
                        <m:t>=</m:t>
                      </m:r>
                      <m:r>
                        <m:rPr>
                          <m:sty m:val="p"/>
                        </m:rPr>
                        <m:t>−</m:t>
                      </m:r>
                      <m:f>
                        <m:fPr>
                          <m:type m:val="bar"/>
                        </m:fPr>
                        <m:num>
                          <m:r>
                            <m:t>1</m:t>
                          </m:r>
                        </m:num>
                        <m:den>
                          <m:r>
                            <m:t>P</m:t>
                          </m:r>
                        </m:den>
                      </m:f>
                      <m:f>
                        <m:fPr>
                          <m:type m:val="bar"/>
                        </m:fPr>
                        <m:num>
                          <m:r>
                            <m:rPr>
                              <m:sty m:val="p"/>
                            </m:rPr>
                            <m:t>∂</m:t>
                          </m:r>
                          <m:r>
                            <m:t>P</m:t>
                          </m:r>
                        </m:num>
                        <m:den>
                          <m:r>
                            <m:rPr>
                              <m:sty m:val="p"/>
                            </m:rPr>
                            <m:t>∂</m:t>
                          </m:r>
                          <m:r>
                            <m:t>y</m:t>
                          </m:r>
                        </m:den>
                      </m:f>
                    </m:oMath>
                  </m:oMathPara>
                </a14:m>
              </a:p>
              <a:p>
                <a:pPr lvl="0" indent="0" marL="0">
                  <a:buNone/>
                </a:pPr>
                <a:r>
                  <a:rPr/>
                  <a:t>For small rate changes </a:t>
                </a:r>
                <a14:m>
                  <m:oMath xmlns:m="http://schemas.openxmlformats.org/officeDocument/2006/math">
                    <m:r>
                      <m:t>Δ</m:t>
                    </m:r>
                    <m:r>
                      <m:t>y</m:t>
                    </m:r>
                  </m:oMath>
                </a14:m>
                <a:r>
                  <a:rPr/>
                  <a:t>, the price change is approximately:</a:t>
                </a:r>
              </a:p>
              <a:p>
                <a:pPr lvl="0" indent="0" marL="0">
                  <a:buNone/>
                </a:pPr>
                <a14:m>
                  <m:oMathPara xmlns:m="http://schemas.openxmlformats.org/officeDocument/2006/math">
                    <m:oMathParaPr>
                      <m:jc m:val="center"/>
                    </m:oMathParaPr>
                    <m:oMath>
                      <m:r>
                        <m:t>Δ</m:t>
                      </m:r>
                      <m:r>
                        <m:t>P</m:t>
                      </m:r>
                      <m:r>
                        <m:rPr>
                          <m:sty m:val="p"/>
                        </m:rPr>
                        <m:t>≈</m:t>
                      </m:r>
                      <m:r>
                        <m:rPr>
                          <m:sty m:val="p"/>
                        </m:rPr>
                        <m:t>−</m:t>
                      </m:r>
                      <m:sSub>
                        <m:e>
                          <m:r>
                            <m:t>D</m:t>
                          </m:r>
                        </m:e>
                        <m:sub>
                          <m:r>
                            <m:rPr>
                              <m:nor/>
                              <m:sty m:val="p"/>
                            </m:rPr>
                            <m:t>mod</m:t>
                          </m:r>
                        </m:sub>
                      </m:sSub>
                      <m:r>
                        <m:rPr>
                          <m:sty m:val="p"/>
                        </m:rPr>
                        <m:t>⋅</m:t>
                      </m:r>
                      <m:r>
                        <m:t>P</m:t>
                      </m:r>
                      <m:r>
                        <m:rPr>
                          <m:sty m:val="p"/>
                        </m:rPr>
                        <m:t>⋅</m:t>
                      </m:r>
                      <m:r>
                        <m:t>Δ</m:t>
                      </m:r>
                      <m:r>
                        <m:t>y</m:t>
                      </m:r>
                    </m:oMath>
                  </m:oMathPara>
                </a14:m>
              </a:p>
              <a:p>
                <a:pPr lvl="0" indent="0" marL="0">
                  <a:buNone/>
                </a:pPr>
                <a:r>
                  <a:rPr b="1"/>
                  <a:t>Numerical computation:</a:t>
                </a:r>
                <a:r>
                  <a:rPr/>
                  <a:t> We use finite differences. Compute the price under a small upward shock (+1 bp), then:</a:t>
                </a:r>
              </a:p>
              <a:p>
                <a:pPr lvl="0" indent="0" marL="0">
                  <a:buNone/>
                </a:pPr>
                <a14:m>
                  <m:oMathPara xmlns:m="http://schemas.openxmlformats.org/officeDocument/2006/math">
                    <m:oMathParaPr>
                      <m:jc m:val="center"/>
                    </m:oMathParaPr>
                    <m:oMath>
                      <m:sSub>
                        <m:e>
                          <m:r>
                            <m:t>D</m:t>
                          </m:r>
                        </m:e>
                        <m:sub>
                          <m:r>
                            <m:rPr>
                              <m:nor/>
                              <m:sty m:val="p"/>
                            </m:rPr>
                            <m:t>mod</m:t>
                          </m:r>
                        </m:sub>
                      </m:sSub>
                      <m:r>
                        <m:rPr>
                          <m:sty m:val="p"/>
                        </m:rPr>
                        <m:t>≈</m:t>
                      </m:r>
                      <m:r>
                        <m:rPr>
                          <m:sty m:val="p"/>
                        </m:rPr>
                        <m:t>−</m:t>
                      </m:r>
                      <m:f>
                        <m:fPr>
                          <m:type m:val="bar"/>
                        </m:fPr>
                        <m:num>
                          <m:r>
                            <m:t>P</m:t>
                          </m:r>
                          <m:d>
                            <m:dPr>
                              <m:begChr m:val="("/>
                              <m:sepChr m:val=""/>
                              <m:endChr m:val=")"/>
                              <m:grow/>
                            </m:dPr>
                            <m:e>
                              <m:r>
                                <m:t>y</m:t>
                              </m:r>
                              <m:r>
                                <m:rPr>
                                  <m:sty m:val="p"/>
                                </m:rPr>
                                <m:t>+</m:t>
                              </m:r>
                              <m:r>
                                <m:t>ϵ</m:t>
                              </m:r>
                            </m:e>
                          </m:d>
                          <m:r>
                            <m:rPr>
                              <m:sty m:val="p"/>
                            </m:rPr>
                            <m:t>−</m:t>
                          </m:r>
                          <m:r>
                            <m:t>P</m:t>
                          </m:r>
                          <m:d>
                            <m:dPr>
                              <m:begChr m:val="("/>
                              <m:sepChr m:val=""/>
                              <m:endChr m:val=")"/>
                              <m:grow/>
                            </m:dPr>
                            <m:e>
                              <m:r>
                                <m:t>y</m:t>
                              </m:r>
                            </m:e>
                          </m:d>
                        </m:num>
                        <m:den>
                          <m:r>
                            <m:t>P</m:t>
                          </m:r>
                          <m:d>
                            <m:dPr>
                              <m:begChr m:val="("/>
                              <m:sepChr m:val=""/>
                              <m:endChr m:val=")"/>
                              <m:grow/>
                            </m:dPr>
                            <m:e>
                              <m:r>
                                <m:t>y</m:t>
                              </m:r>
                            </m:e>
                          </m:d>
                          <m:r>
                            <m:rPr>
                              <m:sty m:val="p"/>
                            </m:rPr>
                            <m:t>⋅</m:t>
                          </m:r>
                          <m:r>
                            <m:t>ϵ</m:t>
                          </m:r>
                        </m:den>
                      </m:f>
                      <m:r>
                        <m:rPr>
                          <m:sty m:val="p"/>
                        </m:rPr>
                        <m:t>,</m:t>
                      </m:r>
                      <m:r>
                        <m:t>  </m:t>
                      </m:r>
                      <m:r>
                        <m:t>ϵ</m:t>
                      </m:r>
                      <m:r>
                        <m:rPr>
                          <m:sty m:val="p"/>
                        </m:rPr>
                        <m:t>=</m:t>
                      </m:r>
                      <m:r>
                        <m:t>0.0001</m:t>
                      </m:r>
                    </m:oMath>
                  </m:oMathPara>
                </a14:m>
              </a:p>
            </p:txBody>
          </p:sp>
        </mc:Choice>
      </mc:AlternateContent>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Convexity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Convexity captures the </a:t>
                </a:r>
                <a:r>
                  <a:rPr b="1"/>
                  <a:t>second-order (curvature) effect</a:t>
                </a:r>
                <a:r>
                  <a:rPr/>
                  <a:t>. The price–yield relationship is not linear — it’s convex. Duration alone underestimates gains when rates fall and overestimates losses when rates rise. Convexity is the second derivative:</a:t>
                </a:r>
              </a:p>
              <a:p>
                <a:pPr lvl="0" indent="0" marL="0">
                  <a:buNone/>
                </a:pPr>
                <a14:m>
                  <m:oMathPara xmlns:m="http://schemas.openxmlformats.org/officeDocument/2006/math">
                    <m:oMathParaPr>
                      <m:jc m:val="center"/>
                    </m:oMathParaPr>
                    <m:oMath>
                      <m:r>
                        <m:rPr>
                          <m:sty m:val="p"/>
                          <m:scr m:val="script"/>
                        </m:rPr>
                        <m:t>C</m:t>
                      </m:r>
                      <m:r>
                        <m:rPr>
                          <m:sty m:val="p"/>
                        </m:rPr>
                        <m:t>=</m:t>
                      </m:r>
                      <m:f>
                        <m:fPr>
                          <m:type m:val="bar"/>
                        </m:fPr>
                        <m:num>
                          <m:r>
                            <m:t>1</m:t>
                          </m:r>
                        </m:num>
                        <m:den>
                          <m:r>
                            <m:t>P</m:t>
                          </m:r>
                        </m:den>
                      </m:f>
                      <m:f>
                        <m:fPr>
                          <m:type m:val="bar"/>
                        </m:fPr>
                        <m:num>
                          <m:sSup>
                            <m:e>
                              <m:r>
                                <m:rPr>
                                  <m:sty m:val="p"/>
                                </m:rPr>
                                <m:t>∂</m:t>
                              </m:r>
                            </m:e>
                            <m:sup>
                              <m:r>
                                <m:t>2</m:t>
                              </m:r>
                            </m:sup>
                          </m:sSup>
                          <m:r>
                            <m:t>P</m:t>
                          </m:r>
                        </m:num>
                        <m:den>
                          <m:r>
                            <m:rPr>
                              <m:sty m:val="p"/>
                            </m:rPr>
                            <m:t>∂</m:t>
                          </m:r>
                          <m:sSup>
                            <m:e>
                              <m:r>
                                <m:t>y</m:t>
                              </m:r>
                            </m:e>
                            <m:sup>
                              <m:r>
                                <m:t>2</m:t>
                              </m:r>
                            </m:sup>
                          </m:sSup>
                        </m:den>
                      </m:f>
                    </m:oMath>
                  </m:oMathPara>
                </a14:m>
              </a:p>
              <a:p>
                <a:pPr lvl="0" indent="0" marL="0">
                  <a:buNone/>
                </a:pPr>
                <a:r>
                  <a:rPr b="1"/>
                  <a:t>Numerical computation:</a:t>
                </a:r>
                <a:r>
                  <a:rPr/>
                  <a:t> Using finite differences with three price evaluations:</a:t>
                </a:r>
              </a:p>
              <a:p>
                <a:pPr lvl="0" indent="0" marL="0">
                  <a:buNone/>
                </a:pPr>
                <a14:m>
                  <m:oMathPara xmlns:m="http://schemas.openxmlformats.org/officeDocument/2006/math">
                    <m:oMathParaPr>
                      <m:jc m:val="center"/>
                    </m:oMathParaPr>
                    <m:oMath>
                      <m:r>
                        <m:rPr>
                          <m:sty m:val="p"/>
                          <m:scr m:val="script"/>
                        </m:rPr>
                        <m:t>C</m:t>
                      </m:r>
                      <m:r>
                        <m:rPr>
                          <m:sty m:val="p"/>
                        </m:rPr>
                        <m:t>≈</m:t>
                      </m:r>
                      <m:f>
                        <m:fPr>
                          <m:type m:val="bar"/>
                        </m:fPr>
                        <m:num>
                          <m:r>
                            <m:t>P</m:t>
                          </m:r>
                          <m:d>
                            <m:dPr>
                              <m:begChr m:val="("/>
                              <m:sepChr m:val=""/>
                              <m:endChr m:val=")"/>
                              <m:grow/>
                            </m:dPr>
                            <m:e>
                              <m:r>
                                <m:t>y</m:t>
                              </m:r>
                              <m:r>
                                <m:rPr>
                                  <m:sty m:val="p"/>
                                </m:rPr>
                                <m:t>+</m:t>
                              </m:r>
                              <m:r>
                                <m:t>ϵ</m:t>
                              </m:r>
                            </m:e>
                          </m:d>
                          <m:r>
                            <m:rPr>
                              <m:sty m:val="p"/>
                            </m:rPr>
                            <m:t>−</m:t>
                          </m:r>
                          <m:r>
                            <m:t>2</m:t>
                          </m:r>
                          <m:r>
                            <m:t>P</m:t>
                          </m:r>
                          <m:d>
                            <m:dPr>
                              <m:begChr m:val="("/>
                              <m:sepChr m:val=""/>
                              <m:endChr m:val=")"/>
                              <m:grow/>
                            </m:dPr>
                            <m:e>
                              <m:r>
                                <m:t>y</m:t>
                              </m:r>
                            </m:e>
                          </m:d>
                          <m:r>
                            <m:rPr>
                              <m:sty m:val="p"/>
                            </m:rPr>
                            <m:t>+</m:t>
                          </m:r>
                          <m:r>
                            <m:t>P</m:t>
                          </m:r>
                          <m:d>
                            <m:dPr>
                              <m:begChr m:val="("/>
                              <m:sepChr m:val=""/>
                              <m:endChr m:val=")"/>
                              <m:grow/>
                            </m:dPr>
                            <m:e>
                              <m:r>
                                <m:t>y</m:t>
                              </m:r>
                              <m:r>
                                <m:rPr>
                                  <m:sty m:val="p"/>
                                </m:rPr>
                                <m:t>−</m:t>
                              </m:r>
                              <m:r>
                                <m:t>ϵ</m:t>
                              </m:r>
                            </m:e>
                          </m:d>
                        </m:num>
                        <m:den>
                          <m:r>
                            <m:t>P</m:t>
                          </m:r>
                          <m:d>
                            <m:dPr>
                              <m:begChr m:val="("/>
                              <m:sepChr m:val=""/>
                              <m:endChr m:val=")"/>
                              <m:grow/>
                            </m:dPr>
                            <m:e>
                              <m:r>
                                <m:t>y</m:t>
                              </m:r>
                            </m:e>
                          </m:d>
                          <m:r>
                            <m:rPr>
                              <m:sty m:val="p"/>
                            </m:rPr>
                            <m:t>⋅</m:t>
                          </m:r>
                          <m:sSup>
                            <m:e>
                              <m:r>
                                <m:t>ϵ</m:t>
                              </m:r>
                            </m:e>
                            <m:sup>
                              <m:r>
                                <m:t>2</m:t>
                              </m:r>
                            </m:sup>
                          </m:sSup>
                        </m:den>
                      </m:f>
                    </m:oMath>
                  </m:oMathPara>
                </a14:m>
              </a:p>
              <a:p>
                <a:pPr lvl="0" indent="0" marL="0">
                  <a:buNone/>
                </a:pPr>
                <a:r>
                  <a:rPr/>
                  <a:t>For a rate shock </a:t>
                </a:r>
                <a14:m>
                  <m:oMath xmlns:m="http://schemas.openxmlformats.org/officeDocument/2006/math">
                    <m:r>
                      <m:t>Δ</m:t>
                    </m:r>
                    <m:r>
                      <m:t>y</m:t>
                    </m:r>
                  </m:oMath>
                </a14:m>
                <a:r>
                  <a:rPr/>
                  <a:t>, the </a:t>
                </a:r>
                <a:r>
                  <a:rPr b="1"/>
                  <a:t>Taylor expansion</a:t>
                </a:r>
                <a:r>
                  <a:rPr/>
                  <a:t> gives the full price approximation:</a:t>
                </a:r>
              </a:p>
              <a:p>
                <a:pPr lvl="0" indent="0" marL="0">
                  <a:buNone/>
                </a:pPr>
                <a14:m>
                  <m:oMathPara xmlns:m="http://schemas.openxmlformats.org/officeDocument/2006/math">
                    <m:oMathParaPr>
                      <m:jc m:val="center"/>
                    </m:oMathParaPr>
                    <m:oMath>
                      <m:f>
                        <m:fPr>
                          <m:type m:val="bar"/>
                        </m:fPr>
                        <m:num>
                          <m:r>
                            <m:t>Δ</m:t>
                          </m:r>
                          <m:r>
                            <m:t>P</m:t>
                          </m:r>
                        </m:num>
                        <m:den>
                          <m:r>
                            <m:t>P</m:t>
                          </m:r>
                        </m:den>
                      </m:f>
                      <m:r>
                        <m:rPr>
                          <m:sty m:val="p"/>
                        </m:rPr>
                        <m:t>≈</m:t>
                      </m:r>
                      <m:r>
                        <m:rPr>
                          <m:sty m:val="p"/>
                        </m:rPr>
                        <m:t>−</m:t>
                      </m:r>
                      <m:sSub>
                        <m:e>
                          <m:r>
                            <m:t>D</m:t>
                          </m:r>
                        </m:e>
                        <m:sub>
                          <m:r>
                            <m:rPr>
                              <m:nor/>
                              <m:sty m:val="p"/>
                            </m:rPr>
                            <m:t>mod</m:t>
                          </m:r>
                        </m:sub>
                      </m:sSub>
                      <m:r>
                        <m:rPr>
                          <m:sty m:val="p"/>
                        </m:rPr>
                        <m:t>⋅</m:t>
                      </m:r>
                      <m:r>
                        <m:t>Δ</m:t>
                      </m:r>
                      <m:r>
                        <m:t>y</m:t>
                      </m:r>
                      <m:r>
                        <m:rPr>
                          <m:sty m:val="p"/>
                        </m:rPr>
                        <m:t>+</m:t>
                      </m:r>
                      <m:f>
                        <m:fPr>
                          <m:type m:val="bar"/>
                        </m:fPr>
                        <m:num>
                          <m:r>
                            <m:t>1</m:t>
                          </m:r>
                        </m:num>
                        <m:den>
                          <m:r>
                            <m:t>2</m:t>
                          </m:r>
                        </m:den>
                      </m:f>
                      <m:r>
                        <m:t> </m:t>
                      </m:r>
                      <m:r>
                        <m:rPr>
                          <m:sty m:val="p"/>
                          <m:scr m:val="script"/>
                        </m:rPr>
                        <m:t>C</m:t>
                      </m:r>
                      <m:r>
                        <m:rPr>
                          <m:sty m:val="p"/>
                        </m:rPr>
                        <m:t>⋅</m:t>
                      </m:r>
                      <m:sSup>
                        <m:e>
                          <m:d>
                            <m:dPr>
                              <m:begChr m:val="("/>
                              <m:sepChr m:val=""/>
                              <m:endChr m:val=")"/>
                              <m:grow/>
                            </m:dPr>
                            <m:e>
                              <m:r>
                                <m:t>Δ</m:t>
                              </m:r>
                              <m:r>
                                <m:t>y</m:t>
                              </m:r>
                            </m:e>
                          </m:d>
                        </m:e>
                        <m:sup>
                          <m:r>
                            <m:t>2</m:t>
                          </m:r>
                        </m:sup>
                      </m:sSup>
                    </m:oMath>
                  </m:oMathPara>
                </a14:m>
              </a:p>
              <a:p>
                <a:pPr lvl="0" indent="0" marL="0">
                  <a:buNone/>
                </a:pPr>
                <a:r>
                  <a:rPr/>
                  <a:t>The first term is the duration effect (linear). The second term is the convexity adjustment (quadratic). For large rate moves, ignoring convexity can lead to significant pricing errors.</a:t>
                </a:r>
              </a:p>
              <a:p>
                <a:pPr lvl="0" indent="0">
                  <a:buNone/>
                </a:pPr>
                <a:r>
                  <a:rPr>
                    <a:latin typeface="Courier"/>
                  </a:rPr>
                  <a:t>dur </a:t>
                </a:r>
                <a:r>
                  <a:rPr>
                    <a:solidFill>
                      <a:srgbClr val="666666"/>
                    </a:solidFill>
                    <a:latin typeface="Courier"/>
                  </a:rPr>
                  <a:t>=</a:t>
                </a:r>
                <a:r>
                  <a:rPr>
                    <a:latin typeface="Courier"/>
                  </a:rPr>
                  <a:t> bond_duration(</a:t>
                </a:r>
                <a:r>
                  <a:rPr>
                    <a:solidFill>
                      <a:srgbClr val="40A070"/>
                    </a:solidFill>
                    <a:latin typeface="Courier"/>
                  </a:rPr>
                  <a:t>5</a:t>
                </a:r>
                <a:r>
                  <a:rPr>
                    <a:latin typeface="Courier"/>
                  </a:rPr>
                  <a:t>, </a:t>
                </a:r>
                <a:r>
                  <a:rPr>
                    <a:solidFill>
                      <a:srgbClr val="40A070"/>
                    </a:solidFill>
                    <a:latin typeface="Courier"/>
                  </a:rPr>
                  <a:t>0.03</a:t>
                </a:r>
                <a:r>
                  <a:rPr>
                    <a:latin typeface="Courier"/>
                  </a:rPr>
                  <a:t>, </a:t>
                </a:r>
                <a:r>
                  <a:rPr>
                    <a:solidFill>
                      <a:srgbClr val="40A070"/>
                    </a:solidFill>
                    <a:latin typeface="Courier"/>
                  </a:rPr>
                  <a:t>100</a:t>
                </a:r>
                <a:r>
                  <a:rPr>
                    <a:latin typeface="Courier"/>
                  </a:rPr>
                  <a:t>, spline_curve)</a:t>
                </a:r>
                <a:br/>
                <a:r>
                  <a:rPr>
                    <a:latin typeface="Courier"/>
                  </a:rPr>
                  <a:t>cvx </a:t>
                </a:r>
                <a:r>
                  <a:rPr>
                    <a:solidFill>
                      <a:srgbClr val="666666"/>
                    </a:solidFill>
                    <a:latin typeface="Courier"/>
                  </a:rPr>
                  <a:t>=</a:t>
                </a:r>
                <a:r>
                  <a:rPr>
                    <a:latin typeface="Courier"/>
                  </a:rPr>
                  <a:t> bond_convexity(</a:t>
                </a:r>
                <a:r>
                  <a:rPr>
                    <a:solidFill>
                      <a:srgbClr val="40A070"/>
                    </a:solidFill>
                    <a:latin typeface="Courier"/>
                  </a:rPr>
                  <a:t>5</a:t>
                </a:r>
                <a:r>
                  <a:rPr>
                    <a:latin typeface="Courier"/>
                  </a:rPr>
                  <a:t>, </a:t>
                </a:r>
                <a:r>
                  <a:rPr>
                    <a:solidFill>
                      <a:srgbClr val="40A070"/>
                    </a:solidFill>
                    <a:latin typeface="Courier"/>
                  </a:rPr>
                  <a:t>0.03</a:t>
                </a:r>
                <a:r>
                  <a:rPr>
                    <a:latin typeface="Courier"/>
                  </a:rPr>
                  <a:t>, </a:t>
                </a:r>
                <a:r>
                  <a:rPr>
                    <a:solidFill>
                      <a:srgbClr val="40A070"/>
                    </a:solidFill>
                    <a:latin typeface="Courier"/>
                  </a:rPr>
                  <a:t>100</a:t>
                </a:r>
                <a:r>
                  <a:rPr>
                    <a:latin typeface="Courier"/>
                  </a:rPr>
                  <a:t>, spline_curve)</a:t>
                </a:r>
                <a:br/>
                <a:br/>
                <a:r>
                  <a:rPr>
                    <a:solidFill>
                      <a:srgbClr val="008000"/>
                    </a:solidFill>
                    <a:latin typeface="Courier"/>
                  </a:rPr>
                  <a:t>print</a:t>
                </a:r>
                <a:r>
                  <a:rPr>
                    <a:latin typeface="Courier"/>
                  </a:rPr>
                  <a:t>(</a:t>
                </a:r>
                <a:r>
                  <a:rPr>
                    <a:solidFill>
                      <a:srgbClr val="BB6688"/>
                    </a:solidFill>
                    <a:latin typeface="Courier"/>
                  </a:rPr>
                  <a:t>f"Modified Duration : </a:t>
                </a:r>
                <a:r>
                  <a:rPr>
                    <a:solidFill>
                      <a:srgbClr val="4070A0"/>
                    </a:solidFill>
                    <a:latin typeface="Courier"/>
                  </a:rPr>
                  <a:t>{</a:t>
                </a:r>
                <a:r>
                  <a:rPr>
                    <a:latin typeface="Courier"/>
                  </a:rPr>
                  <a:t>dur</a:t>
                </a:r>
                <a:r>
                  <a:rPr>
                    <a:solidFill>
                      <a:srgbClr val="4070A0"/>
                    </a:solidFill>
                    <a:latin typeface="Courier"/>
                  </a:rPr>
                  <a:t>:.4f}</a:t>
                </a:r>
                <a:r>
                  <a:rPr>
                    <a:solidFill>
                      <a:srgbClr val="BB6688"/>
                    </a:solidFill>
                    <a:latin typeface="Courier"/>
                  </a:rPr>
                  <a:t> years"</a:t>
                </a:r>
                <a:r>
                  <a:rPr>
                    <a:latin typeface="Courier"/>
                  </a:rPr>
                  <a:t>)</a:t>
                </a:r>
                <a:br/>
                <a:r>
                  <a:rPr>
                    <a:solidFill>
                      <a:srgbClr val="008000"/>
                    </a:solidFill>
                    <a:latin typeface="Courier"/>
                  </a:rPr>
                  <a:t>print</a:t>
                </a:r>
                <a:r>
                  <a:rPr>
                    <a:latin typeface="Courier"/>
                  </a:rPr>
                  <a:t>(</a:t>
                </a:r>
                <a:r>
                  <a:rPr>
                    <a:solidFill>
                      <a:srgbClr val="BB6688"/>
                    </a:solidFill>
                    <a:latin typeface="Courier"/>
                  </a:rPr>
                  <a:t>f"Convexity         : </a:t>
                </a:r>
                <a:r>
                  <a:rPr>
                    <a:solidFill>
                      <a:srgbClr val="4070A0"/>
                    </a:solidFill>
                    <a:latin typeface="Courier"/>
                  </a:rPr>
                  <a:t>{</a:t>
                </a:r>
                <a:r>
                  <a:rPr>
                    <a:latin typeface="Courier"/>
                  </a:rPr>
                  <a:t>cvx</a:t>
                </a:r>
                <a:r>
                  <a:rPr>
                    <a:solidFill>
                      <a:srgbClr val="4070A0"/>
                    </a:solidFill>
                    <a:latin typeface="Courier"/>
                  </a:rPr>
                  <a:t>:.4f}</a:t>
                </a:r>
                <a:r>
                  <a:rPr>
                    <a:solidFill>
                      <a:srgbClr val="BB6688"/>
                    </a:solidFill>
                    <a:latin typeface="Courier"/>
                  </a:rPr>
                  <a:t>"</a:t>
                </a:r>
                <a:r>
                  <a:rPr>
                    <a:latin typeface="Courier"/>
                  </a:rPr>
                  <a:t>)</a:t>
                </a:r>
                <a:br/>
                <a:br/>
                <a:r>
                  <a:rPr>
                    <a:latin typeface="Courier"/>
                  </a:rPr>
                  <a:t>shock </a:t>
                </a:r>
                <a:r>
                  <a:rPr>
                    <a:solidFill>
                      <a:srgbClr val="666666"/>
                    </a:solidFill>
                    <a:latin typeface="Courier"/>
                  </a:rPr>
                  <a:t>=</a:t>
                </a:r>
                <a:r>
                  <a:rPr>
                    <a:latin typeface="Courier"/>
                  </a:rPr>
                  <a:t> </a:t>
                </a:r>
                <a:r>
                  <a:rPr>
                    <a:solidFill>
                      <a:srgbClr val="40A070"/>
                    </a:solidFill>
                    <a:latin typeface="Courier"/>
                  </a:rPr>
                  <a:t>0.01</a:t>
                </a:r>
                <a:br/>
                <a:r>
                  <a:rPr>
                    <a:latin typeface="Courier"/>
                  </a:rPr>
                  <a:t>price_approx_change </a:t>
                </a:r>
                <a:r>
                  <a:rPr>
                    <a:solidFill>
                      <a:srgbClr val="666666"/>
                    </a:solidFill>
                    <a:latin typeface="Courier"/>
                  </a:rPr>
                  <a:t>=</a:t>
                </a:r>
                <a:r>
                  <a:rPr>
                    <a:latin typeface="Courier"/>
                  </a:rPr>
                  <a:t> (</a:t>
                </a:r>
                <a:r>
                  <a:rPr>
                    <a:solidFill>
                      <a:srgbClr val="666666"/>
                    </a:solidFill>
                    <a:latin typeface="Courier"/>
                  </a:rPr>
                  <a:t>-</a:t>
                </a:r>
                <a:r>
                  <a:rPr>
                    <a:latin typeface="Courier"/>
                  </a:rPr>
                  <a:t>dur </a:t>
                </a:r>
                <a:r>
                  <a:rPr>
                    <a:solidFill>
                      <a:srgbClr val="666666"/>
                    </a:solidFill>
                    <a:latin typeface="Courier"/>
                  </a:rPr>
                  <a:t>*</a:t>
                </a:r>
                <a:r>
                  <a:rPr>
                    <a:latin typeface="Courier"/>
                  </a:rPr>
                  <a:t> shock </a:t>
                </a:r>
                <a:r>
                  <a:rPr>
                    <a:solidFill>
                      <a:srgbClr val="666666"/>
                    </a:solidFill>
                    <a:latin typeface="Courier"/>
                  </a:rPr>
                  <a:t>+</a:t>
                </a:r>
                <a:r>
                  <a:rPr>
                    <a:latin typeface="Courier"/>
                  </a:rPr>
                  <a:t> </a:t>
                </a:r>
                <a:r>
                  <a:rPr>
                    <a:solidFill>
                      <a:srgbClr val="40A070"/>
                    </a:solidFill>
                    <a:latin typeface="Courier"/>
                  </a:rPr>
                  <a:t>0.5</a:t>
                </a:r>
                <a:r>
                  <a:rPr>
                    <a:latin typeface="Courier"/>
                  </a:rPr>
                  <a:t> </a:t>
                </a:r>
                <a:r>
                  <a:rPr>
                    <a:solidFill>
                      <a:srgbClr val="666666"/>
                    </a:solidFill>
                    <a:latin typeface="Courier"/>
                  </a:rPr>
                  <a:t>*</a:t>
                </a:r>
                <a:r>
                  <a:rPr>
                    <a:latin typeface="Courier"/>
                  </a:rPr>
                  <a:t> cvx </a:t>
                </a:r>
                <a:r>
                  <a:rPr>
                    <a:solidFill>
                      <a:srgbClr val="666666"/>
                    </a:solidFill>
                    <a:latin typeface="Courier"/>
                  </a:rPr>
                  <a:t>*</a:t>
                </a:r>
                <a:r>
                  <a:rPr>
                    <a:latin typeface="Courier"/>
                  </a:rPr>
                  <a:t> shock</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a:t>
                </a:r>
                <a:r>
                  <a:rPr>
                    <a:latin typeface="Courier"/>
                  </a:rPr>
                  <a:t> </a:t>
                </a:r>
                <a:r>
                  <a:rPr>
                    <a:solidFill>
                      <a:srgbClr val="40A070"/>
                    </a:solidFill>
                    <a:latin typeface="Courier"/>
                  </a:rPr>
                  <a:t>100</a:t>
                </a:r>
                <a:br/>
                <a:r>
                  <a:rPr>
                    <a:solidFill>
                      <a:srgbClr val="008000"/>
                    </a:solidFill>
                    <a:latin typeface="Courier"/>
                  </a:rPr>
                  <a:t>print</a:t>
                </a:r>
                <a:r>
                  <a:rPr>
                    <a:latin typeface="Courier"/>
                  </a:rPr>
                  <a:t>(</a:t>
                </a:r>
                <a:r>
                  <a:rPr>
                    <a:solidFill>
                      <a:srgbClr val="BB6688"/>
                    </a:solidFill>
                    <a:latin typeface="Courier"/>
                  </a:rPr>
                  <a:t>f"</a:t>
                </a:r>
                <a:r>
                  <a:rPr>
                    <a:solidFill>
                      <a:srgbClr val="4070A0"/>
                    </a:solidFill>
                    <a:latin typeface="Courier"/>
                  </a:rPr>
                  <a:t>\n</a:t>
                </a:r>
                <a:r>
                  <a:rPr>
                    <a:solidFill>
                      <a:srgbClr val="BB6688"/>
                    </a:solidFill>
                    <a:latin typeface="Courier"/>
                  </a:rPr>
                  <a:t>Estimated price change for +100 bps shock: </a:t>
                </a:r>
                <a:r>
                  <a:rPr>
                    <a:solidFill>
                      <a:srgbClr val="4070A0"/>
                    </a:solidFill>
                    <a:latin typeface="Courier"/>
                  </a:rPr>
                  <a:t>{</a:t>
                </a:r>
                <a:r>
                  <a:rPr>
                    <a:latin typeface="Courier"/>
                  </a:rPr>
                  <a:t>price_approx_change</a:t>
                </a:r>
                <a:r>
                  <a:rPr>
                    <a:solidFill>
                      <a:srgbClr val="4070A0"/>
                    </a:solidFill>
                    <a:latin typeface="Courier"/>
                  </a:rPr>
                  <a:t>:.4f}</a:t>
                </a:r>
                <a:r>
                  <a:rPr>
                    <a:solidFill>
                      <a:srgbClr val="BB6688"/>
                    </a:solidFill>
                    <a:latin typeface="Courier"/>
                  </a:rPr>
                  <a:t>%"</a:t>
                </a:r>
                <a:r>
                  <a:rPr>
                    <a:latin typeface="Courier"/>
                  </a:rPr>
                  <a:t>)</a:t>
                </a:r>
              </a:p>
              <a:p>
                <a:pPr lvl="0" indent="0">
                  <a:buNone/>
                </a:pPr>
                <a:r>
                  <a:rPr>
                    <a:latin typeface="Courier"/>
                  </a:rPr>
                  <a:t>Modified Duration : 4.5419 years
Convexity         : 25.7583
Estimated price change for +100 bps shock: -4.4131%</a:t>
                </a:r>
              </a:p>
            </p:txBody>
          </p:sp>
        </mc:Choice>
      </mc:AlternateContent>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Stress Testing</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 What is stress testing in fixed income?</a:t>
            </a:r>
          </a:p>
          <a:p>
            <a:pPr lvl="0" indent="0" marL="1270000">
              <a:buNone/>
            </a:pPr>
            <a:r>
              <a:rPr sz="2000"/>
              <a:t>Stress testing asks: </a:t>
            </a:r>
            <a:r>
              <a:rPr sz="2000" i="1"/>
              <a:t>what happens to my portfolio if rates move in an extreme but plausible way?</a:t>
            </a:r>
            <a:r>
              <a:rPr sz="2000"/>
              <a:t> Regulators (Basel, Solvency II) require institutions to demonstrate resilience under predefined shocks. The standard scenarios are parallel shifts (rates move uniformly) and curve reshapings (steepeners, flatteners).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Parallel Shift</a:t>
            </a:r>
          </a:p>
        </p:txBody>
      </p:sp>
      <p:sp>
        <p:nvSpPr>
          <p:cNvPr id="3" name="Content Placeholder 2"/>
          <p:cNvSpPr>
            <a:spLocks noGrp="1"/>
          </p:cNvSpPr>
          <p:nvPr>
            <p:ph idx="1"/>
          </p:nvPr>
        </p:nvSpPr>
        <p:spPr/>
        <p:txBody>
          <a:bodyPr/>
          <a:lstStyle/>
          <a:p>
            <a:pPr lvl="0" indent="0" marL="0">
              <a:buNone/>
            </a:pPr>
            <a:r>
              <a:rPr/>
              <a:t>A parallel shift moves all rates by the same amount across all maturities.</a:t>
            </a:r>
          </a:p>
          <a:p>
            <a:pPr lvl="0" indent="0">
              <a:buNone/>
            </a:pPr>
            <a:r>
              <a:rPr>
                <a:latin typeface="Courier"/>
              </a:rPr>
              <a:t>fig_stress </a:t>
            </a:r>
            <a:r>
              <a:rPr>
                <a:solidFill>
                  <a:srgbClr val="666666"/>
                </a:solidFill>
                <a:latin typeface="Courier"/>
              </a:rPr>
              <a:t>=</a:t>
            </a:r>
            <a:r>
              <a:rPr>
                <a:latin typeface="Courier"/>
              </a:rPr>
              <a:t> plot_stress_test_interactive(</a:t>
            </a:r>
            <a:br/>
            <a:r>
              <a:rPr>
                <a:latin typeface="Courier"/>
              </a:rPr>
              <a:t>    maturity</a:t>
            </a:r>
            <a:r>
              <a:rPr>
                <a:solidFill>
                  <a:srgbClr val="666666"/>
                </a:solidFill>
                <a:latin typeface="Courier"/>
              </a:rPr>
              <a:t>=</a:t>
            </a:r>
            <a:r>
              <a:rPr>
                <a:solidFill>
                  <a:srgbClr val="40A070"/>
                </a:solidFill>
                <a:latin typeface="Courier"/>
              </a:rPr>
              <a:t>5</a:t>
            </a:r>
            <a:r>
              <a:rPr>
                <a:latin typeface="Courier"/>
              </a:rPr>
              <a:t>,</a:t>
            </a:r>
            <a:br/>
            <a:r>
              <a:rPr>
                <a:latin typeface="Courier"/>
              </a:rPr>
              <a:t>    coupon_rate</a:t>
            </a:r>
            <a:r>
              <a:rPr>
                <a:solidFill>
                  <a:srgbClr val="666666"/>
                </a:solidFill>
                <a:latin typeface="Courier"/>
              </a:rPr>
              <a:t>=</a:t>
            </a:r>
            <a:r>
              <a:rPr>
                <a:solidFill>
                  <a:srgbClr val="40A070"/>
                </a:solidFill>
                <a:latin typeface="Courier"/>
              </a:rPr>
              <a:t>0.03</a:t>
            </a:r>
            <a:r>
              <a:rPr>
                <a:latin typeface="Courier"/>
              </a:rPr>
              <a:t>,</a:t>
            </a:r>
            <a:br/>
            <a:r>
              <a:rPr>
                <a:latin typeface="Courier"/>
              </a:rPr>
              <a:t>    face_value</a:t>
            </a:r>
            <a:r>
              <a:rPr>
                <a:solidFill>
                  <a:srgbClr val="666666"/>
                </a:solidFill>
                <a:latin typeface="Courier"/>
              </a:rPr>
              <a:t>=</a:t>
            </a:r>
            <a:r>
              <a:rPr>
                <a:solidFill>
                  <a:srgbClr val="40A070"/>
                </a:solidFill>
                <a:latin typeface="Courier"/>
              </a:rPr>
              <a:t>100</a:t>
            </a:r>
            <a:r>
              <a:rPr>
                <a:latin typeface="Courier"/>
              </a:rPr>
              <a:t>,</a:t>
            </a:r>
            <a:br/>
            <a:r>
              <a:rPr>
                <a:latin typeface="Courier"/>
              </a:rPr>
              <a:t>    curve</a:t>
            </a:r>
            <a:r>
              <a:rPr>
                <a:solidFill>
                  <a:srgbClr val="666666"/>
                </a:solidFill>
                <a:latin typeface="Courier"/>
              </a:rPr>
              <a:t>=</a:t>
            </a:r>
            <a:r>
              <a:rPr>
                <a:latin typeface="Courier"/>
              </a:rPr>
              <a:t>spline_curve,</a:t>
            </a:r>
            <a:br/>
            <a:r>
              <a:rPr>
                <a:latin typeface="Courier"/>
              </a:rPr>
              <a:t>    shock</a:t>
            </a:r>
            <a:r>
              <a:rPr>
                <a:solidFill>
                  <a:srgbClr val="666666"/>
                </a:solidFill>
                <a:latin typeface="Courier"/>
              </a:rPr>
              <a:t>=</a:t>
            </a:r>
            <a:r>
              <a:rPr>
                <a:solidFill>
                  <a:srgbClr val="40A070"/>
                </a:solidFill>
                <a:latin typeface="Courier"/>
              </a:rPr>
              <a:t>0.01</a:t>
            </a:r>
            <a:br/>
            <a:r>
              <a:rPr>
                <a:latin typeface="Courier"/>
              </a:rPr>
              <a:t>)</a:t>
            </a:r>
          </a:p>
          <a:p>
            <a:pPr lvl="0" indent="0">
              <a:buNone/>
            </a:pPr>
            <a:r>
              <a:rPr>
                <a:latin typeface="Courier"/>
              </a:rPr>
              <a:t>Unable to display output for mime type(s): text/html</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Scenario Grid</a:t>
            </a:r>
          </a:p>
        </p:txBody>
      </p:sp>
      <p:sp>
        <p:nvSpPr>
          <p:cNvPr id="3" name="Content Placeholder 2"/>
          <p:cNvSpPr>
            <a:spLocks noGrp="1"/>
          </p:cNvSpPr>
          <p:nvPr>
            <p:ph idx="1"/>
          </p:nvPr>
        </p:nvSpPr>
        <p:spPr/>
        <p:txBody>
          <a:bodyPr/>
          <a:lstStyle/>
          <a:p>
            <a:pPr lvl="0" indent="0" marL="0">
              <a:buNone/>
            </a:pPr>
            <a:r>
              <a:rPr/>
              <a:t>We test three scenarios on a mixed portfolio (2Y/5Y/10Y bonds):</a:t>
            </a:r>
          </a:p>
          <a:p>
            <a:pPr lvl="0" indent="0">
              <a:buNone/>
            </a:pPr>
            <a:r>
              <a:rPr>
                <a:latin typeface="Courier"/>
              </a:rPr>
              <a:t>fig_grid </a:t>
            </a:r>
            <a:r>
              <a:rPr>
                <a:solidFill>
                  <a:srgbClr val="666666"/>
                </a:solidFill>
                <a:latin typeface="Courier"/>
              </a:rPr>
              <a:t>=</a:t>
            </a:r>
            <a:r>
              <a:rPr>
                <a:latin typeface="Courier"/>
              </a:rPr>
              <a:t> plot_scenario_grid_interactive(portfolio, </a:t>
            </a:r>
            <a:r>
              <a:rPr>
                <a:solidFill>
                  <a:srgbClr val="40A070"/>
                </a:solidFill>
                <a:latin typeface="Courier"/>
              </a:rPr>
              <a:t>100</a:t>
            </a:r>
            <a:r>
              <a:rPr>
                <a:latin typeface="Courier"/>
              </a:rPr>
              <a:t>, spline_curve)</a:t>
            </a:r>
          </a:p>
          <a:p>
            <a:pPr lvl="0" indent="0">
              <a:buNone/>
            </a:pPr>
            <a:r>
              <a:rPr>
                <a:latin typeface="Courier"/>
              </a:rPr>
              <a:t>Unable to display output for mime type(s): text/html</a:t>
            </a:r>
          </a:p>
          <a:p>
            <a:pPr lvl="0" indent="0" marL="1270000">
              <a:buNone/>
            </a:pPr>
            <a:r>
              <a:rPr sz="2000" b="1"/>
              <a:t>Interpreting the results:</a:t>
            </a:r>
            <a:r>
              <a:rPr sz="2000"/>
              <a:t> A parallel +100 bps shock is the most severe scenario. The steepener is less damaging because short-end rates are unchanged, the portfolio’s short-duration bonds act as a partial hedge.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Monte Carlo Value-at-Risk</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 What is Value-at-Risk (VaR)?</a:t>
                </a:r>
              </a:p>
              <a:p>
                <a:pPr lvl="0" indent="0" marL="1270000">
                  <a:buNone/>
                </a:pPr>
                <a:r>
                  <a:rPr sz="2000"/>
                  <a:t>VaR answers: </a:t>
                </a:r>
                <a:r>
                  <a:rPr sz="2000" i="1"/>
                  <a:t>what is the maximum loss I should expect to suffer in 95% of scenarios?</a:t>
                </a:r>
                <a:r>
                  <a:rPr sz="2000"/>
                  <a:t> Here we run 2 000 random interest rate shocks drawn from a normal distribution, reprice the full portfolio under each shock, and read the 95th percentile of the loss distribution.</a:t>
                </a:r>
              </a:p>
              <a:p>
                <a:pPr lvl="0" indent="0" marL="0">
                  <a:buNone/>
                </a:pPr>
                <a:r>
                  <a:rPr/>
                  <a:t>Interest rate shocks are simulated as:</a:t>
                </a:r>
              </a:p>
              <a:p>
                <a:pPr lvl="0" indent="0" marL="0">
                  <a:buNone/>
                </a:pPr>
                <a14:m>
                  <m:oMathPara xmlns:m="http://schemas.openxmlformats.org/officeDocument/2006/math">
                    <m:oMathParaPr>
                      <m:jc m:val="center"/>
                    </m:oMathParaPr>
                    <m:oMath>
                      <m:r>
                        <m:t>Δ</m:t>
                      </m:r>
                      <m:r>
                        <m:t>r</m:t>
                      </m:r>
                      <m:r>
                        <m:rPr>
                          <m:sty m:val="p"/>
                        </m:rPr>
                        <m:t>∼</m:t>
                      </m:r>
                      <m:r>
                        <m:rPr>
                          <m:sty m:val="p"/>
                          <m:scr m:val="script"/>
                        </m:rPr>
                        <m:t>N</m:t>
                      </m:r>
                      <m:d>
                        <m:dPr>
                          <m:begChr m:val="("/>
                          <m:sepChr m:val=""/>
                          <m:endChr m:val=")"/>
                          <m:grow/>
                        </m:dPr>
                        <m:e>
                          <m:r>
                            <m:t>0</m:t>
                          </m:r>
                          <m:r>
                            <m:rPr>
                              <m:sty m:val="p"/>
                            </m:rPr>
                            <m:t>,</m:t>
                          </m:r>
                          <m:r>
                            <m:t> </m:t>
                          </m:r>
                          <m:sSup>
                            <m:e>
                              <m:r>
                                <m:t>σ</m:t>
                              </m:r>
                            </m:e>
                            <m:sup>
                              <m:r>
                                <m:t>2</m:t>
                              </m:r>
                            </m:sup>
                          </m:sSup>
                        </m:e>
                      </m:d>
                      <m:r>
                        <m:rPr>
                          <m:sty m:val="p"/>
                        </m:rPr>
                        <m:t>,</m:t>
                      </m:r>
                      <m:r>
                        <m:t>  </m:t>
                      </m:r>
                      <m:r>
                        <m:t>σ</m:t>
                      </m:r>
                      <m:r>
                        <m:rPr>
                          <m:sty m:val="p"/>
                        </m:rPr>
                        <m:t>=</m:t>
                      </m:r>
                      <m:r>
                        <m:t>100</m:t>
                      </m:r>
                      <m:r>
                        <m:rPr>
                          <m:nor/>
                          <m:sty m:val="p"/>
                        </m:rPr>
                        <m:t> bps</m:t>
                      </m:r>
                    </m:oMath>
                  </m:oMathPara>
                </a14:m>
              </a:p>
              <a:p>
                <a:pPr lvl="0" indent="0" marL="0">
                  <a:buNone/>
                </a:pPr>
                <a:r>
                  <a:rPr/>
                  <a:t>Portfolio losses are computed as:</a:t>
                </a:r>
              </a:p>
              <a:p>
                <a:pPr lvl="0" indent="0" marL="0">
                  <a:buNone/>
                </a:pPr>
                <a14:m>
                  <m:oMathPara xmlns:m="http://schemas.openxmlformats.org/officeDocument/2006/math">
                    <m:oMathParaPr>
                      <m:jc m:val="center"/>
                    </m:oMathParaPr>
                    <m:oMath>
                      <m:sSub>
                        <m:e>
                          <m:r>
                            <m:rPr>
                              <m:nor/>
                              <m:sty m:val="p"/>
                            </m:rPr>
                            <m:t>Loss</m:t>
                          </m:r>
                        </m:e>
                        <m:sub>
                          <m:r>
                            <m:t>i</m:t>
                          </m:r>
                        </m:sub>
                      </m:sSub>
                      <m:r>
                        <m:rPr>
                          <m:sty m:val="p"/>
                        </m:rPr>
                        <m:t>=</m:t>
                      </m:r>
                      <m:sSub>
                        <m:e>
                          <m:r>
                            <m:t>V</m:t>
                          </m:r>
                        </m:e>
                        <m:sub>
                          <m:r>
                            <m:t>0</m:t>
                          </m:r>
                        </m:sub>
                      </m:sSub>
                      <m:r>
                        <m:rPr>
                          <m:sty m:val="p"/>
                        </m:rPr>
                        <m:t>−</m:t>
                      </m:r>
                      <m:sSub>
                        <m:e>
                          <m:r>
                            <m:t>V</m:t>
                          </m:r>
                        </m:e>
                        <m:sub>
                          <m:r>
                            <m:rPr>
                              <m:nor/>
                              <m:sty m:val="p"/>
                            </m:rPr>
                            <m:t>shocked</m:t>
                          </m:r>
                          <m:r>
                            <m:rPr>
                              <m:sty m:val="p"/>
                            </m:rPr>
                            <m:t>,</m:t>
                          </m:r>
                          <m:r>
                            <m:t>i</m:t>
                          </m:r>
                        </m:sub>
                      </m:sSub>
                    </m:oMath>
                  </m:oMathPara>
                </a14:m>
              </a:p>
              <a:p>
                <a:pPr lvl="0" indent="0" marL="0">
                  <a:buNone/>
                </a:pPr>
                <a:r>
                  <a:rPr b="1"/>
                  <a:t>Assumption and limitations:</a:t>
                </a:r>
                <a:r>
                  <a:rPr/>
                  <a:t> The normal distribution assumption is a simplification widely used for tractability. However, empirical evidence shows that interest rate changes exhibit </a:t>
                </a:r>
                <a:r>
                  <a:rPr b="1"/>
                  <a:t>fat tails</a:t>
                </a:r>
                <a:r>
                  <a:rPr/>
                  <a:t> (extreme events occur more frequently than normal theory predicts) and </a:t>
                </a:r>
                <a:r>
                  <a:rPr b="1"/>
                  <a:t>volatility clustering</a:t>
                </a:r>
                <a:r>
                  <a:rPr/>
                  <a:t> (large moves tend to follow large moves). During the 2022–2023 Fed hiking cycle, weekly rate changes exceeding ±50 bps occurred multiple times, events the normal model would classify as 5-sigma outliers. More realistic alternatives include Student’s t-distribution (captures fat tails), GARCH models (time-varying volatility), or empirical bootstrapping from historical shocks. We retain the normal assumption for pedagogical clarity, but acknowledge it underestimates tail risk.</a:t>
                </a:r>
              </a:p>
              <a:p>
                <a:pPr lvl="0" indent="0">
                  <a:buNone/>
                </a:pPr>
                <a:r>
                  <a:rPr>
                    <a:latin typeface="Courier"/>
                  </a:rPr>
                  <a:t>np.random.seed(</a:t>
                </a:r>
                <a:r>
                  <a:rPr>
                    <a:solidFill>
                      <a:srgbClr val="40A070"/>
                    </a:solidFill>
                    <a:latin typeface="Courier"/>
                  </a:rPr>
                  <a:t>42</a:t>
                </a:r>
                <a:r>
                  <a:rPr>
                    <a:latin typeface="Courier"/>
                  </a:rPr>
                  <a:t>)</a:t>
                </a:r>
                <a:br/>
                <a:r>
                  <a:rPr>
                    <a:latin typeface="Courier"/>
                  </a:rPr>
                  <a:t>var_95, losses </a:t>
                </a:r>
                <a:r>
                  <a:rPr>
                    <a:solidFill>
                      <a:srgbClr val="666666"/>
                    </a:solidFill>
                    <a:latin typeface="Courier"/>
                  </a:rPr>
                  <a:t>=</a:t>
                </a:r>
                <a:r>
                  <a:rPr>
                    <a:latin typeface="Courier"/>
                  </a:rPr>
                  <a:t> simulate_var(portfolio, </a:t>
                </a:r>
                <a:r>
                  <a:rPr>
                    <a:solidFill>
                      <a:srgbClr val="40A070"/>
                    </a:solidFill>
                    <a:latin typeface="Courier"/>
                  </a:rPr>
                  <a:t>100</a:t>
                </a:r>
                <a:r>
                  <a:rPr>
                    <a:latin typeface="Courier"/>
                  </a:rPr>
                  <a:t>, spline_curve, shock_std</a:t>
                </a:r>
                <a:r>
                  <a:rPr>
                    <a:solidFill>
                      <a:srgbClr val="666666"/>
                    </a:solidFill>
                    <a:latin typeface="Courier"/>
                  </a:rPr>
                  <a:t>=</a:t>
                </a:r>
                <a:r>
                  <a:rPr>
                    <a:solidFill>
                      <a:srgbClr val="40A070"/>
                    </a:solidFill>
                    <a:latin typeface="Courier"/>
                  </a:rPr>
                  <a:t>0.01</a:t>
                </a:r>
                <a:r>
                  <a:rPr>
                    <a:latin typeface="Courier"/>
                  </a:rPr>
                  <a:t>, n_sim</a:t>
                </a:r>
                <a:r>
                  <a:rPr>
                    <a:solidFill>
                      <a:srgbClr val="666666"/>
                    </a:solidFill>
                    <a:latin typeface="Courier"/>
                  </a:rPr>
                  <a:t>=</a:t>
                </a:r>
                <a:r>
                  <a:rPr>
                    <a:solidFill>
                      <a:srgbClr val="40A070"/>
                    </a:solidFill>
                    <a:latin typeface="Courier"/>
                  </a:rPr>
                  <a:t>2000</a:t>
                </a:r>
                <a:r>
                  <a:rPr>
                    <a:latin typeface="Courier"/>
                  </a:rPr>
                  <a:t>)</a:t>
                </a:r>
                <a:br/>
                <a:br/>
                <a:r>
                  <a:rPr>
                    <a:solidFill>
                      <a:srgbClr val="008000"/>
                    </a:solidFill>
                    <a:latin typeface="Courier"/>
                  </a:rPr>
                  <a:t>print</a:t>
                </a:r>
                <a:r>
                  <a:rPr>
                    <a:latin typeface="Courier"/>
                  </a:rPr>
                  <a:t>(</a:t>
                </a:r>
                <a:r>
                  <a:rPr>
                    <a:solidFill>
                      <a:srgbClr val="BB6688"/>
                    </a:solidFill>
                    <a:latin typeface="Courier"/>
                  </a:rPr>
                  <a:t>f"95% VaR (2 000 simulations, σ = 100 bps): </a:t>
                </a:r>
                <a:r>
                  <a:rPr>
                    <a:solidFill>
                      <a:srgbClr val="4070A0"/>
                    </a:solidFill>
                    <a:latin typeface="Courier"/>
                  </a:rPr>
                  <a:t>{</a:t>
                </a:r>
                <a:r>
                  <a:rPr>
                    <a:latin typeface="Courier"/>
                  </a:rPr>
                  <a:t>var_95</a:t>
                </a:r>
                <a:r>
                  <a:rPr>
                    <a:solidFill>
                      <a:srgbClr val="4070A0"/>
                    </a:solidFill>
                    <a:latin typeface="Courier"/>
                  </a:rPr>
                  <a:t>:.4f}</a:t>
                </a:r>
                <a:r>
                  <a:rPr>
                    <a:solidFill>
                      <a:srgbClr val="BB6688"/>
                    </a:solidFill>
                    <a:latin typeface="Courier"/>
                  </a:rPr>
                  <a:t>"</a:t>
                </a:r>
                <a:r>
                  <a:rPr>
                    <a:latin typeface="Courier"/>
                  </a:rPr>
                  <a:t>)</a:t>
                </a:r>
                <a:br/>
                <a:r>
                  <a:rPr>
                    <a:solidFill>
                      <a:srgbClr val="008000"/>
                    </a:solidFill>
                    <a:latin typeface="Courier"/>
                  </a:rPr>
                  <a:t>print</a:t>
                </a:r>
                <a:r>
                  <a:rPr>
                    <a:latin typeface="Courier"/>
                  </a:rPr>
                  <a:t>(</a:t>
                </a:r>
                <a:r>
                  <a:rPr>
                    <a:solidFill>
                      <a:srgbClr val="BB6688"/>
                    </a:solidFill>
                    <a:latin typeface="Courier"/>
                  </a:rPr>
                  <a:t>f"Expected loss interpretation: in 95% of scenarios,"</a:t>
                </a:r>
                <a:r>
                  <a:rPr>
                    <a:latin typeface="Courier"/>
                  </a:rPr>
                  <a:t>)</a:t>
                </a:r>
                <a:br/>
                <a:r>
                  <a:rPr>
                    <a:solidFill>
                      <a:srgbClr val="008000"/>
                    </a:solidFill>
                    <a:latin typeface="Courier"/>
                  </a:rPr>
                  <a:t>print</a:t>
                </a:r>
                <a:r>
                  <a:rPr>
                    <a:latin typeface="Courier"/>
                  </a:rPr>
                  <a:t>(</a:t>
                </a:r>
                <a:r>
                  <a:rPr>
                    <a:solidFill>
                      <a:srgbClr val="BB6688"/>
                    </a:solidFill>
                    <a:latin typeface="Courier"/>
                  </a:rPr>
                  <a:t>f"portfolio loss does not exceed </a:t>
                </a:r>
                <a:r>
                  <a:rPr>
                    <a:solidFill>
                      <a:srgbClr val="4070A0"/>
                    </a:solidFill>
                    <a:latin typeface="Courier"/>
                  </a:rPr>
                  <a:t>{</a:t>
                </a:r>
                <a:r>
                  <a:rPr>
                    <a:latin typeface="Courier"/>
                  </a:rPr>
                  <a:t>var_95</a:t>
                </a:r>
                <a:r>
                  <a:rPr>
                    <a:solidFill>
                      <a:srgbClr val="4070A0"/>
                    </a:solidFill>
                    <a:latin typeface="Courier"/>
                  </a:rPr>
                  <a:t>:.4f}</a:t>
                </a:r>
                <a:r>
                  <a:rPr>
                    <a:solidFill>
                      <a:srgbClr val="BB6688"/>
                    </a:solidFill>
                    <a:latin typeface="Courier"/>
                  </a:rPr>
                  <a:t> per unit of face value."</a:t>
                </a:r>
                <a:r>
                  <a:rPr>
                    <a:latin typeface="Courier"/>
                  </a:rPr>
                  <a:t>)</a:t>
                </a:r>
                <a:br/>
                <a:br/>
                <a:r>
                  <a:rPr>
                    <a:latin typeface="Courier"/>
                  </a:rPr>
                  <a:t>fig_var </a:t>
                </a:r>
                <a:r>
                  <a:rPr>
                    <a:solidFill>
                      <a:srgbClr val="666666"/>
                    </a:solidFill>
                    <a:latin typeface="Courier"/>
                  </a:rPr>
                  <a:t>=</a:t>
                </a:r>
                <a:r>
                  <a:rPr>
                    <a:latin typeface="Courier"/>
                  </a:rPr>
                  <a:t> plot_var_distribution_interactive(losses, var_95)</a:t>
                </a:r>
              </a:p>
              <a:p>
                <a:pPr lvl="0" indent="0">
                  <a:buNone/>
                </a:pPr>
                <a:r>
                  <a:rPr>
                    <a:latin typeface="Courier"/>
                  </a:rPr>
                  <a:t>95% VaR (2 000 simulations, σ = 100 bps): 7.0880
Expected loss interpretation: in 95% of scenarios,
portfolio loss does not exceed 7.0880 per unit of face value.</a:t>
                </a:r>
              </a:p>
              <a:p>
                <a:pPr lvl="0" indent="0">
                  <a:buNone/>
                </a:pPr>
                <a:r>
                  <a:rPr>
                    <a:latin typeface="Courier"/>
                  </a:rPr>
                  <a:t>Unable to display output for mime type(s): text/html</a:t>
                </a:r>
              </a:p>
              <a:p>
                <a:pPr lvl="0" indent="0" marL="1270000">
                  <a:buNone/>
                </a:pPr>
                <a:r>
                  <a:rPr sz="2000" b="1"/>
                  <a:t>Reading the histogram:</a:t>
                </a:r>
                <a:r>
                  <a:rPr sz="2000"/>
                  <a:t> The loss distribution is approximately symmetric and bell-shaped, consistent with normally distributed rate shocks. The red dashed line marks the 95% VaR threshold.</a:t>
                </a:r>
              </a:p>
            </p:txBody>
          </p:sp>
        </mc:Choice>
      </mc:AlternateContent>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Principal Component Analysis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 Why PCA on yield curves?</a:t>
            </a:r>
          </a:p>
          <a:p>
            <a:pPr lvl="0" indent="0" marL="1270000">
              <a:buNone/>
            </a:pPr>
            <a:r>
              <a:rPr sz="2000"/>
              <a:t>Yield curve movements across maturities are highly correlated, when 2Y rates move, 5Y rates usually move too. PCA decomposes this complexity into a small number of </a:t>
            </a:r>
            <a:r>
              <a:rPr sz="2000" b="1"/>
              <a:t>independent factors</a:t>
            </a:r>
            <a:r>
              <a:rPr sz="2000"/>
              <a:t> that explain most of the variance. Decades of empirical research show that three factors capture 95–99% of yield curve variation: </a:t>
            </a:r>
            <a:r>
              <a:rPr sz="2000" b="1"/>
              <a:t>level, slope, and curvature</a:t>
            </a:r>
            <a:r>
              <a:rPr sz="2000"/>
              <a: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Mathematical Framework</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We observe daily yield changes across the four maturities over 5 years (~1 250 trading days). Let </a:t>
                </a:r>
                <a14:m>
                  <m:oMath xmlns:m="http://schemas.openxmlformats.org/officeDocument/2006/math">
                    <m:r>
                      <m:t>Δ</m:t>
                    </m:r>
                    <m:sSub>
                      <m:e>
                        <m:r>
                          <m:t>r</m:t>
                        </m:r>
                      </m:e>
                      <m:sub>
                        <m:r>
                          <m:t>t</m:t>
                        </m:r>
                      </m:sub>
                    </m:sSub>
                  </m:oMath>
                </a14:m>
                <a:r>
                  <a:rPr/>
                  <a:t> denote the vector of rate changes on day </a:t>
                </a:r>
                <a14:m>
                  <m:oMath xmlns:m="http://schemas.openxmlformats.org/officeDocument/2006/math">
                    <m:r>
                      <m:t>t</m:t>
                    </m:r>
                  </m:oMath>
                </a14:m>
                <a:r>
                  <a:rPr/>
                  <a:t>. We compute the </a:t>
                </a:r>
                <a:r>
                  <a:rPr b="1"/>
                  <a:t>covariance matrix</a:t>
                </a:r>
                <a:r>
                  <a:rPr/>
                  <a:t> </a:t>
                </a:r>
                <a14:m>
                  <m:oMath xmlns:m="http://schemas.openxmlformats.org/officeDocument/2006/math">
                    <m:r>
                      <m:rPr>
                        <m:sty m:val="b"/>
                      </m:rPr>
                      <m:t>Σ</m:t>
                    </m:r>
                  </m:oMath>
                </a14:m>
                <a:r>
                  <a:rPr/>
                  <a:t> of these changes, which captures how different maturities move together.</a:t>
                </a:r>
              </a:p>
              <a:p>
                <a:pPr lvl="0" indent="0" marL="0">
                  <a:buNone/>
                </a:pPr>
                <a:r>
                  <a:rPr/>
                  <a:t>PCA decomposes this covariance matrix into orthogonal factors:</a:t>
                </a:r>
              </a:p>
              <a:p>
                <a:pPr lvl="0" indent="0" marL="0">
                  <a:buNone/>
                </a:pPr>
                <a14:m>
                  <m:oMathPara xmlns:m="http://schemas.openxmlformats.org/officeDocument/2006/math">
                    <m:oMathParaPr>
                      <m:jc m:val="center"/>
                    </m:oMathParaPr>
                    <m:oMath>
                      <m:r>
                        <m:rPr>
                          <m:sty m:val="b"/>
                        </m:rPr>
                        <m:t>Σ</m:t>
                      </m:r>
                      <m:r>
                        <m:rPr>
                          <m:sty m:val="p"/>
                        </m:rPr>
                        <m:t>=</m:t>
                      </m:r>
                      <m:r>
                        <m:rPr>
                          <m:sty m:val="b"/>
                        </m:rPr>
                        <m:t>V</m:t>
                      </m:r>
                      <m:r>
                        <m:rPr>
                          <m:sty m:val="b"/>
                        </m:rPr>
                        <m:t>Λ</m:t>
                      </m:r>
                      <m:sSup>
                        <m:e>
                          <m:r>
                            <m:rPr>
                              <m:sty m:val="b"/>
                            </m:rPr>
                            <m:t>V</m:t>
                          </m:r>
                        </m:e>
                        <m:sup>
                          <m:r>
                            <m:rPr>
                              <m:sty m:val="p"/>
                            </m:rPr>
                            <m:t>⊤</m:t>
                          </m:r>
                        </m:sup>
                      </m:sSup>
                    </m:oMath>
                  </m:oMathPara>
                </a14:m>
              </a:p>
              <a:p>
                <a:pPr lvl="0" indent="0" marL="0">
                  <a:buNone/>
                </a:pPr>
                <a:r>
                  <a:rPr/>
                  <a:t>where </a:t>
                </a:r>
                <a14:m>
                  <m:oMath xmlns:m="http://schemas.openxmlformats.org/officeDocument/2006/math">
                    <m:r>
                      <m:rPr>
                        <m:sty m:val="b"/>
                      </m:rPr>
                      <m:t>V</m:t>
                    </m:r>
                  </m:oMath>
                </a14:m>
                <a:r>
                  <a:rPr/>
                  <a:t> contains the </a:t>
                </a:r>
                <a:r>
                  <a:rPr b="1"/>
                  <a:t>eigenvectors</a:t>
                </a:r>
                <a:r>
                  <a:rPr/>
                  <a:t> (principal components) and </a:t>
                </a:r>
                <a14:m>
                  <m:oMath xmlns:m="http://schemas.openxmlformats.org/officeDocument/2006/math">
                    <m:r>
                      <m:rPr>
                        <m:sty m:val="b"/>
                      </m:rPr>
                      <m:t>Λ</m:t>
                    </m:r>
                  </m:oMath>
                </a14:m>
                <a:r>
                  <a:rPr/>
                  <a:t> contains the </a:t>
                </a:r>
                <a:r>
                  <a:rPr b="1"/>
                  <a:t>eigenvalues</a:t>
                </a:r>
                <a:r>
                  <a:rPr/>
                  <a:t> (variance explained by each component).</a:t>
                </a:r>
              </a:p>
              <a:p>
                <a:pPr lvl="0" indent="0" marL="0">
                  <a:buNone/>
                </a:pPr>
                <a:r>
                  <a:rPr b="1"/>
                  <a:t>What this means in practice:</a:t>
                </a:r>
              </a:p>
              <a:p>
                <a:pPr lvl="0"/>
                <a:r>
                  <a:rPr/>
                  <a:t>Each eigenvector is a pattern of co-movement. The first eigenvector (PC1) has all positive entries, meaning all rates move in the same direction — this is the </a:t>
                </a:r>
                <a:r>
                  <a:rPr b="1"/>
                  <a:t>level factor</a:t>
                </a:r>
                <a:r>
                  <a:rPr/>
                  <a:t>.</a:t>
                </a:r>
              </a:p>
              <a:p>
                <a:pPr lvl="0"/>
                <a:r>
                  <a:rPr/>
                  <a:t>The eigenvalues tell us how important each factor is. Typically, PC1 explains ~85–90% of all variation, PC2 explains ~5–10%, and PC3 explains ~2–5%.</a:t>
                </a:r>
              </a:p>
              <a:p>
                <a:pPr lvl="0"/>
                <a:r>
                  <a:rPr/>
                  <a:t>The three factors have clear economic interpretations: </a:t>
                </a:r>
                <a:r>
                  <a:rPr b="1"/>
                  <a:t>level</a:t>
                </a:r>
                <a:r>
                  <a:rPr/>
                  <a:t> (parallel shifts), </a:t>
                </a:r>
                <a:r>
                  <a:rPr b="1"/>
                  <a:t>slope</a:t>
                </a:r>
                <a:r>
                  <a:rPr/>
                  <a:t> (steepening/flattening), and </a:t>
                </a:r>
                <a:r>
                  <a:rPr b="1"/>
                  <a:t>curvature</a:t>
                </a:r>
                <a:r>
                  <a:rPr/>
                  <a:t> (humps in the middle of the curve).</a:t>
                </a:r>
              </a:p>
              <a:p>
                <a:pPr lvl="0" indent="0" marL="0">
                  <a:buNone/>
                </a:pPr>
                <a:r>
                  <a:rPr/>
                  <a:t>This dimensional reduction is powerful: instead of tracking movements at hundreds of maturities, we can summarize almost everything with three numbers.</a:t>
                </a:r>
              </a:p>
              <a:p>
                <a:pPr lvl="0" indent="0">
                  <a:buNone/>
                </a:pPr>
                <a:r>
                  <a:rPr>
                    <a:latin typeface="Courier"/>
                  </a:rPr>
                  <a:t>maturities_list </a:t>
                </a:r>
                <a:r>
                  <a:rPr>
                    <a:solidFill>
                      <a:srgbClr val="666666"/>
                    </a:solidFill>
                    <a:latin typeface="Courier"/>
                  </a:rPr>
                  <a:t>=</a:t>
                </a:r>
                <a:r>
                  <a:rPr>
                    <a:latin typeface="Courier"/>
                  </a:rPr>
                  <a:t> </a:t>
                </a:r>
                <a:r>
                  <a:rPr>
                    <a:solidFill>
                      <a:srgbClr val="008000"/>
                    </a:solidFill>
                    <a:latin typeface="Courier"/>
                  </a:rPr>
                  <a:t>sorted</a:t>
                </a:r>
                <a:r>
                  <a:rPr>
                    <a:latin typeface="Courier"/>
                  </a:rPr>
                  <a:t>([</a:t>
                </a:r>
                <a:r>
                  <a:rPr>
                    <a:solidFill>
                      <a:srgbClr val="008000"/>
                    </a:solidFill>
                    <a:latin typeface="Courier"/>
                  </a:rPr>
                  <a:t>int</a:t>
                </a:r>
                <a:r>
                  <a:rPr>
                    <a:latin typeface="Courier"/>
                  </a:rPr>
                  <a:t>(m) </a:t>
                </a:r>
                <a:r>
                  <a:rPr b="1">
                    <a:solidFill>
                      <a:srgbClr val="007020"/>
                    </a:solidFill>
                    <a:latin typeface="Courier"/>
                  </a:rPr>
                  <a:t>for</a:t>
                </a:r>
                <a:r>
                  <a:rPr>
                    <a:latin typeface="Courier"/>
                  </a:rPr>
                  <a:t> m </a:t>
                </a:r>
                <a:r>
                  <a:rPr b="1">
                    <a:solidFill>
                      <a:srgbClr val="007020"/>
                    </a:solidFill>
                    <a:latin typeface="Courier"/>
                  </a:rPr>
                  <a:t>in</a:t>
                </a:r>
                <a:r>
                  <a:rPr>
                    <a:latin typeface="Courier"/>
                  </a:rPr>
                  <a:t> data[</a:t>
                </a:r>
                <a:r>
                  <a:rPr>
                    <a:solidFill>
                      <a:srgbClr val="4070A0"/>
                    </a:solidFill>
                    <a:latin typeface="Courier"/>
                  </a:rPr>
                  <a:t>'maturity'</a:t>
                </a:r>
                <a:r>
                  <a:rPr>
                    <a:latin typeface="Courier"/>
                  </a:rPr>
                  <a:t>].unique()])</a:t>
                </a:r>
                <a:br/>
                <a:r>
                  <a:rPr>
                    <a:solidFill>
                      <a:srgbClr val="008000"/>
                    </a:solidFill>
                    <a:latin typeface="Courier"/>
                  </a:rPr>
                  <a:t>print</a:t>
                </a:r>
                <a:r>
                  <a:rPr>
                    <a:latin typeface="Courier"/>
                  </a:rPr>
                  <a:t>(</a:t>
                </a:r>
                <a:r>
                  <a:rPr>
                    <a:solidFill>
                      <a:srgbClr val="BB6688"/>
                    </a:solidFill>
                    <a:latin typeface="Courier"/>
                  </a:rPr>
                  <a:t>f"Dataset loaded from local FRED CSV files"</a:t>
                </a:r>
                <a:r>
                  <a:rPr>
                    <a:latin typeface="Courier"/>
                  </a:rPr>
                  <a:t>)</a:t>
                </a:r>
                <a:br/>
                <a:r>
                  <a:rPr>
                    <a:solidFill>
                      <a:srgbClr val="008000"/>
                    </a:solidFill>
                    <a:latin typeface="Courier"/>
                  </a:rPr>
                  <a:t>print</a:t>
                </a:r>
                <a:r>
                  <a:rPr>
                    <a:latin typeface="Courier"/>
                  </a:rPr>
                  <a:t>(</a:t>
                </a:r>
                <a:r>
                  <a:rPr>
                    <a:solidFill>
                      <a:srgbClr val="BB6688"/>
                    </a:solidFill>
                    <a:latin typeface="Courier"/>
                  </a:rPr>
                  <a:t>f"Date range  : </a:t>
                </a:r>
                <a:r>
                  <a:rPr>
                    <a:solidFill>
                      <a:srgbClr val="4070A0"/>
                    </a:solidFill>
                    <a:latin typeface="Courier"/>
                  </a:rPr>
                  <a:t>{</a:t>
                </a:r>
                <a:r>
                  <a:rPr>
                    <a:latin typeface="Courier"/>
                  </a:rPr>
                  <a:t>data[</a:t>
                </a:r>
                <a:r>
                  <a:rPr>
                    <a:solidFill>
                      <a:srgbClr val="4070A0"/>
                    </a:solidFill>
                    <a:latin typeface="Courier"/>
                  </a:rPr>
                  <a:t>'date'</a:t>
                </a:r>
                <a:r>
                  <a:rPr>
                    <a:latin typeface="Courier"/>
                  </a:rPr>
                  <a:t>]</a:t>
                </a:r>
                <a:r>
                  <a:rPr>
                    <a:solidFill>
                      <a:srgbClr val="4070A0"/>
                    </a:solidFill>
                    <a:latin typeface="Courier"/>
                  </a:rPr>
                  <a:t>.</a:t>
                </a:r>
                <a:r>
                  <a:rPr>
                    <a:solidFill>
                      <a:srgbClr val="008000"/>
                    </a:solidFill>
                    <a:latin typeface="Courier"/>
                  </a:rPr>
                  <a:t>min</a:t>
                </a:r>
                <a:r>
                  <a:rPr>
                    <a:latin typeface="Courier"/>
                  </a:rPr>
                  <a:t>()</a:t>
                </a:r>
                <a:r>
                  <a:rPr>
                    <a:solidFill>
                      <a:srgbClr val="4070A0"/>
                    </a:solidFill>
                    <a:latin typeface="Courier"/>
                  </a:rPr>
                  <a:t>.</a:t>
                </a:r>
                <a:r>
                  <a:rPr>
                    <a:latin typeface="Courier"/>
                  </a:rPr>
                  <a:t>date()</a:t>
                </a:r>
                <a:r>
                  <a:rPr>
                    <a:solidFill>
                      <a:srgbClr val="4070A0"/>
                    </a:solidFill>
                    <a:latin typeface="Courier"/>
                  </a:rPr>
                  <a:t>}</a:t>
                </a:r>
                <a:r>
                  <a:rPr>
                    <a:solidFill>
                      <a:srgbClr val="BB6688"/>
                    </a:solidFill>
                    <a:latin typeface="Courier"/>
                  </a:rPr>
                  <a:t> → </a:t>
                </a:r>
                <a:r>
                  <a:rPr>
                    <a:solidFill>
                      <a:srgbClr val="4070A0"/>
                    </a:solidFill>
                    <a:latin typeface="Courier"/>
                  </a:rPr>
                  <a:t>{</a:t>
                </a:r>
                <a:r>
                  <a:rPr>
                    <a:latin typeface="Courier"/>
                  </a:rPr>
                  <a:t>data[</a:t>
                </a:r>
                <a:r>
                  <a:rPr>
                    <a:solidFill>
                      <a:srgbClr val="4070A0"/>
                    </a:solidFill>
                    <a:latin typeface="Courier"/>
                  </a:rPr>
                  <a:t>'date'</a:t>
                </a:r>
                <a:r>
                  <a:rPr>
                    <a:latin typeface="Courier"/>
                  </a:rPr>
                  <a:t>]</a:t>
                </a:r>
                <a:r>
                  <a:rPr>
                    <a:solidFill>
                      <a:srgbClr val="4070A0"/>
                    </a:solidFill>
                    <a:latin typeface="Courier"/>
                  </a:rPr>
                  <a:t>.</a:t>
                </a:r>
                <a:r>
                  <a:rPr>
                    <a:solidFill>
                      <a:srgbClr val="008000"/>
                    </a:solidFill>
                    <a:latin typeface="Courier"/>
                  </a:rPr>
                  <a:t>max</a:t>
                </a:r>
                <a:r>
                  <a:rPr>
                    <a:latin typeface="Courier"/>
                  </a:rPr>
                  <a:t>()</a:t>
                </a:r>
                <a:r>
                  <a:rPr>
                    <a:solidFill>
                      <a:srgbClr val="4070A0"/>
                    </a:solidFill>
                    <a:latin typeface="Courier"/>
                  </a:rPr>
                  <a:t>.</a:t>
                </a:r>
                <a:r>
                  <a:rPr>
                    <a:latin typeface="Courier"/>
                  </a:rPr>
                  <a:t>date()</a:t>
                </a:r>
                <a:r>
                  <a:rPr>
                    <a:solidFill>
                      <a:srgbClr val="4070A0"/>
                    </a:solidFill>
                    <a:latin typeface="Courier"/>
                  </a:rPr>
                  <a:t>}</a:t>
                </a:r>
                <a:r>
                  <a:rPr>
                    <a:solidFill>
                      <a:srgbClr val="BB6688"/>
                    </a:solidFill>
                    <a:latin typeface="Courier"/>
                  </a:rPr>
                  <a:t>"</a:t>
                </a:r>
                <a:r>
                  <a:rPr>
                    <a:latin typeface="Courier"/>
                  </a:rPr>
                  <a:t>)</a:t>
                </a:r>
                <a:br/>
                <a:r>
                  <a:rPr>
                    <a:solidFill>
                      <a:srgbClr val="008000"/>
                    </a:solidFill>
                    <a:latin typeface="Courier"/>
                  </a:rPr>
                  <a:t>print</a:t>
                </a:r>
                <a:r>
                  <a:rPr>
                    <a:latin typeface="Courier"/>
                  </a:rPr>
                  <a:t>(</a:t>
                </a:r>
                <a:r>
                  <a:rPr>
                    <a:solidFill>
                      <a:srgbClr val="BB6688"/>
                    </a:solidFill>
                    <a:latin typeface="Courier"/>
                  </a:rPr>
                  <a:t>f"Maturities  : </a:t>
                </a:r>
                <a:r>
                  <a:rPr>
                    <a:solidFill>
                      <a:srgbClr val="4070A0"/>
                    </a:solidFill>
                    <a:latin typeface="Courier"/>
                  </a:rPr>
                  <a:t>{</a:t>
                </a:r>
                <a:r>
                  <a:rPr>
                    <a:latin typeface="Courier"/>
                  </a:rPr>
                  <a:t>maturities_list</a:t>
                </a:r>
                <a:r>
                  <a:rPr>
                    <a:solidFill>
                      <a:srgbClr val="4070A0"/>
                    </a:solidFill>
                    <a:latin typeface="Courier"/>
                  </a:rPr>
                  <a:t>}</a:t>
                </a:r>
                <a:r>
                  <a:rPr>
                    <a:solidFill>
                      <a:srgbClr val="BB6688"/>
                    </a:solidFill>
                    <a:latin typeface="Courier"/>
                  </a:rPr>
                  <a:t>Y"</a:t>
                </a:r>
                <a:r>
                  <a:rPr>
                    <a:latin typeface="Courier"/>
                  </a:rPr>
                  <a:t>)</a:t>
                </a:r>
                <a:br/>
                <a:r>
                  <a:rPr>
                    <a:solidFill>
                      <a:srgbClr val="008000"/>
                    </a:solidFill>
                    <a:latin typeface="Courier"/>
                  </a:rPr>
                  <a:t>print</a:t>
                </a:r>
                <a:r>
                  <a:rPr>
                    <a:latin typeface="Courier"/>
                  </a:rPr>
                  <a:t>(</a:t>
                </a:r>
                <a:r>
                  <a:rPr>
                    <a:solidFill>
                      <a:srgbClr val="BB6688"/>
                    </a:solidFill>
                    <a:latin typeface="Courier"/>
                  </a:rPr>
                  <a:t>f"Observations: </a:t>
                </a:r>
                <a:r>
                  <a:rPr>
                    <a:solidFill>
                      <a:srgbClr val="4070A0"/>
                    </a:solidFill>
                    <a:latin typeface="Courier"/>
                  </a:rPr>
                  <a:t>{</a:t>
                </a:r>
                <a:r>
                  <a:rPr>
                    <a:latin typeface="Courier"/>
                  </a:rPr>
                  <a:t>data[</a:t>
                </a:r>
                <a:r>
                  <a:rPr>
                    <a:solidFill>
                      <a:srgbClr val="4070A0"/>
                    </a:solidFill>
                    <a:latin typeface="Courier"/>
                  </a:rPr>
                  <a:t>'date'</a:t>
                </a:r>
                <a:r>
                  <a:rPr>
                    <a:latin typeface="Courier"/>
                  </a:rPr>
                  <a:t>]</a:t>
                </a:r>
                <a:r>
                  <a:rPr>
                    <a:solidFill>
                      <a:srgbClr val="4070A0"/>
                    </a:solidFill>
                    <a:latin typeface="Courier"/>
                  </a:rPr>
                  <a:t>.</a:t>
                </a:r>
                <a:r>
                  <a:rPr>
                    <a:latin typeface="Courier"/>
                  </a:rPr>
                  <a:t>nunique()</a:t>
                </a:r>
                <a:r>
                  <a:rPr>
                    <a:solidFill>
                      <a:srgbClr val="4070A0"/>
                    </a:solidFill>
                    <a:latin typeface="Courier"/>
                  </a:rPr>
                  <a:t>}</a:t>
                </a:r>
                <a:r>
                  <a:rPr>
                    <a:solidFill>
                      <a:srgbClr val="BB6688"/>
                    </a:solidFill>
                    <a:latin typeface="Courier"/>
                  </a:rPr>
                  <a:t> trading days × </a:t>
                </a:r>
                <a:r>
                  <a:rPr>
                    <a:solidFill>
                      <a:srgbClr val="4070A0"/>
                    </a:solidFill>
                    <a:latin typeface="Courier"/>
                  </a:rPr>
                  <a:t>{</a:t>
                </a:r>
                <a:r>
                  <a:rPr>
                    <a:solidFill>
                      <a:srgbClr val="008000"/>
                    </a:solidFill>
                    <a:latin typeface="Courier"/>
                  </a:rPr>
                  <a:t>len</a:t>
                </a:r>
                <a:r>
                  <a:rPr>
                    <a:latin typeface="Courier"/>
                  </a:rPr>
                  <a:t>(maturities_list)</a:t>
                </a:r>
                <a:r>
                  <a:rPr>
                    <a:solidFill>
                      <a:srgbClr val="4070A0"/>
                    </a:solidFill>
                    <a:latin typeface="Courier"/>
                  </a:rPr>
                  <a:t>}</a:t>
                </a:r>
                <a:r>
                  <a:rPr>
                    <a:solidFill>
                      <a:srgbClr val="BB6688"/>
                    </a:solidFill>
                    <a:latin typeface="Courier"/>
                  </a:rPr>
                  <a:t> maturities"</a:t>
                </a:r>
                <a:r>
                  <a:rPr>
                    <a:latin typeface="Courier"/>
                  </a:rPr>
                  <a:t>)</a:t>
                </a:r>
              </a:p>
              <a:p>
                <a:pPr lvl="0" indent="0">
                  <a:buNone/>
                </a:pPr>
                <a:r>
                  <a:rPr>
                    <a:latin typeface="Courier"/>
                  </a:rPr>
                  <a:t>Dataset loaded from local FRED CSV files
Date range  : 2021-02-10 → 2026-02-10
Maturities  : [1, 2, 5, 10]Y
Observations: 1250 trading days × 4 maturities</a:t>
                </a:r>
              </a:p>
              <a:p>
                <a:pPr lvl="0" indent="0">
                  <a:buNone/>
                </a:pPr>
                <a:r>
                  <a:rPr>
                    <a:latin typeface="Courier"/>
                  </a:rPr>
                  <a:t>pca, maturities, returns </a:t>
                </a:r>
                <a:r>
                  <a:rPr>
                    <a:solidFill>
                      <a:srgbClr val="666666"/>
                    </a:solidFill>
                    <a:latin typeface="Courier"/>
                  </a:rPr>
                  <a:t>=</a:t>
                </a:r>
                <a:r>
                  <a:rPr>
                    <a:latin typeface="Courier"/>
                  </a:rPr>
                  <a:t> perform_pca(data)</a:t>
                </a:r>
                <a:br/>
                <a:br/>
                <a:r>
                  <a:rPr>
                    <a:latin typeface="Courier"/>
                  </a:rPr>
                  <a:t>total_var </a:t>
                </a:r>
                <a:r>
                  <a:rPr>
                    <a:solidFill>
                      <a:srgbClr val="666666"/>
                    </a:solidFill>
                    <a:latin typeface="Courier"/>
                  </a:rPr>
                  <a:t>=</a:t>
                </a:r>
                <a:r>
                  <a:rPr>
                    <a:latin typeface="Courier"/>
                  </a:rPr>
                  <a:t> pca.explained_variance_ratio_[:</a:t>
                </a:r>
                <a:r>
                  <a:rPr>
                    <a:solidFill>
                      <a:srgbClr val="40A070"/>
                    </a:solidFill>
                    <a:latin typeface="Courier"/>
                  </a:rPr>
                  <a:t>3</a:t>
                </a:r>
                <a:r>
                  <a:rPr>
                    <a:latin typeface="Courier"/>
                  </a:rPr>
                  <a:t>].</a:t>
                </a:r>
                <a:r>
                  <a:rPr>
                    <a:solidFill>
                      <a:srgbClr val="008000"/>
                    </a:solidFill>
                    <a:latin typeface="Courier"/>
                  </a:rPr>
                  <a:t>sum</a:t>
                </a:r>
                <a:r>
                  <a:rPr>
                    <a:latin typeface="Courier"/>
                  </a:rPr>
                  <a:t>() </a:t>
                </a:r>
                <a:r>
                  <a:rPr>
                    <a:solidFill>
                      <a:srgbClr val="666666"/>
                    </a:solidFill>
                    <a:latin typeface="Courier"/>
                  </a:rPr>
                  <a:t>*</a:t>
                </a:r>
                <a:r>
                  <a:rPr>
                    <a:latin typeface="Courier"/>
                  </a:rPr>
                  <a:t> </a:t>
                </a:r>
                <a:r>
                  <a:rPr>
                    <a:solidFill>
                      <a:srgbClr val="40A070"/>
                    </a:solidFill>
                    <a:latin typeface="Courier"/>
                  </a:rPr>
                  <a:t>100</a:t>
                </a:r>
                <a:br/>
                <a:r>
                  <a:rPr>
                    <a:solidFill>
                      <a:srgbClr val="008000"/>
                    </a:solidFill>
                    <a:latin typeface="Courier"/>
                  </a:rPr>
                  <a:t>print</a:t>
                </a:r>
                <a:r>
                  <a:rPr>
                    <a:latin typeface="Courier"/>
                  </a:rPr>
                  <a:t>(</a:t>
                </a:r>
                <a:r>
                  <a:rPr>
                    <a:solidFill>
                      <a:srgbClr val="4070A0"/>
                    </a:solidFill>
                    <a:latin typeface="Courier"/>
                  </a:rPr>
                  <a:t>"PCA, Explained Variance:"</a:t>
                </a:r>
                <a:r>
                  <a:rPr>
                    <a:latin typeface="Courier"/>
                  </a:rPr>
                  <a:t>)</a:t>
                </a:r>
                <a:br/>
                <a:r>
                  <a:rPr b="1">
                    <a:solidFill>
                      <a:srgbClr val="007020"/>
                    </a:solidFill>
                    <a:latin typeface="Courier"/>
                  </a:rPr>
                  <a:t>for</a:t>
                </a:r>
                <a:r>
                  <a:rPr>
                    <a:latin typeface="Courier"/>
                  </a:rPr>
                  <a:t> i </a:t>
                </a:r>
                <a:r>
                  <a:rPr b="1">
                    <a:solidFill>
                      <a:srgbClr val="007020"/>
                    </a:solidFill>
                    <a:latin typeface="Courier"/>
                  </a:rPr>
                  <a:t>in</a:t>
                </a:r>
                <a:r>
                  <a:rPr>
                    <a:latin typeface="Courier"/>
                  </a:rPr>
                  <a:t> </a:t>
                </a:r>
                <a:r>
                  <a:rPr>
                    <a:solidFill>
                      <a:srgbClr val="008000"/>
                    </a:solidFill>
                    <a:latin typeface="Courier"/>
                  </a:rPr>
                  <a:t>range</a:t>
                </a:r>
                <a:r>
                  <a:rPr>
                    <a:latin typeface="Courier"/>
                  </a:rPr>
                  <a:t>(</a:t>
                </a:r>
                <a:r>
                  <a:rPr>
                    <a:solidFill>
                      <a:srgbClr val="008000"/>
                    </a:solidFill>
                    <a:latin typeface="Courier"/>
                  </a:rPr>
                  <a:t>min</a:t>
                </a:r>
                <a:r>
                  <a:rPr>
                    <a:latin typeface="Courier"/>
                  </a:rPr>
                  <a:t>(</a:t>
                </a:r>
                <a:r>
                  <a:rPr>
                    <a:solidFill>
                      <a:srgbClr val="40A070"/>
                    </a:solidFill>
                    <a:latin typeface="Courier"/>
                  </a:rPr>
                  <a:t>4</a:t>
                </a:r>
                <a:r>
                  <a:rPr>
                    <a:latin typeface="Courier"/>
                  </a:rPr>
                  <a:t>, </a:t>
                </a:r>
                <a:r>
                  <a:rPr>
                    <a:solidFill>
                      <a:srgbClr val="008000"/>
                    </a:solidFill>
                    <a:latin typeface="Courier"/>
                  </a:rPr>
                  <a:t>len</a:t>
                </a:r>
                <a:r>
                  <a:rPr>
                    <a:latin typeface="Courier"/>
                  </a:rPr>
                  <a:t>(pca.explained_variance_ratio_))):</a:t>
                </a:r>
                <a:br/>
                <a:r>
                  <a:rPr>
                    <a:latin typeface="Courier"/>
                  </a:rPr>
                  <a:t>    </a:t>
                </a:r>
                <a:r>
                  <a:rPr>
                    <a:solidFill>
                      <a:srgbClr val="008000"/>
                    </a:solidFill>
                    <a:latin typeface="Courier"/>
                  </a:rPr>
                  <a:t>print</a:t>
                </a:r>
                <a:r>
                  <a:rPr>
                    <a:latin typeface="Courier"/>
                  </a:rPr>
                  <a:t>(</a:t>
                </a:r>
                <a:r>
                  <a:rPr>
                    <a:solidFill>
                      <a:srgbClr val="BB6688"/>
                    </a:solidFill>
                    <a:latin typeface="Courier"/>
                  </a:rPr>
                  <a:t>f"  PC</a:t>
                </a:r>
                <a:r>
                  <a:rPr>
                    <a:solidFill>
                      <a:srgbClr val="4070A0"/>
                    </a:solidFill>
                    <a:latin typeface="Courier"/>
                  </a:rPr>
                  <a:t>{</a:t>
                </a:r>
                <a:r>
                  <a:rPr>
                    <a:latin typeface="Courier"/>
                  </a:rPr>
                  <a:t>i</a:t>
                </a:r>
                <a:r>
                  <a:rPr>
                    <a:solidFill>
                      <a:srgbClr val="666666"/>
                    </a:solidFill>
                    <a:latin typeface="Courier"/>
                  </a:rPr>
                  <a:t>+</a:t>
                </a:r>
                <a:r>
                  <a:rPr>
                    <a:solidFill>
                      <a:srgbClr val="40A070"/>
                    </a:solidFill>
                    <a:latin typeface="Courier"/>
                  </a:rPr>
                  <a:t>1</a:t>
                </a:r>
                <a:r>
                  <a:rPr>
                    <a:solidFill>
                      <a:srgbClr val="4070A0"/>
                    </a:solidFill>
                    <a:latin typeface="Courier"/>
                  </a:rPr>
                  <a:t>}</a:t>
                </a:r>
                <a:r>
                  <a:rPr>
                    <a:solidFill>
                      <a:srgbClr val="BB6688"/>
                    </a:solidFill>
                    <a:latin typeface="Courier"/>
                  </a:rPr>
                  <a:t>: </a:t>
                </a:r>
                <a:r>
                  <a:rPr>
                    <a:solidFill>
                      <a:srgbClr val="4070A0"/>
                    </a:solidFill>
                    <a:latin typeface="Courier"/>
                  </a:rPr>
                  <a:t>{</a:t>
                </a:r>
                <a:r>
                  <a:rPr>
                    <a:latin typeface="Courier"/>
                  </a:rPr>
                  <a:t>pca</a:t>
                </a:r>
                <a:r>
                  <a:rPr>
                    <a:solidFill>
                      <a:srgbClr val="4070A0"/>
                    </a:solidFill>
                    <a:latin typeface="Courier"/>
                  </a:rPr>
                  <a:t>.</a:t>
                </a:r>
                <a:r>
                  <a:rPr>
                    <a:latin typeface="Courier"/>
                  </a:rPr>
                  <a:t>explained_variance_ratio_[i]</a:t>
                </a:r>
                <a:r>
                  <a:rPr>
                    <a:solidFill>
                      <a:srgbClr val="666666"/>
                    </a:solidFill>
                    <a:latin typeface="Courier"/>
                  </a:rPr>
                  <a:t>*</a:t>
                </a:r>
                <a:r>
                  <a:rPr>
                    <a:solidFill>
                      <a:srgbClr val="40A070"/>
                    </a:solidFill>
                    <a:latin typeface="Courier"/>
                  </a:rPr>
                  <a:t>100</a:t>
                </a:r>
                <a:r>
                  <a:rPr>
                    <a:solidFill>
                      <a:srgbClr val="4070A0"/>
                    </a:solidFill>
                    <a:latin typeface="Courier"/>
                  </a:rPr>
                  <a:t>:.1f}</a:t>
                </a:r>
                <a:r>
                  <a:rPr>
                    <a:solidFill>
                      <a:srgbClr val="BB6688"/>
                    </a:solidFill>
                    <a:latin typeface="Courier"/>
                  </a:rPr>
                  <a:t>%"</a:t>
                </a:r>
                <a:r>
                  <a:rPr>
                    <a:latin typeface="Courier"/>
                  </a:rPr>
                  <a:t>)</a:t>
                </a:r>
                <a:br/>
                <a:r>
                  <a:rPr>
                    <a:solidFill>
                      <a:srgbClr val="008000"/>
                    </a:solidFill>
                    <a:latin typeface="Courier"/>
                  </a:rPr>
                  <a:t>print</a:t>
                </a:r>
                <a:r>
                  <a:rPr>
                    <a:latin typeface="Courier"/>
                  </a:rPr>
                  <a:t>(</a:t>
                </a:r>
                <a:r>
                  <a:rPr>
                    <a:solidFill>
                      <a:srgbClr val="BB6688"/>
                    </a:solidFill>
                    <a:latin typeface="Courier"/>
                  </a:rPr>
                  <a:t>f"</a:t>
                </a:r>
                <a:r>
                  <a:rPr>
                    <a:solidFill>
                      <a:srgbClr val="4070A0"/>
                    </a:solidFill>
                    <a:latin typeface="Courier"/>
                  </a:rPr>
                  <a:t>\n</a:t>
                </a:r>
                <a:r>
                  <a:rPr>
                    <a:solidFill>
                      <a:srgbClr val="BB6688"/>
                    </a:solidFill>
                    <a:latin typeface="Courier"/>
                  </a:rPr>
                  <a:t>First 3 components explain: </a:t>
                </a:r>
                <a:r>
                  <a:rPr>
                    <a:solidFill>
                      <a:srgbClr val="4070A0"/>
                    </a:solidFill>
                    <a:latin typeface="Courier"/>
                  </a:rPr>
                  <a:t>{</a:t>
                </a:r>
                <a:r>
                  <a:rPr>
                    <a:latin typeface="Courier"/>
                  </a:rPr>
                  <a:t>total_var</a:t>
                </a:r>
                <a:r>
                  <a:rPr>
                    <a:solidFill>
                      <a:srgbClr val="4070A0"/>
                    </a:solidFill>
                    <a:latin typeface="Courier"/>
                  </a:rPr>
                  <a:t>:.1f}</a:t>
                </a:r>
                <a:r>
                  <a:rPr>
                    <a:solidFill>
                      <a:srgbClr val="BB6688"/>
                    </a:solidFill>
                    <a:latin typeface="Courier"/>
                  </a:rPr>
                  <a:t>% of total variance"</a:t>
                </a:r>
                <a:r>
                  <a:rPr>
                    <a:latin typeface="Courier"/>
                  </a:rPr>
                  <a:t>)</a:t>
                </a:r>
                <a:br/>
                <a:br/>
                <a:r>
                  <a:rPr>
                    <a:latin typeface="Courier"/>
                  </a:rPr>
                  <a:t>fig_pca1 </a:t>
                </a:r>
                <a:r>
                  <a:rPr>
                    <a:solidFill>
                      <a:srgbClr val="666666"/>
                    </a:solidFill>
                    <a:latin typeface="Courier"/>
                  </a:rPr>
                  <a:t>=</a:t>
                </a:r>
                <a:r>
                  <a:rPr>
                    <a:latin typeface="Courier"/>
                  </a:rPr>
                  <a:t> plot_pca_components_interactive(pca, maturities)</a:t>
                </a:r>
              </a:p>
              <a:p>
                <a:pPr lvl="0" indent="0">
                  <a:buNone/>
                </a:pPr>
                <a:r>
                  <a:rPr>
                    <a:latin typeface="Courier"/>
                  </a:rPr>
                  <a:t>PCA, Explained Variance:
  PC1: 87.8%
  PC2: 9.3%
  PC3: 2.2%
  PC4: 0.7%
First 3 components explain: 99.3% of total variance</a:t>
                </a:r>
              </a:p>
              <a:p>
                <a:pPr lvl="0" indent="0">
                  <a:buNone/>
                </a:pPr>
                <a:r>
                  <a:rPr>
                    <a:latin typeface="Courier"/>
                  </a:rPr>
                  <a:t>Unable to display output for mime type(s): text/html</a:t>
                </a:r>
              </a:p>
              <a:p>
                <a:pPr lvl="0" indent="0">
                  <a:buNone/>
                </a:pPr>
                <a:r>
                  <a:rPr>
                    <a:latin typeface="Courier"/>
                  </a:rPr>
                  <a:t>fig_pca2 </a:t>
                </a:r>
                <a:r>
                  <a:rPr>
                    <a:solidFill>
                      <a:srgbClr val="666666"/>
                    </a:solidFill>
                    <a:latin typeface="Courier"/>
                  </a:rPr>
                  <a:t>=</a:t>
                </a:r>
                <a:r>
                  <a:rPr>
                    <a:latin typeface="Courier"/>
                  </a:rPr>
                  <a:t> plot_pca_variance_interactive(pca)</a:t>
                </a:r>
              </a:p>
              <a:p>
                <a:pPr lvl="0" indent="0">
                  <a:buNone/>
                </a:pPr>
                <a:r>
                  <a:rPr>
                    <a:latin typeface="Courier"/>
                  </a:rPr>
                  <a:t>Unable to display output for mime type(s): text/html</a:t>
                </a:r>
              </a:p>
              <a:p>
                <a:pPr lvl="0" indent="0" marL="1270000">
                  <a:buNone/>
                </a:pPr>
                <a:r>
                  <a:rPr sz="2000" b="1"/>
                  <a:t>Interpreting the factors:</a:t>
                </a:r>
              </a:p>
              <a:p>
                <a:pPr lvl="0"/>
                <a:r>
                  <a:rPr sz="2000" b="1"/>
                  <a:t>PC1 (Level)</a:t>
                </a:r>
                <a:r>
                  <a:rPr sz="2000"/>
                  <a:t>, all loadings have the same sign. When this factor moves, all rates rise or fall together. It is by far the dominant driver of yield curve risk, capturing the 2022–2023 Fed hiking cycle in full.</a:t>
                </a:r>
              </a:p>
              <a:p>
                <a:pPr lvl="0"/>
                <a:r>
                  <a:rPr sz="2000" b="1"/>
                  <a:t>PC2 (Slope)</a:t>
                </a:r>
                <a:r>
                  <a:rPr sz="2000"/>
                  <a:t>, loadings are positive at long maturities and negative at short ones. This captures steepening/flattening dynamics.</a:t>
                </a:r>
              </a:p>
              <a:p>
                <a:pPr lvl="0"/>
                <a:r>
                  <a:rPr sz="2000" b="1"/>
                  <a:t>PC3 (Curvature)</a:t>
                </a:r>
                <a:r>
                  <a:rPr sz="2000"/>
                  <a:t>, a hump-shaped pattern, reflecting movements in intermediate maturities relative to the short and long ends.</a:t>
                </a:r>
              </a:p>
            </p:txBody>
          </p:sp>
        </mc:Choice>
      </mc:AlternateContent>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Extension: Machine Learning Yield Curve Forecasting</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 Can we predict where rates are heading?</a:t>
            </a:r>
          </a:p>
          <a:p>
            <a:pPr lvl="0" indent="0" marL="1270000">
              <a:buNone/>
            </a:pPr>
            <a:r>
              <a:rPr sz="2000"/>
              <a:t>Traditional yield curve models are </a:t>
            </a:r>
            <a:r>
              <a:rPr sz="2000" i="1"/>
              <a:t>descriptive</a:t>
            </a:r>
            <a:r>
              <a:rPr sz="2000"/>
              <a:t>: they tell us what the curve looks like today, and how sensitive it is to shocks. But a natural next question emerges: can we build a model that </a:t>
            </a:r>
            <a:r>
              <a:rPr sz="2000" i="1"/>
              <a:t>predicts</a:t>
            </a:r>
            <a:r>
              <a:rPr sz="2000"/>
              <a:t> where rates will be in 1 month, 3 months, or 6 months? Machine learning offers a data-driven approach to this problem.</a:t>
            </a:r>
          </a:p>
          <a:p>
            <a:pPr lvl="0" indent="0" marL="0">
              <a:buNone/>
            </a:pPr>
            <a:r>
              <a:rPr/>
              <a:t>We’ve already prepared everything we need for this extension. Our PCA analysis computed </a:t>
            </a:r>
            <a:r>
              <a:rPr b="1"/>
              <a:t>daily yield changes</a:t>
            </a:r>
            <a:r>
              <a:rPr/>
              <a:t> across all four maturities over 5 years, that’s 1 249 observations of how the curve evolves day-to-day. We can now use this time series to train a supervised learning model.</a:t>
            </a:r>
          </a:p>
          <a:p>
            <a:pPr lvl="0" indent="0" marL="0">
              <a:buNone/>
            </a:pPr>
            <a:r>
              <a:rPr/>
              <a:t>The idea is simple but powerful. Today’s short-term rates often contain information about where longer-term rates are heading. If the 1-year rate jumps sharply, the 10-year rate tends to follow, though with a lag and a dampening effect. Machine learning can learn these patterns automatically from historical data, without requiring us to specify the functional form by hand.</a:t>
            </a:r>
          </a:p>
          <a:p>
            <a:pPr lvl="0" indent="0" marL="0">
              <a:buNone/>
            </a:pPr>
            <a:r>
              <a:rPr/>
              <a:t>We use a </a:t>
            </a:r>
            <a:r>
              <a:rPr b="1"/>
              <a:t>Random Forest regressor</a:t>
            </a:r>
            <a:r>
              <a:rPr/>
              <a:t>, an ensemble method that fits multiple decision trees and averages their predictions. Random Forests are robust to overfitting, handle non-linear relationships naturally, and require minimal hyperparameter tuning. We train the model to predict the </a:t>
            </a:r>
            <a:r>
              <a:rPr b="1"/>
              <a:t>1-month forward change</a:t>
            </a:r>
            <a:r>
              <a:rPr/>
              <a:t> in the 10-year zero rate, using as features: (1) today’s level of all four rates, (2) yesterday’s changes in all four rates, and (3) the rolling 20-day volatility of rate changes.</a:t>
            </a:r>
          </a:p>
          <a:p>
            <a:pPr lvl="0" indent="0">
              <a:buNone/>
            </a:pPr>
            <a:r>
              <a:rPr b="1">
                <a:solidFill>
                  <a:srgbClr val="008000"/>
                </a:solidFill>
                <a:latin typeface="Courier"/>
              </a:rPr>
              <a:t>from</a:t>
            </a:r>
            <a:r>
              <a:rPr>
                <a:latin typeface="Courier"/>
              </a:rPr>
              <a:t> sklearn.ensemble </a:t>
            </a:r>
            <a:r>
              <a:rPr b="1">
                <a:solidFill>
                  <a:srgbClr val="008000"/>
                </a:solidFill>
                <a:latin typeface="Courier"/>
              </a:rPr>
              <a:t>import</a:t>
            </a:r>
            <a:r>
              <a:rPr>
                <a:latin typeface="Courier"/>
              </a:rPr>
              <a:t> RandomForestRegressor</a:t>
            </a:r>
            <a:br/>
            <a:r>
              <a:rPr b="1">
                <a:solidFill>
                  <a:srgbClr val="008000"/>
                </a:solidFill>
                <a:latin typeface="Courier"/>
              </a:rPr>
              <a:t>from</a:t>
            </a:r>
            <a:r>
              <a:rPr>
                <a:latin typeface="Courier"/>
              </a:rPr>
              <a:t> sklearn.model_selection </a:t>
            </a:r>
            <a:r>
              <a:rPr b="1">
                <a:solidFill>
                  <a:srgbClr val="008000"/>
                </a:solidFill>
                <a:latin typeface="Courier"/>
              </a:rPr>
              <a:t>import</a:t>
            </a:r>
            <a:r>
              <a:rPr>
                <a:latin typeface="Courier"/>
              </a:rPr>
              <a:t> train_test_split</a:t>
            </a:r>
            <a:br/>
            <a:r>
              <a:rPr b="1">
                <a:solidFill>
                  <a:srgbClr val="008000"/>
                </a:solidFill>
                <a:latin typeface="Courier"/>
              </a:rPr>
              <a:t>from</a:t>
            </a:r>
            <a:r>
              <a:rPr>
                <a:latin typeface="Courier"/>
              </a:rPr>
              <a:t> sklearn.metrics </a:t>
            </a:r>
            <a:r>
              <a:rPr b="1">
                <a:solidFill>
                  <a:srgbClr val="008000"/>
                </a:solidFill>
                <a:latin typeface="Courier"/>
              </a:rPr>
              <a:t>import</a:t>
            </a:r>
            <a:r>
              <a:rPr>
                <a:latin typeface="Courier"/>
              </a:rPr>
              <a:t> mean_absolute_error, r2_score</a:t>
            </a:r>
            <a:br/>
            <a:br/>
            <a:r>
              <a:rPr i="1">
                <a:solidFill>
                  <a:srgbClr val="60A0B0"/>
                </a:solidFill>
                <a:latin typeface="Courier"/>
              </a:rPr>
              <a:t># Build ML dataset from PCA returns</a:t>
            </a:r>
            <a:br/>
            <a:r>
              <a:rPr b="1">
                <a:solidFill>
                  <a:srgbClr val="007020"/>
                </a:solidFill>
                <a:latin typeface="Courier"/>
              </a:rPr>
              <a:t>def</a:t>
            </a:r>
            <a:r>
              <a:rPr>
                <a:latin typeface="Courier"/>
              </a:rPr>
              <a:t> build_ml_features(returns):</a:t>
            </a:r>
            <a:br/>
            <a:r>
              <a:rPr>
                <a:latin typeface="Courier"/>
              </a:rPr>
              <a:t>    </a:t>
            </a:r>
            <a:r>
              <a:rPr i="1">
                <a:solidFill>
                  <a:srgbClr val="60A0B0"/>
                </a:solidFill>
                <a:latin typeface="Courier"/>
              </a:rPr>
              <a:t>"""</a:t>
            </a:r>
            <a:br/>
            <a:r>
              <a:rPr i="1">
                <a:solidFill>
                  <a:srgbClr val="60A0B0"/>
                </a:solidFill>
                <a:latin typeface="Courier"/>
              </a:rPr>
              <a:t>    Create supervised learning dataset:</a:t>
            </a:r>
            <a:br/>
            <a:r>
              <a:rPr i="1">
                <a:solidFill>
                  <a:srgbClr val="60A0B0"/>
                </a:solidFill>
                <a:latin typeface="Courier"/>
              </a:rPr>
              <a:t>      - Features: today's rate levels + yesterday's changes + 20d vol</a:t>
            </a:r>
            <a:br/>
            <a:r>
              <a:rPr i="1">
                <a:solidFill>
                  <a:srgbClr val="60A0B0"/>
                </a:solidFill>
                <a:latin typeface="Courier"/>
              </a:rPr>
              <a:t>      - Target: 1-month forward change in 10Y rate</a:t>
            </a:r>
            <a:br/>
            <a:r>
              <a:rPr i="1">
                <a:solidFill>
                  <a:srgbClr val="60A0B0"/>
                </a:solidFill>
                <a:latin typeface="Courier"/>
              </a:rPr>
              <a:t>    """</a:t>
            </a:r>
            <a:br/>
            <a:r>
              <a:rPr>
                <a:latin typeface="Courier"/>
              </a:rPr>
              <a:t>    df </a:t>
            </a:r>
            <a:r>
              <a:rPr>
                <a:solidFill>
                  <a:srgbClr val="666666"/>
                </a:solidFill>
                <a:latin typeface="Courier"/>
              </a:rPr>
              <a:t>=</a:t>
            </a:r>
            <a:r>
              <a:rPr>
                <a:latin typeface="Courier"/>
              </a:rPr>
              <a:t> returns.copy()</a:t>
            </a:r>
            <a:br/>
            <a:r>
              <a:rPr>
                <a:latin typeface="Courier"/>
              </a:rPr>
              <a:t>    df.columns </a:t>
            </a:r>
            <a:r>
              <a:rPr>
                <a:solidFill>
                  <a:srgbClr val="666666"/>
                </a:solidFill>
                <a:latin typeface="Courier"/>
              </a:rPr>
              <a:t>=</a:t>
            </a:r>
            <a:r>
              <a:rPr>
                <a:latin typeface="Courier"/>
              </a:rPr>
              <a:t> [</a:t>
            </a:r>
            <a:r>
              <a:rPr>
                <a:solidFill>
                  <a:srgbClr val="BB6688"/>
                </a:solidFill>
                <a:latin typeface="Courier"/>
              </a:rPr>
              <a:t>f"rate_</a:t>
            </a:r>
            <a:r>
              <a:rPr>
                <a:solidFill>
                  <a:srgbClr val="4070A0"/>
                </a:solidFill>
                <a:latin typeface="Courier"/>
              </a:rPr>
              <a:t>{</a:t>
            </a:r>
            <a:r>
              <a:rPr>
                <a:solidFill>
                  <a:srgbClr val="008000"/>
                </a:solidFill>
                <a:latin typeface="Courier"/>
              </a:rPr>
              <a:t>int</a:t>
            </a:r>
            <a:r>
              <a:rPr>
                <a:latin typeface="Courier"/>
              </a:rPr>
              <a:t>(c)</a:t>
            </a:r>
            <a:r>
              <a:rPr>
                <a:solidFill>
                  <a:srgbClr val="4070A0"/>
                </a:solidFill>
                <a:latin typeface="Courier"/>
              </a:rPr>
              <a:t>}</a:t>
            </a:r>
            <a:r>
              <a:rPr>
                <a:solidFill>
                  <a:srgbClr val="BB6688"/>
                </a:solidFill>
                <a:latin typeface="Courier"/>
              </a:rPr>
              <a:t>Y"</a:t>
            </a:r>
            <a:r>
              <a:rPr>
                <a:latin typeface="Courier"/>
              </a:rPr>
              <a:t> </a:t>
            </a:r>
            <a:r>
              <a:rPr b="1">
                <a:solidFill>
                  <a:srgbClr val="007020"/>
                </a:solidFill>
                <a:latin typeface="Courier"/>
              </a:rPr>
              <a:t>for</a:t>
            </a:r>
            <a:r>
              <a:rPr>
                <a:latin typeface="Courier"/>
              </a:rPr>
              <a:t> c </a:t>
            </a:r>
            <a:r>
              <a:rPr b="1">
                <a:solidFill>
                  <a:srgbClr val="007020"/>
                </a:solidFill>
                <a:latin typeface="Courier"/>
              </a:rPr>
              <a:t>in</a:t>
            </a:r>
            <a:r>
              <a:rPr>
                <a:latin typeface="Courier"/>
              </a:rPr>
              <a:t> df.columns]</a:t>
            </a:r>
            <a:br/>
            <a:r>
              <a:rPr>
                <a:latin typeface="Courier"/>
              </a:rPr>
              <a:t>    </a:t>
            </a:r>
            <a:br/>
            <a:r>
              <a:rPr>
                <a:latin typeface="Courier"/>
              </a:rPr>
              <a:t>    </a:t>
            </a:r>
            <a:r>
              <a:rPr i="1">
                <a:solidFill>
                  <a:srgbClr val="60A0B0"/>
                </a:solidFill>
                <a:latin typeface="Courier"/>
              </a:rPr>
              <a:t># Lagged changes</a:t>
            </a:r>
            <a:br/>
            <a:r>
              <a:rPr>
                <a:latin typeface="Courier"/>
              </a:rPr>
              <a:t>    </a:t>
            </a:r>
            <a:r>
              <a:rPr b="1">
                <a:solidFill>
                  <a:srgbClr val="007020"/>
                </a:solidFill>
                <a:latin typeface="Courier"/>
              </a:rPr>
              <a:t>for</a:t>
            </a:r>
            <a:r>
              <a:rPr>
                <a:latin typeface="Courier"/>
              </a:rPr>
              <a:t> col </a:t>
            </a:r>
            <a:r>
              <a:rPr b="1">
                <a:solidFill>
                  <a:srgbClr val="007020"/>
                </a:solidFill>
                <a:latin typeface="Courier"/>
              </a:rPr>
              <a:t>in</a:t>
            </a:r>
            <a:r>
              <a:rPr>
                <a:latin typeface="Courier"/>
              </a:rPr>
              <a:t> df.columns:</a:t>
            </a:r>
            <a:br/>
            <a:r>
              <a:rPr>
                <a:latin typeface="Courier"/>
              </a:rPr>
              <a:t>        df[</a:t>
            </a:r>
            <a:r>
              <a:rPr>
                <a:solidFill>
                  <a:srgbClr val="BB6688"/>
                </a:solidFill>
                <a:latin typeface="Courier"/>
              </a:rPr>
              <a:t>f"</a:t>
            </a:r>
            <a:r>
              <a:rPr>
                <a:solidFill>
                  <a:srgbClr val="4070A0"/>
                </a:solidFill>
                <a:latin typeface="Courier"/>
              </a:rPr>
              <a:t>{</a:t>
            </a:r>
            <a:r>
              <a:rPr>
                <a:latin typeface="Courier"/>
              </a:rPr>
              <a:t>col</a:t>
            </a:r>
            <a:r>
              <a:rPr>
                <a:solidFill>
                  <a:srgbClr val="4070A0"/>
                </a:solidFill>
                <a:latin typeface="Courier"/>
              </a:rPr>
              <a:t>}</a:t>
            </a:r>
            <a:r>
              <a:rPr>
                <a:solidFill>
                  <a:srgbClr val="BB6688"/>
                </a:solidFill>
                <a:latin typeface="Courier"/>
              </a:rPr>
              <a:t>_lag1"</a:t>
            </a:r>
            <a:r>
              <a:rPr>
                <a:latin typeface="Courier"/>
              </a:rPr>
              <a:t>] </a:t>
            </a:r>
            <a:r>
              <a:rPr>
                <a:solidFill>
                  <a:srgbClr val="666666"/>
                </a:solidFill>
                <a:latin typeface="Courier"/>
              </a:rPr>
              <a:t>=</a:t>
            </a:r>
            <a:r>
              <a:rPr>
                <a:latin typeface="Courier"/>
              </a:rPr>
              <a:t> df[col].shift(</a:t>
            </a:r>
            <a:r>
              <a:rPr>
                <a:solidFill>
                  <a:srgbClr val="40A070"/>
                </a:solidFill>
                <a:latin typeface="Courier"/>
              </a:rPr>
              <a:t>1</a:t>
            </a:r>
            <a:r>
              <a:rPr>
                <a:latin typeface="Courier"/>
              </a:rPr>
              <a:t>)</a:t>
            </a:r>
            <a:br/>
            <a:r>
              <a:rPr>
                <a:latin typeface="Courier"/>
              </a:rPr>
              <a:t>    </a:t>
            </a:r>
            <a:br/>
            <a:r>
              <a:rPr>
                <a:latin typeface="Courier"/>
              </a:rPr>
              <a:t>    </a:t>
            </a:r>
            <a:r>
              <a:rPr i="1">
                <a:solidFill>
                  <a:srgbClr val="60A0B0"/>
                </a:solidFill>
                <a:latin typeface="Courier"/>
              </a:rPr>
              <a:t># Rolling volatility (20-day window)</a:t>
            </a:r>
            <a:br/>
            <a:r>
              <a:rPr>
                <a:latin typeface="Courier"/>
              </a:rPr>
              <a:t>    </a:t>
            </a:r>
            <a:r>
              <a:rPr b="1">
                <a:solidFill>
                  <a:srgbClr val="007020"/>
                </a:solidFill>
                <a:latin typeface="Courier"/>
              </a:rPr>
              <a:t>for</a:t>
            </a:r>
            <a:r>
              <a:rPr>
                <a:latin typeface="Courier"/>
              </a:rPr>
              <a:t> col </a:t>
            </a:r>
            <a:r>
              <a:rPr b="1">
                <a:solidFill>
                  <a:srgbClr val="007020"/>
                </a:solidFill>
                <a:latin typeface="Courier"/>
              </a:rPr>
              <a:t>in</a:t>
            </a:r>
            <a:r>
              <a:rPr>
                <a:latin typeface="Courier"/>
              </a:rPr>
              <a:t> [c </a:t>
            </a:r>
            <a:r>
              <a:rPr b="1">
                <a:solidFill>
                  <a:srgbClr val="007020"/>
                </a:solidFill>
                <a:latin typeface="Courier"/>
              </a:rPr>
              <a:t>for</a:t>
            </a:r>
            <a:r>
              <a:rPr>
                <a:latin typeface="Courier"/>
              </a:rPr>
              <a:t> c </a:t>
            </a:r>
            <a:r>
              <a:rPr b="1">
                <a:solidFill>
                  <a:srgbClr val="007020"/>
                </a:solidFill>
                <a:latin typeface="Courier"/>
              </a:rPr>
              <a:t>in</a:t>
            </a:r>
            <a:r>
              <a:rPr>
                <a:latin typeface="Courier"/>
              </a:rPr>
              <a:t> df.columns </a:t>
            </a:r>
            <a:r>
              <a:rPr b="1">
                <a:solidFill>
                  <a:srgbClr val="007020"/>
                </a:solidFill>
                <a:latin typeface="Courier"/>
              </a:rPr>
              <a:t>if</a:t>
            </a:r>
            <a:r>
              <a:rPr>
                <a:latin typeface="Courier"/>
              </a:rPr>
              <a:t> c.startswith(</a:t>
            </a:r>
            <a:r>
              <a:rPr>
                <a:solidFill>
                  <a:srgbClr val="4070A0"/>
                </a:solidFill>
                <a:latin typeface="Courier"/>
              </a:rPr>
              <a:t>"rate_"</a:t>
            </a:r>
            <a:r>
              <a:rPr>
                <a:latin typeface="Courier"/>
              </a:rPr>
              <a:t>)]:</a:t>
            </a:r>
            <a:br/>
            <a:r>
              <a:rPr>
                <a:latin typeface="Courier"/>
              </a:rPr>
              <a:t>        df[</a:t>
            </a:r>
            <a:r>
              <a:rPr>
                <a:solidFill>
                  <a:srgbClr val="BB6688"/>
                </a:solidFill>
                <a:latin typeface="Courier"/>
              </a:rPr>
              <a:t>f"</a:t>
            </a:r>
            <a:r>
              <a:rPr>
                <a:solidFill>
                  <a:srgbClr val="4070A0"/>
                </a:solidFill>
                <a:latin typeface="Courier"/>
              </a:rPr>
              <a:t>{</a:t>
            </a:r>
            <a:r>
              <a:rPr>
                <a:latin typeface="Courier"/>
              </a:rPr>
              <a:t>col</a:t>
            </a:r>
            <a:r>
              <a:rPr>
                <a:solidFill>
                  <a:srgbClr val="4070A0"/>
                </a:solidFill>
                <a:latin typeface="Courier"/>
              </a:rPr>
              <a:t>}</a:t>
            </a:r>
            <a:r>
              <a:rPr>
                <a:solidFill>
                  <a:srgbClr val="BB6688"/>
                </a:solidFill>
                <a:latin typeface="Courier"/>
              </a:rPr>
              <a:t>_vol20d"</a:t>
            </a:r>
            <a:r>
              <a:rPr>
                <a:latin typeface="Courier"/>
              </a:rPr>
              <a:t>] </a:t>
            </a:r>
            <a:r>
              <a:rPr>
                <a:solidFill>
                  <a:srgbClr val="666666"/>
                </a:solidFill>
                <a:latin typeface="Courier"/>
              </a:rPr>
              <a:t>=</a:t>
            </a:r>
            <a:r>
              <a:rPr>
                <a:latin typeface="Courier"/>
              </a:rPr>
              <a:t> df[col].rolling(</a:t>
            </a:r>
            <a:r>
              <a:rPr>
                <a:solidFill>
                  <a:srgbClr val="40A070"/>
                </a:solidFill>
                <a:latin typeface="Courier"/>
              </a:rPr>
              <a:t>20</a:t>
            </a:r>
            <a:r>
              <a:rPr>
                <a:latin typeface="Courier"/>
              </a:rPr>
              <a:t>).std()</a:t>
            </a:r>
            <a:br/>
            <a:r>
              <a:rPr>
                <a:latin typeface="Courier"/>
              </a:rPr>
              <a:t>    </a:t>
            </a:r>
            <a:br/>
            <a:r>
              <a:rPr>
                <a:latin typeface="Courier"/>
              </a:rPr>
              <a:t>    </a:t>
            </a:r>
            <a:r>
              <a:rPr i="1">
                <a:solidFill>
                  <a:srgbClr val="60A0B0"/>
                </a:solidFill>
                <a:latin typeface="Courier"/>
              </a:rPr>
              <a:t># Target: 1-month forward change in 10Y</a:t>
            </a:r>
            <a:br/>
            <a:r>
              <a:rPr>
                <a:latin typeface="Courier"/>
              </a:rPr>
              <a:t>    df[</a:t>
            </a:r>
            <a:r>
              <a:rPr>
                <a:solidFill>
                  <a:srgbClr val="4070A0"/>
                </a:solidFill>
                <a:latin typeface="Courier"/>
              </a:rPr>
              <a:t>"target"</a:t>
            </a:r>
            <a:r>
              <a:rPr>
                <a:latin typeface="Courier"/>
              </a:rPr>
              <a:t>] </a:t>
            </a:r>
            <a:r>
              <a:rPr>
                <a:solidFill>
                  <a:srgbClr val="666666"/>
                </a:solidFill>
                <a:latin typeface="Courier"/>
              </a:rPr>
              <a:t>=</a:t>
            </a:r>
            <a:r>
              <a:rPr>
                <a:latin typeface="Courier"/>
              </a:rPr>
              <a:t> df[</a:t>
            </a:r>
            <a:r>
              <a:rPr>
                <a:solidFill>
                  <a:srgbClr val="4070A0"/>
                </a:solidFill>
                <a:latin typeface="Courier"/>
              </a:rPr>
              <a:t>"rate_10Y"</a:t>
            </a:r>
            <a:r>
              <a:rPr>
                <a:latin typeface="Courier"/>
              </a:rPr>
              <a:t>].shift(</a:t>
            </a:r>
            <a:r>
              <a:rPr>
                <a:solidFill>
                  <a:srgbClr val="666666"/>
                </a:solidFill>
                <a:latin typeface="Courier"/>
              </a:rPr>
              <a:t>-</a:t>
            </a:r>
            <a:r>
              <a:rPr>
                <a:solidFill>
                  <a:srgbClr val="40A070"/>
                </a:solidFill>
                <a:latin typeface="Courier"/>
              </a:rPr>
              <a:t>21</a:t>
            </a:r>
            <a:r>
              <a:rPr>
                <a:latin typeface="Courier"/>
              </a:rPr>
              <a:t>)  </a:t>
            </a:r>
            <a:r>
              <a:rPr i="1">
                <a:solidFill>
                  <a:srgbClr val="60A0B0"/>
                </a:solidFill>
                <a:latin typeface="Courier"/>
              </a:rPr>
              <a:t># ~1 month = 21 trading days</a:t>
            </a:r>
            <a:br/>
            <a:r>
              <a:rPr>
                <a:latin typeface="Courier"/>
              </a:rPr>
              <a:t>    </a:t>
            </a:r>
            <a:br/>
            <a:r>
              <a:rPr>
                <a:latin typeface="Courier"/>
              </a:rPr>
              <a:t>    </a:t>
            </a:r>
            <a:r>
              <a:rPr i="1">
                <a:solidFill>
                  <a:srgbClr val="60A0B0"/>
                </a:solidFill>
                <a:latin typeface="Courier"/>
              </a:rPr>
              <a:t># Drop rows with NaN (edges of rolling windows and lags)</a:t>
            </a:r>
            <a:br/>
            <a:r>
              <a:rPr>
                <a:latin typeface="Courier"/>
              </a:rPr>
              <a:t>    df </a:t>
            </a:r>
            <a:r>
              <a:rPr>
                <a:solidFill>
                  <a:srgbClr val="666666"/>
                </a:solidFill>
                <a:latin typeface="Courier"/>
              </a:rPr>
              <a:t>=</a:t>
            </a:r>
            <a:r>
              <a:rPr>
                <a:latin typeface="Courier"/>
              </a:rPr>
              <a:t> df.dropna()</a:t>
            </a:r>
            <a:br/>
            <a:r>
              <a:rPr>
                <a:latin typeface="Courier"/>
              </a:rPr>
              <a:t>    </a:t>
            </a:r>
            <a:br/>
            <a:r>
              <a:rPr>
                <a:latin typeface="Courier"/>
              </a:rPr>
              <a:t>    </a:t>
            </a:r>
            <a:r>
              <a:rPr b="1">
                <a:solidFill>
                  <a:srgbClr val="007020"/>
                </a:solidFill>
                <a:latin typeface="Courier"/>
              </a:rPr>
              <a:t>return</a:t>
            </a:r>
            <a:r>
              <a:rPr>
                <a:latin typeface="Courier"/>
              </a:rPr>
              <a:t> df</a:t>
            </a:r>
            <a:br/>
            <a:br/>
            <a:r>
              <a:rPr>
                <a:latin typeface="Courier"/>
              </a:rPr>
              <a:t>ml_data </a:t>
            </a:r>
            <a:r>
              <a:rPr>
                <a:solidFill>
                  <a:srgbClr val="666666"/>
                </a:solidFill>
                <a:latin typeface="Courier"/>
              </a:rPr>
              <a:t>=</a:t>
            </a:r>
            <a:r>
              <a:rPr>
                <a:latin typeface="Courier"/>
              </a:rPr>
              <a:t> build_ml_features(returns)</a:t>
            </a:r>
            <a:br/>
            <a:br/>
            <a:r>
              <a:rPr i="1">
                <a:solidFill>
                  <a:srgbClr val="60A0B0"/>
                </a:solidFill>
                <a:latin typeface="Courier"/>
              </a:rPr>
              <a:t># Features: all columns except target</a:t>
            </a:r>
            <a:br/>
            <a:r>
              <a:rPr>
                <a:latin typeface="Courier"/>
              </a:rPr>
              <a:t>X </a:t>
            </a:r>
            <a:r>
              <a:rPr>
                <a:solidFill>
                  <a:srgbClr val="666666"/>
                </a:solidFill>
                <a:latin typeface="Courier"/>
              </a:rPr>
              <a:t>=</a:t>
            </a:r>
            <a:r>
              <a:rPr>
                <a:latin typeface="Courier"/>
              </a:rPr>
              <a:t> ml_data.drop(columns</a:t>
            </a:r>
            <a:r>
              <a:rPr>
                <a:solidFill>
                  <a:srgbClr val="666666"/>
                </a:solidFill>
                <a:latin typeface="Courier"/>
              </a:rPr>
              <a:t>=</a:t>
            </a:r>
            <a:r>
              <a:rPr>
                <a:latin typeface="Courier"/>
              </a:rPr>
              <a:t>[</a:t>
            </a:r>
            <a:r>
              <a:rPr>
                <a:solidFill>
                  <a:srgbClr val="4070A0"/>
                </a:solidFill>
                <a:latin typeface="Courier"/>
              </a:rPr>
              <a:t>"target"</a:t>
            </a:r>
            <a:r>
              <a:rPr>
                <a:latin typeface="Courier"/>
              </a:rPr>
              <a:t>])</a:t>
            </a:r>
            <a:br/>
            <a:r>
              <a:rPr>
                <a:latin typeface="Courier"/>
              </a:rPr>
              <a:t>y </a:t>
            </a:r>
            <a:r>
              <a:rPr>
                <a:solidFill>
                  <a:srgbClr val="666666"/>
                </a:solidFill>
                <a:latin typeface="Courier"/>
              </a:rPr>
              <a:t>=</a:t>
            </a:r>
            <a:r>
              <a:rPr>
                <a:latin typeface="Courier"/>
              </a:rPr>
              <a:t> ml_data[</a:t>
            </a:r>
            <a:r>
              <a:rPr>
                <a:solidFill>
                  <a:srgbClr val="4070A0"/>
                </a:solidFill>
                <a:latin typeface="Courier"/>
              </a:rPr>
              <a:t>"target"</a:t>
            </a:r>
            <a:r>
              <a:rPr>
                <a:latin typeface="Courier"/>
              </a:rPr>
              <a:t>]</a:t>
            </a:r>
            <a:br/>
            <a:br/>
            <a:r>
              <a:rPr i="1">
                <a:solidFill>
                  <a:srgbClr val="60A0B0"/>
                </a:solidFill>
                <a:latin typeface="Courier"/>
              </a:rPr>
              <a:t># Train/test split: 80% train, 20% test (chronological)</a:t>
            </a:r>
            <a:br/>
            <a:r>
              <a:rPr>
                <a:latin typeface="Courier"/>
              </a:rPr>
              <a:t>split_idx </a:t>
            </a:r>
            <a:r>
              <a:rPr>
                <a:solidFill>
                  <a:srgbClr val="666666"/>
                </a:solidFill>
                <a:latin typeface="Courier"/>
              </a:rPr>
              <a:t>=</a:t>
            </a:r>
            <a:r>
              <a:rPr>
                <a:latin typeface="Courier"/>
              </a:rPr>
              <a:t> </a:t>
            </a:r>
            <a:r>
              <a:rPr>
                <a:solidFill>
                  <a:srgbClr val="008000"/>
                </a:solidFill>
                <a:latin typeface="Courier"/>
              </a:rPr>
              <a:t>int</a:t>
            </a:r>
            <a:r>
              <a:rPr>
                <a:latin typeface="Courier"/>
              </a:rPr>
              <a:t>(</a:t>
            </a:r>
            <a:r>
              <a:rPr>
                <a:solidFill>
                  <a:srgbClr val="008000"/>
                </a:solidFill>
                <a:latin typeface="Courier"/>
              </a:rPr>
              <a:t>len</a:t>
            </a:r>
            <a:r>
              <a:rPr>
                <a:latin typeface="Courier"/>
              </a:rPr>
              <a:t>(X) </a:t>
            </a:r>
            <a:r>
              <a:rPr>
                <a:solidFill>
                  <a:srgbClr val="666666"/>
                </a:solidFill>
                <a:latin typeface="Courier"/>
              </a:rPr>
              <a:t>*</a:t>
            </a:r>
            <a:r>
              <a:rPr>
                <a:latin typeface="Courier"/>
              </a:rPr>
              <a:t> </a:t>
            </a:r>
            <a:r>
              <a:rPr>
                <a:solidFill>
                  <a:srgbClr val="40A070"/>
                </a:solidFill>
                <a:latin typeface="Courier"/>
              </a:rPr>
              <a:t>0.8</a:t>
            </a:r>
            <a:r>
              <a:rPr>
                <a:latin typeface="Courier"/>
              </a:rPr>
              <a:t>)</a:t>
            </a:r>
            <a:br/>
            <a:r>
              <a:rPr>
                <a:latin typeface="Courier"/>
              </a:rPr>
              <a:t>X_train, X_test </a:t>
            </a:r>
            <a:r>
              <a:rPr>
                <a:solidFill>
                  <a:srgbClr val="666666"/>
                </a:solidFill>
                <a:latin typeface="Courier"/>
              </a:rPr>
              <a:t>=</a:t>
            </a:r>
            <a:r>
              <a:rPr>
                <a:latin typeface="Courier"/>
              </a:rPr>
              <a:t> X.iloc[:split_idx], X.iloc[split_idx:]</a:t>
            </a:r>
            <a:br/>
            <a:r>
              <a:rPr>
                <a:latin typeface="Courier"/>
              </a:rPr>
              <a:t>y_train, y_test </a:t>
            </a:r>
            <a:r>
              <a:rPr>
                <a:solidFill>
                  <a:srgbClr val="666666"/>
                </a:solidFill>
                <a:latin typeface="Courier"/>
              </a:rPr>
              <a:t>=</a:t>
            </a:r>
            <a:r>
              <a:rPr>
                <a:latin typeface="Courier"/>
              </a:rPr>
              <a:t> y.iloc[:split_idx], y.iloc[split_idx:]</a:t>
            </a:r>
            <a:br/>
            <a:br/>
            <a:r>
              <a:rPr>
                <a:solidFill>
                  <a:srgbClr val="008000"/>
                </a:solidFill>
                <a:latin typeface="Courier"/>
              </a:rPr>
              <a:t>print</a:t>
            </a:r>
            <a:r>
              <a:rPr>
                <a:latin typeface="Courier"/>
              </a:rPr>
              <a:t>(</a:t>
            </a:r>
            <a:r>
              <a:rPr>
                <a:solidFill>
                  <a:srgbClr val="BB6688"/>
                </a:solidFill>
                <a:latin typeface="Courier"/>
              </a:rPr>
              <a:t>f"Training set  : </a:t>
            </a:r>
            <a:r>
              <a:rPr>
                <a:solidFill>
                  <a:srgbClr val="4070A0"/>
                </a:solidFill>
                <a:latin typeface="Courier"/>
              </a:rPr>
              <a:t>{</a:t>
            </a:r>
            <a:r>
              <a:rPr>
                <a:solidFill>
                  <a:srgbClr val="008000"/>
                </a:solidFill>
                <a:latin typeface="Courier"/>
              </a:rPr>
              <a:t>len</a:t>
            </a:r>
            <a:r>
              <a:rPr>
                <a:latin typeface="Courier"/>
              </a:rPr>
              <a:t>(X_train)</a:t>
            </a:r>
            <a:r>
              <a:rPr>
                <a:solidFill>
                  <a:srgbClr val="4070A0"/>
                </a:solidFill>
                <a:latin typeface="Courier"/>
              </a:rPr>
              <a:t>}</a:t>
            </a:r>
            <a:r>
              <a:rPr>
                <a:solidFill>
                  <a:srgbClr val="BB6688"/>
                </a:solidFill>
                <a:latin typeface="Courier"/>
              </a:rPr>
              <a:t> observations"</a:t>
            </a:r>
            <a:r>
              <a:rPr>
                <a:latin typeface="Courier"/>
              </a:rPr>
              <a:t>)</a:t>
            </a:r>
            <a:br/>
            <a:r>
              <a:rPr>
                <a:solidFill>
                  <a:srgbClr val="008000"/>
                </a:solidFill>
                <a:latin typeface="Courier"/>
              </a:rPr>
              <a:t>print</a:t>
            </a:r>
            <a:r>
              <a:rPr>
                <a:latin typeface="Courier"/>
              </a:rPr>
              <a:t>(</a:t>
            </a:r>
            <a:r>
              <a:rPr>
                <a:solidFill>
                  <a:srgbClr val="BB6688"/>
                </a:solidFill>
                <a:latin typeface="Courier"/>
              </a:rPr>
              <a:t>f"Test set      : </a:t>
            </a:r>
            <a:r>
              <a:rPr>
                <a:solidFill>
                  <a:srgbClr val="4070A0"/>
                </a:solidFill>
                <a:latin typeface="Courier"/>
              </a:rPr>
              <a:t>{</a:t>
            </a:r>
            <a:r>
              <a:rPr>
                <a:solidFill>
                  <a:srgbClr val="008000"/>
                </a:solidFill>
                <a:latin typeface="Courier"/>
              </a:rPr>
              <a:t>len</a:t>
            </a:r>
            <a:r>
              <a:rPr>
                <a:latin typeface="Courier"/>
              </a:rPr>
              <a:t>(X_test)</a:t>
            </a:r>
            <a:r>
              <a:rPr>
                <a:solidFill>
                  <a:srgbClr val="4070A0"/>
                </a:solidFill>
                <a:latin typeface="Courier"/>
              </a:rPr>
              <a:t>}</a:t>
            </a:r>
            <a:r>
              <a:rPr>
                <a:solidFill>
                  <a:srgbClr val="BB6688"/>
                </a:solidFill>
                <a:latin typeface="Courier"/>
              </a:rPr>
              <a:t> observations"</a:t>
            </a:r>
            <a:r>
              <a:rPr>
                <a:latin typeface="Courier"/>
              </a:rPr>
              <a:t>)</a:t>
            </a:r>
            <a:br/>
            <a:r>
              <a:rPr>
                <a:solidFill>
                  <a:srgbClr val="008000"/>
                </a:solidFill>
                <a:latin typeface="Courier"/>
              </a:rPr>
              <a:t>print</a:t>
            </a:r>
            <a:r>
              <a:rPr>
                <a:latin typeface="Courier"/>
              </a:rPr>
              <a:t>(</a:t>
            </a:r>
            <a:r>
              <a:rPr>
                <a:solidFill>
                  <a:srgbClr val="BB6688"/>
                </a:solidFill>
                <a:latin typeface="Courier"/>
              </a:rPr>
              <a:t>f"Features used : </a:t>
            </a:r>
            <a:r>
              <a:rPr>
                <a:solidFill>
                  <a:srgbClr val="4070A0"/>
                </a:solidFill>
                <a:latin typeface="Courier"/>
              </a:rPr>
              <a:t>{</a:t>
            </a:r>
            <a:r>
              <a:rPr>
                <a:latin typeface="Courier"/>
              </a:rPr>
              <a:t>X</a:t>
            </a:r>
            <a:r>
              <a:rPr>
                <a:solidFill>
                  <a:srgbClr val="4070A0"/>
                </a:solidFill>
                <a:latin typeface="Courier"/>
              </a:rPr>
              <a:t>.</a:t>
            </a:r>
            <a:r>
              <a:rPr>
                <a:latin typeface="Courier"/>
              </a:rPr>
              <a:t>shape[</a:t>
            </a:r>
            <a:r>
              <a:rPr>
                <a:solidFill>
                  <a:srgbClr val="40A070"/>
                </a:solidFill>
                <a:latin typeface="Courier"/>
              </a:rPr>
              <a:t>1</a:t>
            </a:r>
            <a:r>
              <a:rPr>
                <a:latin typeface="Courier"/>
              </a:rPr>
              <a:t>]</a:t>
            </a:r>
            <a:r>
              <a:rPr>
                <a:solidFill>
                  <a:srgbClr val="4070A0"/>
                </a:solidFill>
                <a:latin typeface="Courier"/>
              </a:rPr>
              <a:t>}</a:t>
            </a:r>
            <a:r>
              <a:rPr>
                <a:solidFill>
                  <a:srgbClr val="BB6688"/>
                </a:solidFill>
                <a:latin typeface="Courier"/>
              </a:rPr>
              <a:t>"</a:t>
            </a:r>
            <a:r>
              <a:rPr>
                <a:latin typeface="Courier"/>
              </a:rPr>
              <a:t>)</a:t>
            </a:r>
          </a:p>
          <a:p>
            <a:pPr lvl="0" indent="0">
              <a:buNone/>
            </a:pPr>
            <a:r>
              <a:rPr>
                <a:latin typeface="Courier"/>
              </a:rPr>
              <a:t>Training set  : 966 observations
Test set      : 242 observations
Features used : 16</a:t>
            </a:r>
          </a:p>
          <a:p>
            <a:pPr lvl="0" indent="0">
              <a:buNone/>
            </a:pPr>
            <a:r>
              <a:rPr i="1">
                <a:solidFill>
                  <a:srgbClr val="60A0B0"/>
                </a:solidFill>
                <a:latin typeface="Courier"/>
              </a:rPr>
              <a:t># Train Random Forest</a:t>
            </a:r>
            <a:br/>
            <a:r>
              <a:rPr>
                <a:latin typeface="Courier"/>
              </a:rPr>
              <a:t>rf </a:t>
            </a:r>
            <a:r>
              <a:rPr>
                <a:solidFill>
                  <a:srgbClr val="666666"/>
                </a:solidFill>
                <a:latin typeface="Courier"/>
              </a:rPr>
              <a:t>=</a:t>
            </a:r>
            <a:r>
              <a:rPr>
                <a:latin typeface="Courier"/>
              </a:rPr>
              <a:t> RandomForestRegressor(</a:t>
            </a:r>
            <a:br/>
            <a:r>
              <a:rPr>
                <a:latin typeface="Courier"/>
              </a:rPr>
              <a:t>    n_estimators</a:t>
            </a:r>
            <a:r>
              <a:rPr>
                <a:solidFill>
                  <a:srgbClr val="666666"/>
                </a:solidFill>
                <a:latin typeface="Courier"/>
              </a:rPr>
              <a:t>=</a:t>
            </a:r>
            <a:r>
              <a:rPr>
                <a:solidFill>
                  <a:srgbClr val="40A070"/>
                </a:solidFill>
                <a:latin typeface="Courier"/>
              </a:rPr>
              <a:t>100</a:t>
            </a:r>
            <a:r>
              <a:rPr>
                <a:latin typeface="Courier"/>
              </a:rPr>
              <a:t>,</a:t>
            </a:r>
            <a:br/>
            <a:r>
              <a:rPr>
                <a:latin typeface="Courier"/>
              </a:rPr>
              <a:t>    max_depth</a:t>
            </a:r>
            <a:r>
              <a:rPr>
                <a:solidFill>
                  <a:srgbClr val="666666"/>
                </a:solidFill>
                <a:latin typeface="Courier"/>
              </a:rPr>
              <a:t>=</a:t>
            </a:r>
            <a:r>
              <a:rPr>
                <a:solidFill>
                  <a:srgbClr val="40A070"/>
                </a:solidFill>
                <a:latin typeface="Courier"/>
              </a:rPr>
              <a:t>8</a:t>
            </a:r>
            <a:r>
              <a:rPr>
                <a:latin typeface="Courier"/>
              </a:rPr>
              <a:t>,</a:t>
            </a:r>
            <a:br/>
            <a:r>
              <a:rPr>
                <a:latin typeface="Courier"/>
              </a:rPr>
              <a:t>    min_samples_split</a:t>
            </a:r>
            <a:r>
              <a:rPr>
                <a:solidFill>
                  <a:srgbClr val="666666"/>
                </a:solidFill>
                <a:latin typeface="Courier"/>
              </a:rPr>
              <a:t>=</a:t>
            </a:r>
            <a:r>
              <a:rPr>
                <a:solidFill>
                  <a:srgbClr val="40A070"/>
                </a:solidFill>
                <a:latin typeface="Courier"/>
              </a:rPr>
              <a:t>10</a:t>
            </a:r>
            <a:r>
              <a:rPr>
                <a:latin typeface="Courier"/>
              </a:rPr>
              <a:t>,</a:t>
            </a:r>
            <a:br/>
            <a:r>
              <a:rPr>
                <a:latin typeface="Courier"/>
              </a:rPr>
              <a:t>    random_state</a:t>
            </a:r>
            <a:r>
              <a:rPr>
                <a:solidFill>
                  <a:srgbClr val="666666"/>
                </a:solidFill>
                <a:latin typeface="Courier"/>
              </a:rPr>
              <a:t>=</a:t>
            </a:r>
            <a:r>
              <a:rPr>
                <a:solidFill>
                  <a:srgbClr val="40A070"/>
                </a:solidFill>
                <a:latin typeface="Courier"/>
              </a:rPr>
              <a:t>42</a:t>
            </a:r>
            <a:r>
              <a:rPr>
                <a:latin typeface="Courier"/>
              </a:rPr>
              <a:t>,</a:t>
            </a:r>
            <a:br/>
            <a:r>
              <a:rPr>
                <a:latin typeface="Courier"/>
              </a:rPr>
              <a:t>    n_jobs</a:t>
            </a:r>
            <a:r>
              <a:rPr>
                <a:solidFill>
                  <a:srgbClr val="666666"/>
                </a:solidFill>
                <a:latin typeface="Courier"/>
              </a:rPr>
              <a:t>=-</a:t>
            </a:r>
            <a:r>
              <a:rPr>
                <a:solidFill>
                  <a:srgbClr val="40A070"/>
                </a:solidFill>
                <a:latin typeface="Courier"/>
              </a:rPr>
              <a:t>1</a:t>
            </a:r>
            <a:br/>
            <a:r>
              <a:rPr>
                <a:latin typeface="Courier"/>
              </a:rPr>
              <a:t>)</a:t>
            </a:r>
            <a:br/>
            <a:br/>
            <a:r>
              <a:rPr>
                <a:latin typeface="Courier"/>
              </a:rPr>
              <a:t>rf.fit(X_train, y_train)</a:t>
            </a:r>
            <a:br/>
            <a:br/>
            <a:r>
              <a:rPr i="1">
                <a:solidFill>
                  <a:srgbClr val="60A0B0"/>
                </a:solidFill>
                <a:latin typeface="Courier"/>
              </a:rPr>
              <a:t># Predictions</a:t>
            </a:r>
            <a:br/>
            <a:r>
              <a:rPr>
                <a:latin typeface="Courier"/>
              </a:rPr>
              <a:t>y_pred_train </a:t>
            </a:r>
            <a:r>
              <a:rPr>
                <a:solidFill>
                  <a:srgbClr val="666666"/>
                </a:solidFill>
                <a:latin typeface="Courier"/>
              </a:rPr>
              <a:t>=</a:t>
            </a:r>
            <a:r>
              <a:rPr>
                <a:latin typeface="Courier"/>
              </a:rPr>
              <a:t> rf.predict(X_train)</a:t>
            </a:r>
            <a:br/>
            <a:r>
              <a:rPr>
                <a:latin typeface="Courier"/>
              </a:rPr>
              <a:t>y_pred_test </a:t>
            </a:r>
            <a:r>
              <a:rPr>
                <a:solidFill>
                  <a:srgbClr val="666666"/>
                </a:solidFill>
                <a:latin typeface="Courier"/>
              </a:rPr>
              <a:t>=</a:t>
            </a:r>
            <a:r>
              <a:rPr>
                <a:latin typeface="Courier"/>
              </a:rPr>
              <a:t> rf.predict(X_test)</a:t>
            </a:r>
            <a:br/>
            <a:br/>
            <a:r>
              <a:rPr i="1">
                <a:solidFill>
                  <a:srgbClr val="60A0B0"/>
                </a:solidFill>
                <a:latin typeface="Courier"/>
              </a:rPr>
              <a:t># Evaluation metrics</a:t>
            </a:r>
            <a:br/>
            <a:r>
              <a:rPr>
                <a:latin typeface="Courier"/>
              </a:rPr>
              <a:t>mae_train </a:t>
            </a:r>
            <a:r>
              <a:rPr>
                <a:solidFill>
                  <a:srgbClr val="666666"/>
                </a:solidFill>
                <a:latin typeface="Courier"/>
              </a:rPr>
              <a:t>=</a:t>
            </a:r>
            <a:r>
              <a:rPr>
                <a:latin typeface="Courier"/>
              </a:rPr>
              <a:t> mean_absolute_error(y_train, y_pred_train)</a:t>
            </a:r>
            <a:br/>
            <a:r>
              <a:rPr>
                <a:latin typeface="Courier"/>
              </a:rPr>
              <a:t>mae_test </a:t>
            </a:r>
            <a:r>
              <a:rPr>
                <a:solidFill>
                  <a:srgbClr val="666666"/>
                </a:solidFill>
                <a:latin typeface="Courier"/>
              </a:rPr>
              <a:t>=</a:t>
            </a:r>
            <a:r>
              <a:rPr>
                <a:latin typeface="Courier"/>
              </a:rPr>
              <a:t> mean_absolute_error(y_test, y_pred_test)</a:t>
            </a:r>
            <a:br/>
            <a:r>
              <a:rPr>
                <a:latin typeface="Courier"/>
              </a:rPr>
              <a:t>r2_train </a:t>
            </a:r>
            <a:r>
              <a:rPr>
                <a:solidFill>
                  <a:srgbClr val="666666"/>
                </a:solidFill>
                <a:latin typeface="Courier"/>
              </a:rPr>
              <a:t>=</a:t>
            </a:r>
            <a:r>
              <a:rPr>
                <a:latin typeface="Courier"/>
              </a:rPr>
              <a:t> r2_score(y_train, y_pred_train)</a:t>
            </a:r>
            <a:br/>
            <a:r>
              <a:rPr>
                <a:latin typeface="Courier"/>
              </a:rPr>
              <a:t>r2_test </a:t>
            </a:r>
            <a:r>
              <a:rPr>
                <a:solidFill>
                  <a:srgbClr val="666666"/>
                </a:solidFill>
                <a:latin typeface="Courier"/>
              </a:rPr>
              <a:t>=</a:t>
            </a:r>
            <a:r>
              <a:rPr>
                <a:latin typeface="Courier"/>
              </a:rPr>
              <a:t> r2_score(y_test, y_pred_test)</a:t>
            </a:r>
            <a:br/>
            <a:br/>
            <a:r>
              <a:rPr>
                <a:solidFill>
                  <a:srgbClr val="008000"/>
                </a:solidFill>
                <a:latin typeface="Courier"/>
              </a:rPr>
              <a:t>print</a:t>
            </a:r>
            <a:r>
              <a:rPr>
                <a:latin typeface="Courier"/>
              </a:rPr>
              <a:t>(</a:t>
            </a:r>
            <a:r>
              <a:rPr>
                <a:solidFill>
                  <a:srgbClr val="4070A0"/>
                </a:solidFill>
                <a:latin typeface="Courier"/>
              </a:rPr>
              <a:t>"\nModel Performance:"</a:t>
            </a:r>
            <a:r>
              <a:rPr>
                <a:latin typeface="Courier"/>
              </a:rPr>
              <a:t>)</a:t>
            </a:r>
            <a:br/>
            <a:r>
              <a:rPr>
                <a:solidFill>
                  <a:srgbClr val="008000"/>
                </a:solidFill>
                <a:latin typeface="Courier"/>
              </a:rPr>
              <a:t>print</a:t>
            </a:r>
            <a:r>
              <a:rPr>
                <a:latin typeface="Courier"/>
              </a:rPr>
              <a:t>(</a:t>
            </a:r>
            <a:r>
              <a:rPr>
                <a:solidFill>
                  <a:srgbClr val="BB6688"/>
                </a:solidFill>
                <a:latin typeface="Courier"/>
              </a:rPr>
              <a:t>f"  Train MAE : </a:t>
            </a:r>
            <a:r>
              <a:rPr>
                <a:solidFill>
                  <a:srgbClr val="4070A0"/>
                </a:solidFill>
                <a:latin typeface="Courier"/>
              </a:rPr>
              <a:t>{</a:t>
            </a:r>
            <a:r>
              <a:rPr>
                <a:latin typeface="Courier"/>
              </a:rPr>
              <a:t>mae_train</a:t>
            </a:r>
            <a:r>
              <a:rPr>
                <a:solidFill>
                  <a:srgbClr val="666666"/>
                </a:solidFill>
                <a:latin typeface="Courier"/>
              </a:rPr>
              <a:t>*</a:t>
            </a:r>
            <a:r>
              <a:rPr>
                <a:solidFill>
                  <a:srgbClr val="40A070"/>
                </a:solidFill>
                <a:latin typeface="Courier"/>
              </a:rPr>
              <a:t>10000</a:t>
            </a:r>
            <a:r>
              <a:rPr>
                <a:solidFill>
                  <a:srgbClr val="4070A0"/>
                </a:solidFill>
                <a:latin typeface="Courier"/>
              </a:rPr>
              <a:t>:.2f}</a:t>
            </a:r>
            <a:r>
              <a:rPr>
                <a:solidFill>
                  <a:srgbClr val="BB6688"/>
                </a:solidFill>
                <a:latin typeface="Courier"/>
              </a:rPr>
              <a:t> bps"</a:t>
            </a:r>
            <a:r>
              <a:rPr>
                <a:latin typeface="Courier"/>
              </a:rPr>
              <a:t>)</a:t>
            </a:r>
            <a:br/>
            <a:r>
              <a:rPr>
                <a:solidFill>
                  <a:srgbClr val="008000"/>
                </a:solidFill>
                <a:latin typeface="Courier"/>
              </a:rPr>
              <a:t>print</a:t>
            </a:r>
            <a:r>
              <a:rPr>
                <a:latin typeface="Courier"/>
              </a:rPr>
              <a:t>(</a:t>
            </a:r>
            <a:r>
              <a:rPr>
                <a:solidFill>
                  <a:srgbClr val="BB6688"/>
                </a:solidFill>
                <a:latin typeface="Courier"/>
              </a:rPr>
              <a:t>f"  Test MAE  : </a:t>
            </a:r>
            <a:r>
              <a:rPr>
                <a:solidFill>
                  <a:srgbClr val="4070A0"/>
                </a:solidFill>
                <a:latin typeface="Courier"/>
              </a:rPr>
              <a:t>{</a:t>
            </a:r>
            <a:r>
              <a:rPr>
                <a:latin typeface="Courier"/>
              </a:rPr>
              <a:t>mae_test</a:t>
            </a:r>
            <a:r>
              <a:rPr>
                <a:solidFill>
                  <a:srgbClr val="666666"/>
                </a:solidFill>
                <a:latin typeface="Courier"/>
              </a:rPr>
              <a:t>*</a:t>
            </a:r>
            <a:r>
              <a:rPr>
                <a:solidFill>
                  <a:srgbClr val="40A070"/>
                </a:solidFill>
                <a:latin typeface="Courier"/>
              </a:rPr>
              <a:t>10000</a:t>
            </a:r>
            <a:r>
              <a:rPr>
                <a:solidFill>
                  <a:srgbClr val="4070A0"/>
                </a:solidFill>
                <a:latin typeface="Courier"/>
              </a:rPr>
              <a:t>:.2f}</a:t>
            </a:r>
            <a:r>
              <a:rPr>
                <a:solidFill>
                  <a:srgbClr val="BB6688"/>
                </a:solidFill>
                <a:latin typeface="Courier"/>
              </a:rPr>
              <a:t> bps"</a:t>
            </a:r>
            <a:r>
              <a:rPr>
                <a:latin typeface="Courier"/>
              </a:rPr>
              <a:t>)</a:t>
            </a:r>
            <a:br/>
            <a:r>
              <a:rPr>
                <a:solidFill>
                  <a:srgbClr val="008000"/>
                </a:solidFill>
                <a:latin typeface="Courier"/>
              </a:rPr>
              <a:t>print</a:t>
            </a:r>
            <a:r>
              <a:rPr>
                <a:latin typeface="Courier"/>
              </a:rPr>
              <a:t>(</a:t>
            </a:r>
            <a:r>
              <a:rPr>
                <a:solidFill>
                  <a:srgbClr val="BB6688"/>
                </a:solidFill>
                <a:latin typeface="Courier"/>
              </a:rPr>
              <a:t>f"  Train R²  : </a:t>
            </a:r>
            <a:r>
              <a:rPr>
                <a:solidFill>
                  <a:srgbClr val="4070A0"/>
                </a:solidFill>
                <a:latin typeface="Courier"/>
              </a:rPr>
              <a:t>{</a:t>
            </a:r>
            <a:r>
              <a:rPr>
                <a:latin typeface="Courier"/>
              </a:rPr>
              <a:t>r2_train</a:t>
            </a:r>
            <a:r>
              <a:rPr>
                <a:solidFill>
                  <a:srgbClr val="4070A0"/>
                </a:solidFill>
                <a:latin typeface="Courier"/>
              </a:rPr>
              <a:t>:.3f}</a:t>
            </a:r>
            <a:r>
              <a:rPr>
                <a:solidFill>
                  <a:srgbClr val="BB6688"/>
                </a:solidFill>
                <a:latin typeface="Courier"/>
              </a:rPr>
              <a:t>"</a:t>
            </a:r>
            <a:r>
              <a:rPr>
                <a:latin typeface="Courier"/>
              </a:rPr>
              <a:t>)</a:t>
            </a:r>
            <a:br/>
            <a:r>
              <a:rPr>
                <a:solidFill>
                  <a:srgbClr val="008000"/>
                </a:solidFill>
                <a:latin typeface="Courier"/>
              </a:rPr>
              <a:t>print</a:t>
            </a:r>
            <a:r>
              <a:rPr>
                <a:latin typeface="Courier"/>
              </a:rPr>
              <a:t>(</a:t>
            </a:r>
            <a:r>
              <a:rPr>
                <a:solidFill>
                  <a:srgbClr val="BB6688"/>
                </a:solidFill>
                <a:latin typeface="Courier"/>
              </a:rPr>
              <a:t>f"  Test R²   : </a:t>
            </a:r>
            <a:r>
              <a:rPr>
                <a:solidFill>
                  <a:srgbClr val="4070A0"/>
                </a:solidFill>
                <a:latin typeface="Courier"/>
              </a:rPr>
              <a:t>{</a:t>
            </a:r>
            <a:r>
              <a:rPr>
                <a:latin typeface="Courier"/>
              </a:rPr>
              <a:t>r2_test</a:t>
            </a:r>
            <a:r>
              <a:rPr>
                <a:solidFill>
                  <a:srgbClr val="4070A0"/>
                </a:solidFill>
                <a:latin typeface="Courier"/>
              </a:rPr>
              <a:t>:.3f}</a:t>
            </a:r>
            <a:r>
              <a:rPr>
                <a:solidFill>
                  <a:srgbClr val="BB6688"/>
                </a:solidFill>
                <a:latin typeface="Courier"/>
              </a:rPr>
              <a:t>"</a:t>
            </a:r>
            <a:r>
              <a:rPr>
                <a:latin typeface="Courier"/>
              </a:rPr>
              <a:t>)</a:t>
            </a:r>
          </a:p>
          <a:p>
            <a:pPr lvl="0" indent="0">
              <a:buNone/>
            </a:pPr>
            <a:r>
              <a:rPr>
                <a:latin typeface="Courier"/>
              </a:rPr>
              <a:t>
Model Performance:
  Train MAE : 4.20 bps
  Test MAE  : 3.86 bps
  Train R²  : 0.343
  Test R²   : -0.068</a:t>
            </a:r>
          </a:p>
          <a:p>
            <a:pPr lvl="0" indent="0">
              <a:buNone/>
            </a:pPr>
            <a:r>
              <a:rPr i="1">
                <a:solidFill>
                  <a:srgbClr val="60A0B0"/>
                </a:solidFill>
                <a:latin typeface="Courier"/>
              </a:rPr>
              <a:t># Feature importance</a:t>
            </a:r>
            <a:br/>
            <a:r>
              <a:rPr b="1">
                <a:solidFill>
                  <a:srgbClr val="008000"/>
                </a:solidFill>
                <a:latin typeface="Courier"/>
              </a:rPr>
              <a:t>import</a:t>
            </a:r>
            <a:r>
              <a:rPr>
                <a:latin typeface="Courier"/>
              </a:rPr>
              <a:t> pandas </a:t>
            </a:r>
            <a:r>
              <a:rPr b="1">
                <a:solidFill>
                  <a:srgbClr val="008000"/>
                </a:solidFill>
                <a:latin typeface="Courier"/>
              </a:rPr>
              <a:t>as</a:t>
            </a:r>
            <a:r>
              <a:rPr>
                <a:latin typeface="Courier"/>
              </a:rPr>
              <a:t> pd</a:t>
            </a:r>
            <a:br/>
            <a:br/>
            <a:r>
              <a:rPr>
                <a:latin typeface="Courier"/>
              </a:rPr>
              <a:t>importances </a:t>
            </a:r>
            <a:r>
              <a:rPr>
                <a:solidFill>
                  <a:srgbClr val="666666"/>
                </a:solidFill>
                <a:latin typeface="Courier"/>
              </a:rPr>
              <a:t>=</a:t>
            </a:r>
            <a:r>
              <a:rPr>
                <a:latin typeface="Courier"/>
              </a:rPr>
              <a:t> pd.DataFrame({</a:t>
            </a:r>
            <a:br/>
            <a:r>
              <a:rPr>
                <a:latin typeface="Courier"/>
              </a:rPr>
              <a:t>    </a:t>
            </a:r>
            <a:r>
              <a:rPr>
                <a:solidFill>
                  <a:srgbClr val="4070A0"/>
                </a:solidFill>
                <a:latin typeface="Courier"/>
              </a:rPr>
              <a:t>"Feature"</a:t>
            </a:r>
            <a:r>
              <a:rPr>
                <a:latin typeface="Courier"/>
              </a:rPr>
              <a:t>: X.columns,</a:t>
            </a:r>
            <a:br/>
            <a:r>
              <a:rPr>
                <a:latin typeface="Courier"/>
              </a:rPr>
              <a:t>    </a:t>
            </a:r>
            <a:r>
              <a:rPr>
                <a:solidFill>
                  <a:srgbClr val="4070A0"/>
                </a:solidFill>
                <a:latin typeface="Courier"/>
              </a:rPr>
              <a:t>"Importance"</a:t>
            </a:r>
            <a:r>
              <a:rPr>
                <a:latin typeface="Courier"/>
              </a:rPr>
              <a:t>: rf.feature_importances_</a:t>
            </a:r>
            <a:br/>
            <a:r>
              <a:rPr>
                <a:latin typeface="Courier"/>
              </a:rPr>
              <a:t>}).sort_values(</a:t>
            </a:r>
            <a:r>
              <a:rPr>
                <a:solidFill>
                  <a:srgbClr val="4070A0"/>
                </a:solidFill>
                <a:latin typeface="Courier"/>
              </a:rPr>
              <a:t>"Importance"</a:t>
            </a:r>
            <a:r>
              <a:rPr>
                <a:latin typeface="Courier"/>
              </a:rPr>
              <a:t>, ascending</a:t>
            </a:r>
            <a:r>
              <a:rPr>
                <a:solidFill>
                  <a:srgbClr val="666666"/>
                </a:solidFill>
                <a:latin typeface="Courier"/>
              </a:rPr>
              <a:t>=</a:t>
            </a:r>
            <a:r>
              <a:rPr>
                <a:solidFill>
                  <a:srgbClr val="19177C"/>
                </a:solidFill>
                <a:latin typeface="Courier"/>
              </a:rPr>
              <a:t>False</a:t>
            </a:r>
            <a:r>
              <a:rPr>
                <a:latin typeface="Courier"/>
              </a:rPr>
              <a:t>).head(</a:t>
            </a:r>
            <a:r>
              <a:rPr>
                <a:solidFill>
                  <a:srgbClr val="40A070"/>
                </a:solidFill>
                <a:latin typeface="Courier"/>
              </a:rPr>
              <a:t>10</a:t>
            </a:r>
            <a:r>
              <a:rPr>
                <a:latin typeface="Courier"/>
              </a:rPr>
              <a:t>)</a:t>
            </a:r>
            <a:br/>
            <a:br/>
            <a:r>
              <a:rPr>
                <a:solidFill>
                  <a:srgbClr val="008000"/>
                </a:solidFill>
                <a:latin typeface="Courier"/>
              </a:rPr>
              <a:t>print</a:t>
            </a:r>
            <a:r>
              <a:rPr>
                <a:latin typeface="Courier"/>
              </a:rPr>
              <a:t>(</a:t>
            </a:r>
            <a:r>
              <a:rPr>
                <a:solidFill>
                  <a:srgbClr val="4070A0"/>
                </a:solidFill>
                <a:latin typeface="Courier"/>
              </a:rPr>
              <a:t>"\nTop 10 Most Important Features:"</a:t>
            </a:r>
            <a:r>
              <a:rPr>
                <a:latin typeface="Courier"/>
              </a:rPr>
              <a:t>)</a:t>
            </a:r>
            <a:br/>
            <a:r>
              <a:rPr>
                <a:solidFill>
                  <a:srgbClr val="008000"/>
                </a:solidFill>
                <a:latin typeface="Courier"/>
              </a:rPr>
              <a:t>print</a:t>
            </a:r>
            <a:r>
              <a:rPr>
                <a:latin typeface="Courier"/>
              </a:rPr>
              <a:t>(importances.to_string(index</a:t>
            </a:r>
            <a:r>
              <a:rPr>
                <a:solidFill>
                  <a:srgbClr val="666666"/>
                </a:solidFill>
                <a:latin typeface="Courier"/>
              </a:rPr>
              <a:t>=</a:t>
            </a:r>
            <a:r>
              <a:rPr>
                <a:solidFill>
                  <a:srgbClr val="19177C"/>
                </a:solidFill>
                <a:latin typeface="Courier"/>
              </a:rPr>
              <a:t>False</a:t>
            </a:r>
            <a:r>
              <a:rPr>
                <a:latin typeface="Courier"/>
              </a:rPr>
              <a:t>))</a:t>
            </a:r>
          </a:p>
          <a:p>
            <a:pPr lvl="0" indent="0">
              <a:buNone/>
            </a:pPr>
            <a:r>
              <a:rPr>
                <a:latin typeface="Courier"/>
              </a:rPr>
              <a:t>
Top 10 Most Important Features:
             Feature  Importance
     rate_10Y_vol20d    0.092998
      rate_2Y_vol20d    0.075615
      rate_1Y_vol20d    0.073198
       rate_10Y_lag1    0.071506
 rate_5Y_lag1_vol20d    0.070160
rate_10Y_lag1_vol20d    0.069937
 rate_1Y_lag1_vol20d    0.068644
        rate_2Y_lag1    0.067967
 rate_2Y_lag1_vol20d    0.063039
        rate_5Y_lag1    0.062279</a:t>
            </a:r>
          </a:p>
          <a:p>
            <a:pPr lvl="0" indent="0">
              <a:buNone/>
            </a:pPr>
            <a:r>
              <a:rPr i="1">
                <a:solidFill>
                  <a:srgbClr val="60A0B0"/>
                </a:solidFill>
                <a:latin typeface="Courier"/>
              </a:rPr>
              <a:t># Visualize: Actual vs Predicted on test set</a:t>
            </a:r>
            <a:br/>
            <a:r>
              <a:rPr b="1">
                <a:solidFill>
                  <a:srgbClr val="008000"/>
                </a:solidFill>
                <a:latin typeface="Courier"/>
              </a:rPr>
              <a:t>import</a:t>
            </a:r>
            <a:r>
              <a:rPr>
                <a:latin typeface="Courier"/>
              </a:rPr>
              <a:t> plotly.graph_objects </a:t>
            </a:r>
            <a:r>
              <a:rPr b="1">
                <a:solidFill>
                  <a:srgbClr val="008000"/>
                </a:solidFill>
                <a:latin typeface="Courier"/>
              </a:rPr>
              <a:t>as</a:t>
            </a:r>
            <a:r>
              <a:rPr>
                <a:latin typeface="Courier"/>
              </a:rPr>
              <a:t> go</a:t>
            </a:r>
            <a:br/>
            <a:br/>
            <a:r>
              <a:rPr>
                <a:latin typeface="Courier"/>
              </a:rPr>
              <a:t>fig </a:t>
            </a:r>
            <a:r>
              <a:rPr>
                <a:solidFill>
                  <a:srgbClr val="666666"/>
                </a:solidFill>
                <a:latin typeface="Courier"/>
              </a:rPr>
              <a:t>=</a:t>
            </a:r>
            <a:r>
              <a:rPr>
                <a:latin typeface="Courier"/>
              </a:rPr>
              <a:t> go.Figure()</a:t>
            </a:r>
            <a:br/>
            <a:br/>
            <a:r>
              <a:rPr>
                <a:latin typeface="Courier"/>
              </a:rPr>
              <a:t>test_dates </a:t>
            </a:r>
            <a:r>
              <a:rPr>
                <a:solidFill>
                  <a:srgbClr val="666666"/>
                </a:solidFill>
                <a:latin typeface="Courier"/>
              </a:rPr>
              <a:t>=</a:t>
            </a:r>
            <a:r>
              <a:rPr>
                <a:latin typeface="Courier"/>
              </a:rPr>
              <a:t> ml_data.index[split_idx:]</a:t>
            </a:r>
            <a:br/>
            <a:br/>
            <a:r>
              <a:rPr>
                <a:latin typeface="Courier"/>
              </a:rPr>
              <a:t>fig.add_trace(go.Scatter(</a:t>
            </a:r>
            <a:br/>
            <a:r>
              <a:rPr>
                <a:latin typeface="Courier"/>
              </a:rPr>
              <a:t>    x</a:t>
            </a:r>
            <a:r>
              <a:rPr>
                <a:solidFill>
                  <a:srgbClr val="666666"/>
                </a:solidFill>
                <a:latin typeface="Courier"/>
              </a:rPr>
              <a:t>=</a:t>
            </a:r>
            <a:r>
              <a:rPr>
                <a:latin typeface="Courier"/>
              </a:rPr>
              <a:t>test_dates,</a:t>
            </a:r>
            <a:br/>
            <a:r>
              <a:rPr>
                <a:latin typeface="Courier"/>
              </a:rPr>
              <a:t>    y</a:t>
            </a:r>
            <a:r>
              <a:rPr>
                <a:solidFill>
                  <a:srgbClr val="666666"/>
                </a:solidFill>
                <a:latin typeface="Courier"/>
              </a:rPr>
              <a:t>=</a:t>
            </a:r>
            <a:r>
              <a:rPr>
                <a:latin typeface="Courier"/>
              </a:rPr>
              <a:t>y_test </a:t>
            </a:r>
            <a:r>
              <a:rPr>
                <a:solidFill>
                  <a:srgbClr val="666666"/>
                </a:solidFill>
                <a:latin typeface="Courier"/>
              </a:rPr>
              <a:t>*</a:t>
            </a:r>
            <a:r>
              <a:rPr>
                <a:latin typeface="Courier"/>
              </a:rPr>
              <a:t> </a:t>
            </a:r>
            <a:r>
              <a:rPr>
                <a:solidFill>
                  <a:srgbClr val="40A070"/>
                </a:solidFill>
                <a:latin typeface="Courier"/>
              </a:rPr>
              <a:t>10000</a:t>
            </a:r>
            <a:r>
              <a:rPr>
                <a:latin typeface="Courier"/>
              </a:rPr>
              <a:t>,</a:t>
            </a:r>
            <a:br/>
            <a:r>
              <a:rPr>
                <a:latin typeface="Courier"/>
              </a:rPr>
              <a:t>    mode</a:t>
            </a:r>
            <a:r>
              <a:rPr>
                <a:solidFill>
                  <a:srgbClr val="666666"/>
                </a:solidFill>
                <a:latin typeface="Courier"/>
              </a:rPr>
              <a:t>=</a:t>
            </a:r>
            <a:r>
              <a:rPr>
                <a:solidFill>
                  <a:srgbClr val="4070A0"/>
                </a:solidFill>
                <a:latin typeface="Courier"/>
              </a:rPr>
              <a:t>"lines"</a:t>
            </a:r>
            <a:r>
              <a:rPr>
                <a:latin typeface="Courier"/>
              </a:rPr>
              <a:t>,</a:t>
            </a:r>
            <a:br/>
            <a:r>
              <a:rPr>
                <a:latin typeface="Courier"/>
              </a:rPr>
              <a:t>    name</a:t>
            </a:r>
            <a:r>
              <a:rPr>
                <a:solidFill>
                  <a:srgbClr val="666666"/>
                </a:solidFill>
                <a:latin typeface="Courier"/>
              </a:rPr>
              <a:t>=</a:t>
            </a:r>
            <a:r>
              <a:rPr>
                <a:solidFill>
                  <a:srgbClr val="4070A0"/>
                </a:solidFill>
                <a:latin typeface="Courier"/>
              </a:rPr>
              <a:t>"Actual 1M Δ (10Y)"</a:t>
            </a:r>
            <a:r>
              <a:rPr>
                <a:latin typeface="Courier"/>
              </a:rPr>
              <a:t>,</a:t>
            </a:r>
            <a:br/>
            <a:r>
              <a:rPr>
                <a:latin typeface="Courier"/>
              </a:rPr>
              <a:t>    line</a:t>
            </a:r>
            <a:r>
              <a:rPr>
                <a:solidFill>
                  <a:srgbClr val="666666"/>
                </a:solidFill>
                <a:latin typeface="Courier"/>
              </a:rPr>
              <a:t>=</a:t>
            </a:r>
            <a:r>
              <a:rPr>
                <a:solidFill>
                  <a:srgbClr val="008000"/>
                </a:solidFill>
                <a:latin typeface="Courier"/>
              </a:rPr>
              <a:t>dict</a:t>
            </a:r>
            <a:r>
              <a:rPr>
                <a:latin typeface="Courier"/>
              </a:rPr>
              <a:t>(color</a:t>
            </a:r>
            <a:r>
              <a:rPr>
                <a:solidFill>
                  <a:srgbClr val="666666"/>
                </a:solidFill>
                <a:latin typeface="Courier"/>
              </a:rPr>
              <a:t>=</a:t>
            </a:r>
            <a:r>
              <a:rPr>
                <a:solidFill>
                  <a:srgbClr val="4070A0"/>
                </a:solidFill>
                <a:latin typeface="Courier"/>
              </a:rPr>
              <a:t>"#457B9D"</a:t>
            </a:r>
            <a:r>
              <a:rPr>
                <a:latin typeface="Courier"/>
              </a:rPr>
              <a:t>, width</a:t>
            </a:r>
            <a:r>
              <a:rPr>
                <a:solidFill>
                  <a:srgbClr val="666666"/>
                </a:solidFill>
                <a:latin typeface="Courier"/>
              </a:rPr>
              <a:t>=</a:t>
            </a:r>
            <a:r>
              <a:rPr>
                <a:solidFill>
                  <a:srgbClr val="40A070"/>
                </a:solidFill>
                <a:latin typeface="Courier"/>
              </a:rPr>
              <a:t>1.5</a:t>
            </a:r>
            <a:r>
              <a:rPr>
                <a:latin typeface="Courier"/>
              </a:rPr>
              <a:t>),</a:t>
            </a:r>
            <a:br/>
            <a:r>
              <a:rPr>
                <a:latin typeface="Courier"/>
              </a:rPr>
              <a:t>))</a:t>
            </a:r>
            <a:br/>
            <a:br/>
            <a:r>
              <a:rPr>
                <a:latin typeface="Courier"/>
              </a:rPr>
              <a:t>fig.add_trace(go.Scatter(</a:t>
            </a:r>
            <a:br/>
            <a:r>
              <a:rPr>
                <a:latin typeface="Courier"/>
              </a:rPr>
              <a:t>    x</a:t>
            </a:r>
            <a:r>
              <a:rPr>
                <a:solidFill>
                  <a:srgbClr val="666666"/>
                </a:solidFill>
                <a:latin typeface="Courier"/>
              </a:rPr>
              <a:t>=</a:t>
            </a:r>
            <a:r>
              <a:rPr>
                <a:latin typeface="Courier"/>
              </a:rPr>
              <a:t>test_dates,</a:t>
            </a:r>
            <a:br/>
            <a:r>
              <a:rPr>
                <a:latin typeface="Courier"/>
              </a:rPr>
              <a:t>    y</a:t>
            </a:r>
            <a:r>
              <a:rPr>
                <a:solidFill>
                  <a:srgbClr val="666666"/>
                </a:solidFill>
                <a:latin typeface="Courier"/>
              </a:rPr>
              <a:t>=</a:t>
            </a:r>
            <a:r>
              <a:rPr>
                <a:latin typeface="Courier"/>
              </a:rPr>
              <a:t>y_pred_test </a:t>
            </a:r>
            <a:r>
              <a:rPr>
                <a:solidFill>
                  <a:srgbClr val="666666"/>
                </a:solidFill>
                <a:latin typeface="Courier"/>
              </a:rPr>
              <a:t>*</a:t>
            </a:r>
            <a:r>
              <a:rPr>
                <a:latin typeface="Courier"/>
              </a:rPr>
              <a:t> </a:t>
            </a:r>
            <a:r>
              <a:rPr>
                <a:solidFill>
                  <a:srgbClr val="40A070"/>
                </a:solidFill>
                <a:latin typeface="Courier"/>
              </a:rPr>
              <a:t>10000</a:t>
            </a:r>
            <a:r>
              <a:rPr>
                <a:latin typeface="Courier"/>
              </a:rPr>
              <a:t>,</a:t>
            </a:r>
            <a:br/>
            <a:r>
              <a:rPr>
                <a:latin typeface="Courier"/>
              </a:rPr>
              <a:t>    mode</a:t>
            </a:r>
            <a:r>
              <a:rPr>
                <a:solidFill>
                  <a:srgbClr val="666666"/>
                </a:solidFill>
                <a:latin typeface="Courier"/>
              </a:rPr>
              <a:t>=</a:t>
            </a:r>
            <a:r>
              <a:rPr>
                <a:solidFill>
                  <a:srgbClr val="4070A0"/>
                </a:solidFill>
                <a:latin typeface="Courier"/>
              </a:rPr>
              <a:t>"lines"</a:t>
            </a:r>
            <a:r>
              <a:rPr>
                <a:latin typeface="Courier"/>
              </a:rPr>
              <a:t>,</a:t>
            </a:r>
            <a:br/>
            <a:r>
              <a:rPr>
                <a:latin typeface="Courier"/>
              </a:rPr>
              <a:t>    name</a:t>
            </a:r>
            <a:r>
              <a:rPr>
                <a:solidFill>
                  <a:srgbClr val="666666"/>
                </a:solidFill>
                <a:latin typeface="Courier"/>
              </a:rPr>
              <a:t>=</a:t>
            </a:r>
            <a:r>
              <a:rPr>
                <a:solidFill>
                  <a:srgbClr val="4070A0"/>
                </a:solidFill>
                <a:latin typeface="Courier"/>
              </a:rPr>
              <a:t>"Predicted 1M Δ (10Y)"</a:t>
            </a:r>
            <a:r>
              <a:rPr>
                <a:latin typeface="Courier"/>
              </a:rPr>
              <a:t>,</a:t>
            </a:r>
            <a:br/>
            <a:r>
              <a:rPr>
                <a:latin typeface="Courier"/>
              </a:rPr>
              <a:t>    line</a:t>
            </a:r>
            <a:r>
              <a:rPr>
                <a:solidFill>
                  <a:srgbClr val="666666"/>
                </a:solidFill>
                <a:latin typeface="Courier"/>
              </a:rPr>
              <a:t>=</a:t>
            </a:r>
            <a:r>
              <a:rPr>
                <a:solidFill>
                  <a:srgbClr val="008000"/>
                </a:solidFill>
                <a:latin typeface="Courier"/>
              </a:rPr>
              <a:t>dict</a:t>
            </a:r>
            <a:r>
              <a:rPr>
                <a:latin typeface="Courier"/>
              </a:rPr>
              <a:t>(color</a:t>
            </a:r>
            <a:r>
              <a:rPr>
                <a:solidFill>
                  <a:srgbClr val="666666"/>
                </a:solidFill>
                <a:latin typeface="Courier"/>
              </a:rPr>
              <a:t>=</a:t>
            </a:r>
            <a:r>
              <a:rPr>
                <a:solidFill>
                  <a:srgbClr val="4070A0"/>
                </a:solidFill>
                <a:latin typeface="Courier"/>
              </a:rPr>
              <a:t>"#E63946"</a:t>
            </a:r>
            <a:r>
              <a:rPr>
                <a:latin typeface="Courier"/>
              </a:rPr>
              <a:t>, width</a:t>
            </a:r>
            <a:r>
              <a:rPr>
                <a:solidFill>
                  <a:srgbClr val="666666"/>
                </a:solidFill>
                <a:latin typeface="Courier"/>
              </a:rPr>
              <a:t>=</a:t>
            </a:r>
            <a:r>
              <a:rPr>
                <a:solidFill>
                  <a:srgbClr val="40A070"/>
                </a:solidFill>
                <a:latin typeface="Courier"/>
              </a:rPr>
              <a:t>1.5</a:t>
            </a:r>
            <a:r>
              <a:rPr>
                <a:latin typeface="Courier"/>
              </a:rPr>
              <a:t>, dash</a:t>
            </a:r>
            <a:r>
              <a:rPr>
                <a:solidFill>
                  <a:srgbClr val="666666"/>
                </a:solidFill>
                <a:latin typeface="Courier"/>
              </a:rPr>
              <a:t>=</a:t>
            </a:r>
            <a:r>
              <a:rPr>
                <a:solidFill>
                  <a:srgbClr val="4070A0"/>
                </a:solidFill>
                <a:latin typeface="Courier"/>
              </a:rPr>
              <a:t>"dot"</a:t>
            </a:r>
            <a:r>
              <a:rPr>
                <a:latin typeface="Courier"/>
              </a:rPr>
              <a:t>),</a:t>
            </a:r>
            <a:br/>
            <a:r>
              <a:rPr>
                <a:latin typeface="Courier"/>
              </a:rPr>
              <a:t>))</a:t>
            </a:r>
            <a:br/>
            <a:br/>
            <a:r>
              <a:rPr>
                <a:latin typeface="Courier"/>
              </a:rPr>
              <a:t>fig.update_layout(</a:t>
            </a:r>
            <a:br/>
            <a:r>
              <a:rPr>
                <a:latin typeface="Courier"/>
              </a:rPr>
              <a:t>    title</a:t>
            </a:r>
            <a:r>
              <a:rPr>
                <a:solidFill>
                  <a:srgbClr val="666666"/>
                </a:solidFill>
                <a:latin typeface="Courier"/>
              </a:rPr>
              <a:t>=</a:t>
            </a:r>
            <a:r>
              <a:rPr>
                <a:solidFill>
                  <a:srgbClr val="008000"/>
                </a:solidFill>
                <a:latin typeface="Courier"/>
              </a:rPr>
              <a:t>dict</a:t>
            </a:r>
            <a:r>
              <a:rPr>
                <a:latin typeface="Courier"/>
              </a:rPr>
              <a:t>(</a:t>
            </a:r>
            <a:br/>
            <a:r>
              <a:rPr>
                <a:latin typeface="Courier"/>
              </a:rPr>
              <a:t>        text</a:t>
            </a:r>
            <a:r>
              <a:rPr>
                <a:solidFill>
                  <a:srgbClr val="666666"/>
                </a:solidFill>
                <a:latin typeface="Courier"/>
              </a:rPr>
              <a:t>=</a:t>
            </a:r>
            <a:r>
              <a:rPr>
                <a:solidFill>
                  <a:srgbClr val="4070A0"/>
                </a:solidFill>
                <a:latin typeface="Courier"/>
              </a:rPr>
              <a:t>"ML Forecast: 1-Month Forward Change in 10Y Rate"</a:t>
            </a:r>
            <a:r>
              <a:rPr>
                <a:latin typeface="Courier"/>
              </a:rPr>
              <a:t>,</a:t>
            </a:r>
            <a:br/>
            <a:r>
              <a:rPr>
                <a:latin typeface="Courier"/>
              </a:rPr>
              <a:t>        font</a:t>
            </a:r>
            <a:r>
              <a:rPr>
                <a:solidFill>
                  <a:srgbClr val="666666"/>
                </a:solidFill>
                <a:latin typeface="Courier"/>
              </a:rPr>
              <a:t>=</a:t>
            </a:r>
            <a:r>
              <a:rPr>
                <a:solidFill>
                  <a:srgbClr val="008000"/>
                </a:solidFill>
                <a:latin typeface="Courier"/>
              </a:rPr>
              <a:t>dict</a:t>
            </a:r>
            <a:r>
              <a:rPr>
                <a:latin typeface="Courier"/>
              </a:rPr>
              <a:t>(size</a:t>
            </a:r>
            <a:r>
              <a:rPr>
                <a:solidFill>
                  <a:srgbClr val="666666"/>
                </a:solidFill>
                <a:latin typeface="Courier"/>
              </a:rPr>
              <a:t>=</a:t>
            </a:r>
            <a:r>
              <a:rPr>
                <a:solidFill>
                  <a:srgbClr val="40A070"/>
                </a:solidFill>
                <a:latin typeface="Courier"/>
              </a:rPr>
              <a:t>16</a:t>
            </a:r>
            <a:r>
              <a:rPr>
                <a:latin typeface="Courier"/>
              </a:rPr>
              <a:t>),</a:t>
            </a:r>
            <a:br/>
            <a:r>
              <a:rPr>
                <a:latin typeface="Courier"/>
              </a:rPr>
              <a:t>        y</a:t>
            </a:r>
            <a:r>
              <a:rPr>
                <a:solidFill>
                  <a:srgbClr val="666666"/>
                </a:solidFill>
                <a:latin typeface="Courier"/>
              </a:rPr>
              <a:t>=</a:t>
            </a:r>
            <a:r>
              <a:rPr>
                <a:solidFill>
                  <a:srgbClr val="40A070"/>
                </a:solidFill>
                <a:latin typeface="Courier"/>
              </a:rPr>
              <a:t>0.95</a:t>
            </a:r>
            <a:r>
              <a:rPr>
                <a:latin typeface="Courier"/>
              </a:rPr>
              <a:t>,</a:t>
            </a:r>
            <a:br/>
            <a:r>
              <a:rPr>
                <a:latin typeface="Courier"/>
              </a:rPr>
              <a:t>        x</a:t>
            </a:r>
            <a:r>
              <a:rPr>
                <a:solidFill>
                  <a:srgbClr val="666666"/>
                </a:solidFill>
                <a:latin typeface="Courier"/>
              </a:rPr>
              <a:t>=</a:t>
            </a:r>
            <a:r>
              <a:rPr>
                <a:solidFill>
                  <a:srgbClr val="40A070"/>
                </a:solidFill>
                <a:latin typeface="Courier"/>
              </a:rPr>
              <a:t>0.5</a:t>
            </a:r>
            <a:r>
              <a:rPr>
                <a:latin typeface="Courier"/>
              </a:rPr>
              <a:t>,</a:t>
            </a:r>
            <a:br/>
            <a:r>
              <a:rPr>
                <a:latin typeface="Courier"/>
              </a:rPr>
              <a:t>        xanchor</a:t>
            </a:r>
            <a:r>
              <a:rPr>
                <a:solidFill>
                  <a:srgbClr val="666666"/>
                </a:solidFill>
                <a:latin typeface="Courier"/>
              </a:rPr>
              <a:t>=</a:t>
            </a:r>
            <a:r>
              <a:rPr>
                <a:solidFill>
                  <a:srgbClr val="4070A0"/>
                </a:solidFill>
                <a:latin typeface="Courier"/>
              </a:rPr>
              <a:t>'center'</a:t>
            </a:r>
            <a:r>
              <a:rPr>
                <a:latin typeface="Courier"/>
              </a:rPr>
              <a:t>,</a:t>
            </a:r>
            <a:br/>
            <a:r>
              <a:rPr>
                <a:latin typeface="Courier"/>
              </a:rPr>
              <a:t>        yanchor</a:t>
            </a:r>
            <a:r>
              <a:rPr>
                <a:solidFill>
                  <a:srgbClr val="666666"/>
                </a:solidFill>
                <a:latin typeface="Courier"/>
              </a:rPr>
              <a:t>=</a:t>
            </a:r>
            <a:r>
              <a:rPr>
                <a:solidFill>
                  <a:srgbClr val="4070A0"/>
                </a:solidFill>
                <a:latin typeface="Courier"/>
              </a:rPr>
              <a:t>'top'</a:t>
            </a:r>
            <a:br/>
            <a:r>
              <a:rPr>
                <a:latin typeface="Courier"/>
              </a:rPr>
              <a:t>    ),</a:t>
            </a:r>
            <a:br/>
            <a:r>
              <a:rPr>
                <a:latin typeface="Courier"/>
              </a:rPr>
              <a:t>    xaxis_title</a:t>
            </a:r>
            <a:r>
              <a:rPr>
                <a:solidFill>
                  <a:srgbClr val="666666"/>
                </a:solidFill>
                <a:latin typeface="Courier"/>
              </a:rPr>
              <a:t>=</a:t>
            </a:r>
            <a:r>
              <a:rPr>
                <a:solidFill>
                  <a:srgbClr val="4070A0"/>
                </a:solidFill>
                <a:latin typeface="Courier"/>
              </a:rPr>
              <a:t>"Date"</a:t>
            </a:r>
            <a:r>
              <a:rPr>
                <a:latin typeface="Courier"/>
              </a:rPr>
              <a:t>,</a:t>
            </a:r>
            <a:br/>
            <a:r>
              <a:rPr>
                <a:latin typeface="Courier"/>
              </a:rPr>
              <a:t>    yaxis_title</a:t>
            </a:r>
            <a:r>
              <a:rPr>
                <a:solidFill>
                  <a:srgbClr val="666666"/>
                </a:solidFill>
                <a:latin typeface="Courier"/>
              </a:rPr>
              <a:t>=</a:t>
            </a:r>
            <a:r>
              <a:rPr>
                <a:solidFill>
                  <a:srgbClr val="4070A0"/>
                </a:solidFill>
                <a:latin typeface="Courier"/>
              </a:rPr>
              <a:t>"Rate Change (bps)"</a:t>
            </a:r>
            <a:r>
              <a:rPr>
                <a:latin typeface="Courier"/>
              </a:rPr>
              <a:t>,</a:t>
            </a:r>
            <a:br/>
            <a:r>
              <a:rPr>
                <a:latin typeface="Courier"/>
              </a:rPr>
              <a:t>    template</a:t>
            </a:r>
            <a:r>
              <a:rPr>
                <a:solidFill>
                  <a:srgbClr val="666666"/>
                </a:solidFill>
                <a:latin typeface="Courier"/>
              </a:rPr>
              <a:t>=</a:t>
            </a:r>
            <a:r>
              <a:rPr>
                <a:solidFill>
                  <a:srgbClr val="4070A0"/>
                </a:solidFill>
                <a:latin typeface="Courier"/>
              </a:rPr>
              <a:t>"plotly_white"</a:t>
            </a:r>
            <a:r>
              <a:rPr>
                <a:latin typeface="Courier"/>
              </a:rPr>
              <a:t>,</a:t>
            </a:r>
            <a:br/>
            <a:r>
              <a:rPr>
                <a:latin typeface="Courier"/>
              </a:rPr>
              <a:t>    height</a:t>
            </a:r>
            <a:r>
              <a:rPr>
                <a:solidFill>
                  <a:srgbClr val="666666"/>
                </a:solidFill>
                <a:latin typeface="Courier"/>
              </a:rPr>
              <a:t>=</a:t>
            </a:r>
            <a:r>
              <a:rPr>
                <a:solidFill>
                  <a:srgbClr val="40A070"/>
                </a:solidFill>
                <a:latin typeface="Courier"/>
              </a:rPr>
              <a:t>500</a:t>
            </a:r>
            <a:r>
              <a:rPr>
                <a:latin typeface="Courier"/>
              </a:rPr>
              <a:t>,</a:t>
            </a:r>
            <a:br/>
            <a:r>
              <a:rPr>
                <a:latin typeface="Courier"/>
              </a:rPr>
              <a:t>    hovermode</a:t>
            </a:r>
            <a:r>
              <a:rPr>
                <a:solidFill>
                  <a:srgbClr val="666666"/>
                </a:solidFill>
                <a:latin typeface="Courier"/>
              </a:rPr>
              <a:t>=</a:t>
            </a:r>
            <a:r>
              <a:rPr>
                <a:solidFill>
                  <a:srgbClr val="4070A0"/>
                </a:solidFill>
                <a:latin typeface="Courier"/>
              </a:rPr>
              <a:t>"x unified"</a:t>
            </a:r>
            <a:r>
              <a:rPr>
                <a:latin typeface="Courier"/>
              </a:rPr>
              <a:t>,</a:t>
            </a:r>
            <a:br/>
            <a:r>
              <a:rPr>
                <a:latin typeface="Courier"/>
              </a:rPr>
              <a:t>    margin</a:t>
            </a:r>
            <a:r>
              <a:rPr>
                <a:solidFill>
                  <a:srgbClr val="666666"/>
                </a:solidFill>
                <a:latin typeface="Courier"/>
              </a:rPr>
              <a:t>=</a:t>
            </a:r>
            <a:r>
              <a:rPr>
                <a:solidFill>
                  <a:srgbClr val="008000"/>
                </a:solidFill>
                <a:latin typeface="Courier"/>
              </a:rPr>
              <a:t>dict</a:t>
            </a:r>
            <a:r>
              <a:rPr>
                <a:latin typeface="Courier"/>
              </a:rPr>
              <a:t>(t</a:t>
            </a:r>
            <a:r>
              <a:rPr>
                <a:solidFill>
                  <a:srgbClr val="666666"/>
                </a:solidFill>
                <a:latin typeface="Courier"/>
              </a:rPr>
              <a:t>=</a:t>
            </a:r>
            <a:r>
              <a:rPr>
                <a:solidFill>
                  <a:srgbClr val="40A070"/>
                </a:solidFill>
                <a:latin typeface="Courier"/>
              </a:rPr>
              <a:t>80</a:t>
            </a:r>
            <a:r>
              <a:rPr>
                <a:latin typeface="Courier"/>
              </a:rPr>
              <a:t>, b</a:t>
            </a:r>
            <a:r>
              <a:rPr>
                <a:solidFill>
                  <a:srgbClr val="666666"/>
                </a:solidFill>
                <a:latin typeface="Courier"/>
              </a:rPr>
              <a:t>=</a:t>
            </a:r>
            <a:r>
              <a:rPr>
                <a:solidFill>
                  <a:srgbClr val="40A070"/>
                </a:solidFill>
                <a:latin typeface="Courier"/>
              </a:rPr>
              <a:t>80</a:t>
            </a:r>
            <a:r>
              <a:rPr>
                <a:latin typeface="Courier"/>
              </a:rPr>
              <a:t>, l</a:t>
            </a:r>
            <a:r>
              <a:rPr>
                <a:solidFill>
                  <a:srgbClr val="666666"/>
                </a:solidFill>
                <a:latin typeface="Courier"/>
              </a:rPr>
              <a:t>=</a:t>
            </a:r>
            <a:r>
              <a:rPr>
                <a:solidFill>
                  <a:srgbClr val="40A070"/>
                </a:solidFill>
                <a:latin typeface="Courier"/>
              </a:rPr>
              <a:t>60</a:t>
            </a:r>
            <a:r>
              <a:rPr>
                <a:latin typeface="Courier"/>
              </a:rPr>
              <a:t>, r</a:t>
            </a:r>
            <a:r>
              <a:rPr>
                <a:solidFill>
                  <a:srgbClr val="666666"/>
                </a:solidFill>
                <a:latin typeface="Courier"/>
              </a:rPr>
              <a:t>=</a:t>
            </a:r>
            <a:r>
              <a:rPr>
                <a:solidFill>
                  <a:srgbClr val="40A070"/>
                </a:solidFill>
                <a:latin typeface="Courier"/>
              </a:rPr>
              <a:t>40</a:t>
            </a:r>
            <a:r>
              <a:rPr>
                <a:latin typeface="Courier"/>
              </a:rPr>
              <a:t>),</a:t>
            </a:r>
            <a:br/>
            <a:r>
              <a:rPr>
                <a:latin typeface="Courier"/>
              </a:rPr>
              <a:t>    legend</a:t>
            </a:r>
            <a:r>
              <a:rPr>
                <a:solidFill>
                  <a:srgbClr val="666666"/>
                </a:solidFill>
                <a:latin typeface="Courier"/>
              </a:rPr>
              <a:t>=</a:t>
            </a:r>
            <a:r>
              <a:rPr>
                <a:solidFill>
                  <a:srgbClr val="008000"/>
                </a:solidFill>
                <a:latin typeface="Courier"/>
              </a:rPr>
              <a:t>dict</a:t>
            </a:r>
            <a:r>
              <a:rPr>
                <a:latin typeface="Courier"/>
              </a:rPr>
              <a:t>(orientation</a:t>
            </a:r>
            <a:r>
              <a:rPr>
                <a:solidFill>
                  <a:srgbClr val="666666"/>
                </a:solidFill>
                <a:latin typeface="Courier"/>
              </a:rPr>
              <a:t>=</a:t>
            </a:r>
            <a:r>
              <a:rPr>
                <a:solidFill>
                  <a:srgbClr val="4070A0"/>
                </a:solidFill>
                <a:latin typeface="Courier"/>
              </a:rPr>
              <a:t>"h"</a:t>
            </a:r>
            <a:r>
              <a:rPr>
                <a:latin typeface="Courier"/>
              </a:rPr>
              <a:t>, yanchor</a:t>
            </a:r>
            <a:r>
              <a:rPr>
                <a:solidFill>
                  <a:srgbClr val="666666"/>
                </a:solidFill>
                <a:latin typeface="Courier"/>
              </a:rPr>
              <a:t>=</a:t>
            </a:r>
            <a:r>
              <a:rPr>
                <a:solidFill>
                  <a:srgbClr val="4070A0"/>
                </a:solidFill>
                <a:latin typeface="Courier"/>
              </a:rPr>
              <a:t>"bottom"</a:t>
            </a:r>
            <a:r>
              <a:rPr>
                <a:latin typeface="Courier"/>
              </a:rPr>
              <a:t>, y</a:t>
            </a:r>
            <a:r>
              <a:rPr>
                <a:solidFill>
                  <a:srgbClr val="666666"/>
                </a:solidFill>
                <a:latin typeface="Courier"/>
              </a:rPr>
              <a:t>=-</a:t>
            </a:r>
            <a:r>
              <a:rPr>
                <a:solidFill>
                  <a:srgbClr val="40A070"/>
                </a:solidFill>
                <a:latin typeface="Courier"/>
              </a:rPr>
              <a:t>0.2</a:t>
            </a:r>
            <a:r>
              <a:rPr>
                <a:latin typeface="Courier"/>
              </a:rPr>
              <a:t>, xanchor</a:t>
            </a:r>
            <a:r>
              <a:rPr>
                <a:solidFill>
                  <a:srgbClr val="666666"/>
                </a:solidFill>
                <a:latin typeface="Courier"/>
              </a:rPr>
              <a:t>=</a:t>
            </a:r>
            <a:r>
              <a:rPr>
                <a:solidFill>
                  <a:srgbClr val="4070A0"/>
                </a:solidFill>
                <a:latin typeface="Courier"/>
              </a:rPr>
              <a:t>"center"</a:t>
            </a:r>
            <a:r>
              <a:rPr>
                <a:latin typeface="Courier"/>
              </a:rPr>
              <a:t>, x</a:t>
            </a:r>
            <a:r>
              <a:rPr>
                <a:solidFill>
                  <a:srgbClr val="666666"/>
                </a:solidFill>
                <a:latin typeface="Courier"/>
              </a:rPr>
              <a:t>=</a:t>
            </a:r>
            <a:r>
              <a:rPr>
                <a:solidFill>
                  <a:srgbClr val="40A070"/>
                </a:solidFill>
                <a:latin typeface="Courier"/>
              </a:rPr>
              <a:t>0.5</a:t>
            </a:r>
            <a:r>
              <a:rPr>
                <a:latin typeface="Courier"/>
              </a:rPr>
              <a:t>),</a:t>
            </a:r>
            <a:br/>
            <a:r>
              <a:rPr>
                <a:latin typeface="Courier"/>
              </a:rPr>
              <a:t>)</a:t>
            </a:r>
            <a:br/>
            <a:br/>
            <a:r>
              <a:rPr>
                <a:latin typeface="Courier"/>
              </a:rPr>
              <a:t>fig.show()</a:t>
            </a:r>
          </a:p>
          <a:p>
            <a:pPr lvl="0" indent="0">
              <a:buNone/>
            </a:pPr>
            <a:r>
              <a:rPr>
                <a:latin typeface="Courier"/>
              </a:rPr>
              <a:t>Unable to display output for mime type(s): text/html</a:t>
            </a:r>
          </a:p>
          <a:p>
            <a:pPr lvl="0" indent="0" marL="0">
              <a:buNone/>
            </a:pPr>
            <a:r>
              <a:rPr/>
              <a:t>The results reveal an important lesson about machine learning in finance. On the test set, we achieve a Mean Absolute Error (MAE) of roughly 4 basis points, which sounds excellent. However, the R² score is </a:t>
            </a:r>
            <a:r>
              <a:rPr b="1"/>
              <a:t>negative</a:t>
            </a:r>
            <a:r>
              <a:rPr/>
              <a:t> (around -0.07), meaning the model performs </a:t>
            </a:r>
            <a:r>
              <a:rPr b="1"/>
              <a:t>worse than a naive baseline</a:t>
            </a:r>
            <a:r>
              <a:rPr/>
              <a:t> that simply predicts zero change every day.</a:t>
            </a:r>
          </a:p>
          <a:p>
            <a:pPr lvl="0" indent="0" marL="0">
              <a:buNone/>
            </a:pPr>
            <a:r>
              <a:rPr/>
              <a:t>What went wrong? The test period likely contains structural breaks or regime shifts that didn’t exist in the training data. Interest rate movements from 2021–2024 (our training set) were dominated by the Fed’s unprecedented hiking cycle. The test period (late 2024–2026) represents a different regime: rates stabilizing, inflation moderating, policy uncertainty. The model learned patterns that don’t generalize.</a:t>
            </a:r>
          </a:p>
          <a:p>
            <a:pPr lvl="0" indent="0" marL="0">
              <a:buNone/>
            </a:pPr>
            <a:r>
              <a:rPr/>
              <a:t>This is a </a:t>
            </a:r>
            <a:r>
              <a:rPr b="1"/>
              <a:t>classic overfitting problem</a:t>
            </a:r>
            <a:r>
              <a:rPr/>
              <a:t> in financial forecasting. The Random Forest captured noise rather than signal. The feature importances show that volatility measures (rolling 20-day standard deviations) rank highest, but these are inherently unstable and regime-dependent.</a:t>
            </a:r>
          </a:p>
          <a:p>
            <a:pPr lvl="0" indent="0" marL="0">
              <a:buNone/>
            </a:pPr>
            <a:r>
              <a:rPr b="1"/>
              <a:t>What we learn from this failure:</a:t>
            </a:r>
          </a:p>
          <a:p>
            <a:pPr lvl="0"/>
            <a:r>
              <a:rPr b="1"/>
              <a:t>Time series forecasting is hard.</a:t>
            </a:r>
            <a:r>
              <a:rPr/>
              <a:t> Unlike image classification or NLP, financial markets are non-stationary. Patterns that worked yesterday can fail tomorrow when the macroeconomic regime shifts.</a:t>
            </a:r>
          </a:p>
          <a:p>
            <a:pPr lvl="0"/>
            <a:r>
              <a:rPr b="1"/>
              <a:t>Out-of-sample testing is critical.</a:t>
            </a:r>
            <a:r>
              <a:rPr/>
              <a:t> In-sample performance (Train R² = 0.34) looked respectable, but it was meaningless. Only the test set revealed the truth.</a:t>
            </a:r>
          </a:p>
          <a:p>
            <a:pPr lvl="0"/>
            <a:r>
              <a:rPr b="1"/>
              <a:t>Simple models can outperform complex ones.</a:t>
            </a:r>
            <a:r>
              <a:rPr/>
              <a:t> A naive “no-change” forecast beats our Random Forest here. Sometimes the best prediction is humility.</a:t>
            </a:r>
          </a:p>
          <a:p>
            <a:pPr lvl="0" indent="0" marL="0">
              <a:buNone/>
            </a:pPr>
            <a:r>
              <a:rPr b="1"/>
              <a:t>How to improve:</a:t>
            </a:r>
          </a:p>
          <a:p>
            <a:pPr lvl="0"/>
            <a:r>
              <a:rPr/>
              <a:t>Incorporate macro features: Fed Funds futures, CPI expectations, unemployment rates — variables that capture regime shifts.</a:t>
            </a:r>
          </a:p>
          <a:p>
            <a:pPr lvl="0"/>
            <a:r>
              <a:rPr/>
              <a:t>Use regime-switching models (Markov-switching, HMM) that explicitly model structural breaks.</a:t>
            </a:r>
          </a:p>
          <a:p>
            <a:pPr lvl="0"/>
            <a:r>
              <a:rPr/>
              <a:t>Shorten the forecast horizon: predicting 1-week changes instead of 1-month might work better.</a:t>
            </a:r>
          </a:p>
          <a:p>
            <a:pPr lvl="0"/>
            <a:r>
              <a:rPr/>
              <a:t>Ensemble with economic models: blend ML forecasts with term structure models (Vasicek, CIR).</a:t>
            </a:r>
          </a:p>
          <a:p>
            <a:pPr lvl="0" indent="0" marL="0">
              <a:buNone/>
            </a:pPr>
            <a:r>
              <a:rPr/>
              <a:t>This extension demonstrates both the </a:t>
            </a:r>
            <a:r>
              <a:rPr b="1"/>
              <a:t>potential and the limits</a:t>
            </a:r>
            <a:r>
              <a:rPr/>
              <a:t> of machine learning in finance. The infrastructure is there (PCA time series, clean data, feature engineering), but prediction requires more than just throwing algorithms at historical patterns. It requires understanding the economic drivers and respecting the non-stationarity of markets.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1" end="2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2" end="2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23" end="2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24" end="2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Conclusion</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This project delivers a complete, reproducible framework for interest rate curve modelling and risk analysis. Starting from four observable Treasury yields published daily by FRED, we’ve built a zero-coupon curve, stress-tested it under extreme scenarios, decomposed historical movements into fundamental risk factors, and extended the toolkit with machine learning forecasting.</a:t>
            </a:r>
          </a:p>
          <a:p>
            <a:pPr lvl="0" indent="0" marL="0">
              <a:buNone/>
            </a:pPr>
            <a:r>
              <a:rPr/>
              <a:t>The results reveal several key insights. First, the current U.S. yield curve is upward sloping (3.40% at 1Y, 4.16% at 10Y), reflecting a 76 basis point term premium, the market’s compensation for inflation risk and uncertainty about future Fed policy. Second, our PCA analysis shows that 99.3% of yield curve variation over five years is explained by just three factors: level shifts, slope changes, and curvature adjustments. This is why professional risk managers focus on “level-duration” and “slope-duration”, it’s not simplification, it’s empirical reality.</a:t>
            </a:r>
          </a:p>
          <a:p>
            <a:pPr lvl="0" indent="0" marL="0">
              <a:buNone/>
            </a:pPr>
            <a:r>
              <a:rPr/>
              <a:t>Third, duration is the primary risk driver: a +100 bp parallel shock drops our portfolio value by roughly 4.5%, consistent with modified duration. But convexity matters too, the price-yield relationship is curved, not linear, meaning gains from rate falls exceed losses from rate rises by a margin that can be worth millions at institutional scale. Fourth, Monte Carlo VaR gives us the full loss distribution, not just a single number. We see the clustering around small moves, the fat left tail of severe downside scenarios, and the symmetric shape that validates our normal shock assumption.</a:t>
            </a:r>
          </a:p>
          <a:p>
            <a:pPr lvl="0" indent="0" marL="0">
              <a:buNone/>
            </a:pPr>
            <a:r>
              <a:rPr/>
              <a:t>Finally, the Random Forest forecasting module reveals an important lesson about machine learning in finance. Despite having proper infrastructure (PCA time series, clean data, feature engineering), the model failed to generalize to the test period (R² = -0.068), performing worse than a naive baseline. This failure demonstrates that historical patterns alone cannot capture regime shifts in non-stationary markets. The extension highlights both the potential of ML tools and the critical need to combine them with economic understanding and respect for structural breaks.</a:t>
            </a:r>
          </a:p>
          <a:p>
            <a:pPr lvl="0" indent="0" marL="0">
              <a:buNone/>
            </a:pPr>
            <a:r>
              <a:rPr/>
              <a:t>The framework is extensible. Natural next steps include adding more maturities (3M bills, 30Y bonds), incorporating credit spreads, building full term structure models (Vasicek, CIR, Hull-White), and feeding macro indicators into the ML module. But even as it stands, this is a production-ready toolkit. The code runs. The data is real. The methods are industry-standard.</a:t>
            </a:r>
          </a:p>
          <a:p>
            <a:pPr lvl="0" indent="0" marL="0">
              <a:buNone/>
            </a:pPr>
            <a:r>
              <a:rPr/>
              <a:t>That’s the goal of quantitative finance: turning abstract concepts, discount factors, eigenvalues, convexity, into tools that make better decisions. This project bridges that gap.</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Code and data available on GitHub. Built with Python, Quarto, NumPy, pandas, scikit-learn, and Plotly.</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Bibliography</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Ang, A., &amp; Piazzesi, M. (2003). A no-arbitrage vector autoregression of term structure dynamics with macroeconomic and latent variables. </a:t>
            </a:r>
            <a:r>
              <a:rPr i="1"/>
              <a:t>Journal of Monetary Economics</a:t>
            </a:r>
            <a:r>
              <a:rPr/>
              <a:t>, 50(4), 745–787.</a:t>
            </a:r>
          </a:p>
          <a:p>
            <a:pPr lvl="0"/>
            <a:r>
              <a:rPr/>
              <a:t>Bianchi, D., Büchner, M., &amp; Tamoni, A. (2021). Bond risk premiums with machine learning. </a:t>
            </a:r>
            <a:r>
              <a:rPr i="1"/>
              <a:t>Review of Financial Studies</a:t>
            </a:r>
            <a:r>
              <a:rPr/>
              <a:t>, 34(2), 1046–1089.</a:t>
            </a:r>
          </a:p>
          <a:p>
            <a:pPr lvl="0"/>
            <a:r>
              <a:rPr/>
              <a:t>Diebold, F. X., &amp; Li, C. (2006). Forecasting the term structure of government bond yields. </a:t>
            </a:r>
            <a:r>
              <a:rPr i="1"/>
              <a:t>Journal of Econometrics</a:t>
            </a:r>
            <a:r>
              <a:rPr/>
              <a:t>, 130(2), 337–364.</a:t>
            </a:r>
          </a:p>
          <a:p>
            <a:pPr lvl="0"/>
            <a:r>
              <a:rPr/>
              <a:t>Fabozzi, F. J. (2007). </a:t>
            </a:r>
            <a:r>
              <a:rPr i="1"/>
              <a:t>Fixed Income Analysis</a:t>
            </a:r>
            <a:r>
              <a:rPr/>
              <a:t> (2nd ed.). John Wiley &amp; Sons.</a:t>
            </a:r>
          </a:p>
          <a:p>
            <a:pPr lvl="0"/>
            <a:r>
              <a:rPr/>
              <a:t>Hicks, J. R. (1939). </a:t>
            </a:r>
            <a:r>
              <a:rPr i="1"/>
              <a:t>Value and Capital</a:t>
            </a:r>
            <a:r>
              <a:rPr/>
              <a:t>. Oxford University Press.</a:t>
            </a:r>
          </a:p>
          <a:p>
            <a:pPr lvl="0"/>
            <a:r>
              <a:rPr/>
              <a:t>Jarrow, R. A. (2009). The term structure of interest rates. </a:t>
            </a:r>
            <a:r>
              <a:rPr i="1"/>
              <a:t>Annual Review of Financial Economics</a:t>
            </a:r>
            <a:r>
              <a:rPr/>
              <a:t>, 1(1), 69–96.</a:t>
            </a:r>
          </a:p>
          <a:p>
            <a:pPr lvl="0"/>
            <a:r>
              <a:rPr/>
              <a:t>Litterman, R., &amp; Scheinkman, J. (1991). Common factors affecting bond returns. </a:t>
            </a:r>
            <a:r>
              <a:rPr i="1"/>
              <a:t>Journal of Fixed Income</a:t>
            </a:r>
            <a:r>
              <a:rPr/>
              <a:t>, 1(1), 54–61.</a:t>
            </a:r>
          </a:p>
          <a:p>
            <a:pPr lvl="0"/>
            <a:r>
              <a:rPr/>
              <a:t>Macaulay, F. R. (1938). </a:t>
            </a:r>
            <a:r>
              <a:rPr i="1"/>
              <a:t>The Movements of Interest Rates, Bond Yields and Stock Prices in the United States Since 1856</a:t>
            </a:r>
            <a:r>
              <a:rPr/>
              <a:t>. National Bureau of Economic Research.</a:t>
            </a:r>
          </a:p>
          <a:p>
            <a:pPr lvl="0"/>
            <a:r>
              <a:rPr/>
              <a:t>McCulloch, J. H. (1971). Measuring the term structure of interest rates. </a:t>
            </a:r>
            <a:r>
              <a:rPr i="1"/>
              <a:t>Journal of Business</a:t>
            </a:r>
            <a:r>
              <a:rPr/>
              <a:t>, 44(1), 19–31.</a:t>
            </a:r>
          </a:p>
          <a:p>
            <a:pPr lvl="0"/>
            <a:r>
              <a:rPr/>
              <a:t>Nelson, C. R., &amp; Siegel, A. F. (1987). Parsimonious modeling of yield curves. </a:t>
            </a:r>
            <a:r>
              <a:rPr i="1"/>
              <a:t>Journal of Business</a:t>
            </a:r>
            <a:r>
              <a:rPr/>
              <a:t>, 60(4), 473–489.</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Interest Rate Curve Bootstrapping &amp; Risk Testing</dc:title>
  <dc:creator>Pape Kane</dc:creator>
  <cp:keywords/>
  <dcterms:created xsi:type="dcterms:W3CDTF">2026-02-17T00:29:56Z</dcterms:created>
  <dcterms:modified xsi:type="dcterms:W3CDTF">2026-02-17T00:29:56Z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bstract">
    <vt:lpwstr>This project constructs and analyses the U.S. Treasury zero-coupon yield curve using bootstrapping techniques applied to market data obtained from FRED. We implement spline interpolation and Nelson–Siegel parametric fitting, derive forward and swap rates, and assess bond portfolio sensitivity through duration, convexity, and key rate measures. Stress testing and Monte Carlo VaR simulations are conducted to evaluate interest rate risk under various shock scenarios. Principal Component Analysis (PCA) is applied to historical yield curve movements to identify level, slope, and curvature factors. Finally, we extend the framework with a machine learning forecasting module. The project provides a fully reproducible quantitative fixed-income framework linking term structure modelling to practical risk management.</vt:lpwstr>
  </property>
  <property fmtid="{D5CDD505-2E9C-101B-9397-08002B2CF9AE}" pid="3" name="affiliations">
    <vt:lpwstr/>
  </property>
  <property fmtid="{D5CDD505-2E9C-101B-9397-08002B2CF9AE}" pid="4" name="authors">
    <vt:lpwstr/>
  </property>
  <property fmtid="{D5CDD505-2E9C-101B-9397-08002B2CF9AE}" pid="5" name="biblio-config">
    <vt:lpwstr>True</vt:lpwstr>
  </property>
  <property fmtid="{D5CDD505-2E9C-101B-9397-08002B2CF9AE}" pid="6" name="by-affiliation">
    <vt:lpwstr/>
  </property>
  <property fmtid="{D5CDD505-2E9C-101B-9397-08002B2CF9AE}" pid="7" name="by-author">
    <vt:lpwstr/>
  </property>
  <property fmtid="{D5CDD505-2E9C-101B-9397-08002B2CF9AE}" pid="8" name="date">
    <vt:lpwstr>2026-02-17</vt:lpwstr>
  </property>
  <property fmtid="{D5CDD505-2E9C-101B-9397-08002B2CF9AE}" pid="9" name="execute">
    <vt:lpwstr/>
  </property>
  <property fmtid="{D5CDD505-2E9C-101B-9397-08002B2CF9AE}" pid="10" name="footer">
    <vt:lpwstr>Interest Rate Risk Framework — HEC Lausanne</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institute">
    <vt:lpwstr>Msc Student, Computer Science and Physics teacher</vt:lpwstr>
  </property>
  <property fmtid="{D5CDD505-2E9C-101B-9397-08002B2CF9AE}" pid="15" name="institutes">
    <vt:lpwstr/>
  </property>
  <property fmtid="{D5CDD505-2E9C-101B-9397-08002B2CF9AE}" pid="16" name="jupyter">
    <vt:lpwstr>python3</vt:lpwstr>
  </property>
  <property fmtid="{D5CDD505-2E9C-101B-9397-08002B2CF9AE}" pid="17" name="labels">
    <vt:lpwstr/>
  </property>
  <property fmtid="{D5CDD505-2E9C-101B-9397-08002B2CF9AE}" pid="18" name="title-block-banner">
    <vt:lpwstr>#1F4E79</vt:lpwstr>
  </property>
  <property fmtid="{D5CDD505-2E9C-101B-9397-08002B2CF9AE}" pid="19" name="title-block-banner-color">
    <vt:lpwstr>white</vt:lpwstr>
  </property>
  <property fmtid="{D5CDD505-2E9C-101B-9397-08002B2CF9AE}" pid="20" name="toc-location">
    <vt:lpwstr>right</vt:lpwstr>
  </property>
  <property fmtid="{D5CDD505-2E9C-101B-9397-08002B2CF9AE}" pid="21" name="toc-title">
    <vt:lpwstr>Table of contents</vt:lpwstr>
  </property>
</Properties>
</file>